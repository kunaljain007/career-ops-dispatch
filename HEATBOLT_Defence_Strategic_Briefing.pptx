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539496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731520"/>
            <a:ext cx="365760" cy="5486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731520"/>
            <a:ext cx="54864" cy="365760"/>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1143000"/>
            <a:ext cx="4754880" cy="347472"/>
          </a:xfrm>
          <a:prstGeom prst="rect">
            <a:avLst/>
          </a:prstGeom>
          <a:solidFill>
            <a:srgbClr val="FEFAF0"/>
          </a:solidFill>
          <a:ln w="12700">
            <a:solidFill>
              <a:srgbClr val="B07D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197864"/>
            <a:ext cx="4754880" cy="274320"/>
          </a:xfrm>
          <a:prstGeom prst="rect">
            <a:avLst/>
          </a:prstGeom>
          <a:noFill/>
        </p:spPr>
        <p:txBody>
          <a:bodyPr wrap="none" lIns="0" tIns="0" rIns="0" bIns="0">
            <a:spAutoFit/>
          </a:bodyPr>
          <a:lstStyle/>
          <a:p>
            <a:pPr algn="ctr">
              <a:defRPr sz="950" b="1">
                <a:solidFill>
                  <a:srgbClr val="B07D14"/>
                </a:solidFill>
                <a:latin typeface="Consolas"/>
              </a:defRPr>
            </a:pPr>
            <a:r>
              <a:t>ATMANIRBHAR BHARAT  //  DEFENCE STRATEGIC BRIEFING</a:t>
            </a:r>
          </a:p>
        </p:txBody>
      </p:sp>
      <p:sp>
        <p:nvSpPr>
          <p:cNvPr id="8" name="TextBox 7"/>
          <p:cNvSpPr txBox="1"/>
          <p:nvPr/>
        </p:nvSpPr>
        <p:spPr>
          <a:xfrm>
            <a:off x="1188720" y="1691640"/>
            <a:ext cx="9601200" cy="1234440"/>
          </a:xfrm>
          <a:prstGeom prst="rect">
            <a:avLst/>
          </a:prstGeom>
          <a:noFill/>
        </p:spPr>
        <p:txBody>
          <a:bodyPr wrap="none" lIns="0" tIns="0" rIns="0" bIns="0">
            <a:spAutoFit/>
          </a:bodyPr>
          <a:lstStyle/>
          <a:p>
            <a:pPr>
              <a:defRPr sz="6600" b="1">
                <a:solidFill>
                  <a:srgbClr val="0B1B33"/>
                </a:solidFill>
                <a:latin typeface="Segoe UI"/>
              </a:defRPr>
            </a:pPr>
            <a:r>
              <a:t>HEATBOLT</a:t>
            </a:r>
          </a:p>
        </p:txBody>
      </p:sp>
      <p:sp>
        <p:nvSpPr>
          <p:cNvPr id="9" name="TextBox 8"/>
          <p:cNvSpPr txBox="1"/>
          <p:nvPr/>
        </p:nvSpPr>
        <p:spPr>
          <a:xfrm>
            <a:off x="1188720" y="3017520"/>
            <a:ext cx="9601200" cy="502920"/>
          </a:xfrm>
          <a:prstGeom prst="rect">
            <a:avLst/>
          </a:prstGeom>
          <a:noFill/>
        </p:spPr>
        <p:txBody>
          <a:bodyPr wrap="none" lIns="0" tIns="0" rIns="0" bIns="0">
            <a:spAutoFit/>
          </a:bodyPr>
          <a:lstStyle/>
          <a:p>
            <a:pPr>
              <a:defRPr sz="1600" b="1">
                <a:solidFill>
                  <a:srgbClr val="B07D14"/>
                </a:solidFill>
                <a:latin typeface="Segoe UI"/>
              </a:defRPr>
            </a:pPr>
            <a:r>
              <a:t>SOVEREIGN PORTABLE THERMAL INFRASTRUCTURE FOR EXTREME ENVIRONMENTS</a:t>
            </a:r>
          </a:p>
        </p:txBody>
      </p:sp>
      <p:sp>
        <p:nvSpPr>
          <p:cNvPr id="10" name="Rectangle 9"/>
          <p:cNvSpPr/>
          <p:nvPr/>
        </p:nvSpPr>
        <p:spPr>
          <a:xfrm>
            <a:off x="1188720" y="3611880"/>
            <a:ext cx="2743200" cy="36576"/>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794760"/>
            <a:ext cx="9601200" cy="1005840"/>
          </a:xfrm>
          <a:prstGeom prst="rect">
            <a:avLst/>
          </a:prstGeom>
          <a:noFill/>
        </p:spPr>
        <p:txBody>
          <a:bodyPr wrap="square" lIns="0" tIns="0" rIns="0" bIns="0">
            <a:spAutoFit/>
          </a:bodyPr>
          <a:lstStyle/>
          <a:p>
            <a:pPr>
              <a:defRPr sz="1200">
                <a:solidFill>
                  <a:srgbClr val="404E62"/>
                </a:solidFill>
                <a:latin typeface="Segoe UI"/>
              </a:defRPr>
            </a:pPr>
            <a:r>
              <a:t>An indigenous, water-activated thermal platform engineered to deliver instant heat and steam without mains electricity, LPG cylinders, or open flame.</a:t>
            </a:r>
            <a:br/>
            <a:r>
              <a:t>Engineered for high-altitude border supremacy (Siachen / Eastern Ladakh / LAC), combat casualty preservation, and frontline soldier survival where conventional infrastructure cannot follow.</a:t>
            </a:r>
          </a:p>
        </p:txBody>
      </p:sp>
      <p:sp>
        <p:nvSpPr>
          <p:cNvPr id="12" name="TextBox 11"/>
          <p:cNvSpPr txBox="1"/>
          <p:nvPr/>
        </p:nvSpPr>
        <p:spPr>
          <a:xfrm>
            <a:off x="1188720" y="5120640"/>
            <a:ext cx="5486400" cy="640080"/>
          </a:xfrm>
          <a:prstGeom prst="rect">
            <a:avLst/>
          </a:prstGeom>
          <a:noFill/>
        </p:spPr>
        <p:txBody>
          <a:bodyPr wrap="none" lIns="0" tIns="0" rIns="0" bIns="0">
            <a:spAutoFit/>
          </a:bodyPr>
          <a:lstStyle/>
          <a:p>
            <a:pPr>
              <a:defRPr sz="850">
                <a:solidFill>
                  <a:srgbClr val="404E62"/>
                </a:solidFill>
                <a:latin typeface="Consolas"/>
              </a:defRPr>
            </a:pPr>
            <a:r>
              <a:t>DR. KUMARPAL PORWAL — FOUNDER &amp; MANAGING DIRECTOR</a:t>
            </a:r>
            <a:br/>
            <a:r>
              <a:t>+91 73533 19757 | founder.heatbolt@gmail.com | Bangalore, India</a:t>
            </a:r>
            <a:br/>
            <a:r>
              <a:t>Defence Innovation &amp; Technology Commercialisation</a:t>
            </a:r>
          </a:p>
        </p:txBody>
      </p:sp>
      <p:sp>
        <p:nvSpPr>
          <p:cNvPr id="13" name="TextBox 12"/>
          <p:cNvSpPr txBox="1"/>
          <p:nvPr/>
        </p:nvSpPr>
        <p:spPr>
          <a:xfrm>
            <a:off x="6583680" y="5120640"/>
            <a:ext cx="4389120" cy="640080"/>
          </a:xfrm>
          <a:prstGeom prst="rect">
            <a:avLst/>
          </a:prstGeom>
          <a:noFill/>
        </p:spPr>
        <p:txBody>
          <a:bodyPr wrap="none" lIns="0" tIns="0" rIns="0" bIns="0">
            <a:spAutoFit/>
          </a:bodyPr>
          <a:lstStyle/>
          <a:p>
            <a:pPr algn="r">
              <a:defRPr sz="850">
                <a:solidFill>
                  <a:srgbClr val="B07D14"/>
                </a:solidFill>
                <a:latin typeface="Consolas"/>
              </a:defRPr>
            </a:pPr>
            <a:r>
              <a:t>MINISTRY OF DEFENCE &amp; ARMED FORCES BRIEFING</a:t>
            </a:r>
            <a:br/>
            <a:r>
              <a:t>High-Altitude &amp; Winter Warfare Doctrine</a:t>
            </a:r>
            <a:br/>
            <a:r>
              <a:t>100% Make-in-India Intellectual Property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THE ONE-LINE PROPOSITION</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Thermal Infrastructure at the Point of Need</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02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508760"/>
            <a:ext cx="10728655" cy="128016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645920"/>
            <a:ext cx="10149840" cy="1005840"/>
          </a:xfrm>
          <a:prstGeom prst="rect">
            <a:avLst/>
          </a:prstGeom>
          <a:noFill/>
        </p:spPr>
        <p:txBody>
          <a:bodyPr wrap="square" lIns="0" tIns="0" rIns="0" bIns="0">
            <a:spAutoFit/>
          </a:bodyPr>
          <a:lstStyle/>
          <a:p>
            <a:pPr>
              <a:spcAft>
                <a:spcPts val="400"/>
              </a:spcAft>
              <a:defRPr sz="950" b="1">
                <a:solidFill>
                  <a:srgbClr val="B07D14"/>
                </a:solidFill>
                <a:latin typeface="Consolas"/>
              </a:defRPr>
            </a:pPr>
            <a:r>
              <a:t>// STRATEGIC DEFENCE DOCTRINE</a:t>
            </a:r>
          </a:p>
          <a:p>
            <a:pPr>
              <a:defRPr sz="1900" b="1">
                <a:solidFill>
                  <a:srgbClr val="0B1B33"/>
                </a:solidFill>
                <a:latin typeface="Segoe UI"/>
              </a:defRPr>
            </a:pPr>
            <a:r>
              <a:t>Move thermal infrastructure from the base to the soldier.</a:t>
            </a:r>
          </a:p>
        </p:txBody>
      </p:sp>
      <p:sp>
        <p:nvSpPr>
          <p:cNvPr id="12" name="TextBox 11"/>
          <p:cNvSpPr txBox="1"/>
          <p:nvPr/>
        </p:nvSpPr>
        <p:spPr>
          <a:xfrm>
            <a:off x="731520" y="2971800"/>
            <a:ext cx="10728655" cy="1097280"/>
          </a:xfrm>
          <a:prstGeom prst="rect">
            <a:avLst/>
          </a:prstGeom>
          <a:noFill/>
        </p:spPr>
        <p:txBody>
          <a:bodyPr wrap="square" lIns="0" tIns="0" rIns="0" bIns="0">
            <a:spAutoFit/>
          </a:bodyPr>
          <a:lstStyle/>
          <a:p>
            <a:pPr>
              <a:defRPr sz="1300">
                <a:solidFill>
                  <a:srgbClr val="404E62"/>
                </a:solidFill>
                <a:latin typeface="Segoe UI"/>
              </a:defRPr>
            </a:pPr>
            <a:r>
              <a:t>Heatbolt is developing an indigenous, water-activated thermal platform providing controlled heat and steam without dependence on fixed infrastructure — designed for frontline soldier warmth, hot ration hydration, high-altitude alpine warfare, combat casualty support, and forward shelters.</a:t>
            </a:r>
          </a:p>
        </p:txBody>
      </p:sp>
      <p:sp>
        <p:nvSpPr>
          <p:cNvPr id="13" name="Rounded Rectangle 12"/>
          <p:cNvSpPr/>
          <p:nvPr/>
        </p:nvSpPr>
        <p:spPr>
          <a:xfrm>
            <a:off x="731520" y="4251960"/>
            <a:ext cx="1344168"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88536"/>
            <a:ext cx="1344168" cy="182880"/>
          </a:xfrm>
          <a:prstGeom prst="rect">
            <a:avLst/>
          </a:prstGeom>
          <a:noFill/>
        </p:spPr>
        <p:txBody>
          <a:bodyPr wrap="none" lIns="0" tIns="0" rIns="0" bIns="0">
            <a:spAutoFit/>
          </a:bodyPr>
          <a:lstStyle/>
          <a:p>
            <a:pPr algn="ctr">
              <a:defRPr sz="800" b="1">
                <a:solidFill>
                  <a:srgbClr val="182B49"/>
                </a:solidFill>
                <a:latin typeface="Consolas"/>
              </a:defRPr>
            </a:pPr>
            <a:r>
              <a:t>Soldier Warmth</a:t>
            </a:r>
          </a:p>
        </p:txBody>
      </p:sp>
      <p:sp>
        <p:nvSpPr>
          <p:cNvPr id="15" name="Rounded Rectangle 14"/>
          <p:cNvSpPr/>
          <p:nvPr/>
        </p:nvSpPr>
        <p:spPr>
          <a:xfrm>
            <a:off x="2185416" y="4251960"/>
            <a:ext cx="1655064"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85416" y="4288536"/>
            <a:ext cx="1655064" cy="182880"/>
          </a:xfrm>
          <a:prstGeom prst="rect">
            <a:avLst/>
          </a:prstGeom>
          <a:noFill/>
        </p:spPr>
        <p:txBody>
          <a:bodyPr wrap="none" lIns="0" tIns="0" rIns="0" bIns="0">
            <a:spAutoFit/>
          </a:bodyPr>
          <a:lstStyle/>
          <a:p>
            <a:pPr algn="ctr">
              <a:defRPr sz="800" b="1">
                <a:solidFill>
                  <a:srgbClr val="182B49"/>
                </a:solidFill>
                <a:latin typeface="Consolas"/>
              </a:defRPr>
            </a:pPr>
            <a:r>
              <a:t>Hot Combat Rations</a:t>
            </a:r>
          </a:p>
        </p:txBody>
      </p:sp>
      <p:sp>
        <p:nvSpPr>
          <p:cNvPr id="17" name="Rounded Rectangle 16"/>
          <p:cNvSpPr/>
          <p:nvPr/>
        </p:nvSpPr>
        <p:spPr>
          <a:xfrm>
            <a:off x="3950208" y="4251960"/>
            <a:ext cx="1577340"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50208" y="4288536"/>
            <a:ext cx="1577340" cy="182880"/>
          </a:xfrm>
          <a:prstGeom prst="rect">
            <a:avLst/>
          </a:prstGeom>
          <a:noFill/>
        </p:spPr>
        <p:txBody>
          <a:bodyPr wrap="none" lIns="0" tIns="0" rIns="0" bIns="0">
            <a:spAutoFit/>
          </a:bodyPr>
          <a:lstStyle/>
          <a:p>
            <a:pPr algn="ctr">
              <a:defRPr sz="800" b="1">
                <a:solidFill>
                  <a:srgbClr val="182B49"/>
                </a:solidFill>
                <a:latin typeface="Consolas"/>
              </a:defRPr>
            </a:pPr>
            <a:r>
              <a:t>High-Altitude Ops</a:t>
            </a:r>
          </a:p>
        </p:txBody>
      </p:sp>
      <p:sp>
        <p:nvSpPr>
          <p:cNvPr id="19" name="Rounded Rectangle 18"/>
          <p:cNvSpPr/>
          <p:nvPr/>
        </p:nvSpPr>
        <p:spPr>
          <a:xfrm>
            <a:off x="5637276" y="4251960"/>
            <a:ext cx="2121408"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37276" y="4288536"/>
            <a:ext cx="2121408" cy="182880"/>
          </a:xfrm>
          <a:prstGeom prst="rect">
            <a:avLst/>
          </a:prstGeom>
          <a:noFill/>
        </p:spPr>
        <p:txBody>
          <a:bodyPr wrap="none" lIns="0" tIns="0" rIns="0" bIns="0">
            <a:spAutoFit/>
          </a:bodyPr>
          <a:lstStyle/>
          <a:p>
            <a:pPr algn="ctr">
              <a:defRPr sz="800" b="1">
                <a:solidFill>
                  <a:srgbClr val="182B49"/>
                </a:solidFill>
                <a:latin typeface="Consolas"/>
              </a:defRPr>
            </a:pPr>
            <a:r>
              <a:t>Snow-to-Water Conversion</a:t>
            </a:r>
          </a:p>
        </p:txBody>
      </p:sp>
      <p:sp>
        <p:nvSpPr>
          <p:cNvPr id="21" name="Rounded Rectangle 20"/>
          <p:cNvSpPr/>
          <p:nvPr/>
        </p:nvSpPr>
        <p:spPr>
          <a:xfrm>
            <a:off x="7868412" y="4251960"/>
            <a:ext cx="181051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8412" y="4288536"/>
            <a:ext cx="1810512" cy="182880"/>
          </a:xfrm>
          <a:prstGeom prst="rect">
            <a:avLst/>
          </a:prstGeom>
          <a:noFill/>
        </p:spPr>
        <p:txBody>
          <a:bodyPr wrap="none" lIns="0" tIns="0" rIns="0" bIns="0">
            <a:spAutoFit/>
          </a:bodyPr>
          <a:lstStyle/>
          <a:p>
            <a:pPr algn="ctr">
              <a:defRPr sz="800" b="1">
                <a:solidFill>
                  <a:srgbClr val="182B49"/>
                </a:solidFill>
                <a:latin typeface="Consolas"/>
              </a:defRPr>
            </a:pPr>
            <a:r>
              <a:t>Combat Casualty Care</a:t>
            </a:r>
          </a:p>
        </p:txBody>
      </p:sp>
      <p:sp>
        <p:nvSpPr>
          <p:cNvPr id="23" name="Rounded Rectangle 22"/>
          <p:cNvSpPr/>
          <p:nvPr/>
        </p:nvSpPr>
        <p:spPr>
          <a:xfrm>
            <a:off x="9788652" y="4251960"/>
            <a:ext cx="1344168"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8652" y="4288536"/>
            <a:ext cx="1344168" cy="182880"/>
          </a:xfrm>
          <a:prstGeom prst="rect">
            <a:avLst/>
          </a:prstGeom>
          <a:noFill/>
        </p:spPr>
        <p:txBody>
          <a:bodyPr wrap="none" lIns="0" tIns="0" rIns="0" bIns="0">
            <a:spAutoFit/>
          </a:bodyPr>
          <a:lstStyle/>
          <a:p>
            <a:pPr algn="ctr">
              <a:defRPr sz="800" b="1">
                <a:solidFill>
                  <a:srgbClr val="182B49"/>
                </a:solidFill>
                <a:latin typeface="Consolas"/>
              </a:defRPr>
            </a:pPr>
            <a:r>
              <a:t>Field Shelters</a:t>
            </a:r>
          </a:p>
        </p:txBody>
      </p:sp>
      <p:sp>
        <p:nvSpPr>
          <p:cNvPr id="25" name="Rounded Rectangle 24"/>
          <p:cNvSpPr/>
          <p:nvPr/>
        </p:nvSpPr>
        <p:spPr>
          <a:xfrm>
            <a:off x="731520" y="4581144"/>
            <a:ext cx="181051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617720"/>
            <a:ext cx="1810512" cy="182880"/>
          </a:xfrm>
          <a:prstGeom prst="rect">
            <a:avLst/>
          </a:prstGeom>
          <a:noFill/>
        </p:spPr>
        <p:txBody>
          <a:bodyPr wrap="none" lIns="0" tIns="0" rIns="0" bIns="0">
            <a:spAutoFit/>
          </a:bodyPr>
          <a:lstStyle/>
          <a:p>
            <a:pPr algn="ctr">
              <a:defRPr sz="800" b="1">
                <a:solidFill>
                  <a:srgbClr val="182B49"/>
                </a:solidFill>
                <a:latin typeface="Consolas"/>
              </a:defRPr>
            </a:pPr>
            <a:r>
              <a:t>Hygiene &amp; Sanitation</a:t>
            </a:r>
          </a:p>
        </p:txBody>
      </p:sp>
      <p:sp>
        <p:nvSpPr>
          <p:cNvPr id="27" name="Rounded Rectangle 26"/>
          <p:cNvSpPr/>
          <p:nvPr/>
        </p:nvSpPr>
        <p:spPr>
          <a:xfrm>
            <a:off x="2651760" y="4581144"/>
            <a:ext cx="142189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51760" y="4617720"/>
            <a:ext cx="1421892" cy="182880"/>
          </a:xfrm>
          <a:prstGeom prst="rect">
            <a:avLst/>
          </a:prstGeom>
          <a:noFill/>
        </p:spPr>
        <p:txBody>
          <a:bodyPr wrap="none" lIns="0" tIns="0" rIns="0" bIns="0">
            <a:spAutoFit/>
          </a:bodyPr>
          <a:lstStyle/>
          <a:p>
            <a:pPr algn="ctr">
              <a:defRPr sz="800" b="1">
                <a:solidFill>
                  <a:srgbClr val="182B49"/>
                </a:solidFill>
                <a:latin typeface="Consolas"/>
              </a:defRPr>
            </a:pPr>
            <a:r>
              <a:t>Weapon De-Icing</a:t>
            </a:r>
          </a:p>
        </p:txBody>
      </p:sp>
      <p:sp>
        <p:nvSpPr>
          <p:cNvPr id="29" name="Rounded Rectangle 28"/>
          <p:cNvSpPr/>
          <p:nvPr/>
        </p:nvSpPr>
        <p:spPr>
          <a:xfrm>
            <a:off x="4183380" y="4581144"/>
            <a:ext cx="1344168"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83380" y="4617720"/>
            <a:ext cx="1344168" cy="182880"/>
          </a:xfrm>
          <a:prstGeom prst="rect">
            <a:avLst/>
          </a:prstGeom>
          <a:noFill/>
        </p:spPr>
        <p:txBody>
          <a:bodyPr wrap="none" lIns="0" tIns="0" rIns="0" bIns="0">
            <a:spAutoFit/>
          </a:bodyPr>
          <a:lstStyle/>
          <a:p>
            <a:pPr algn="ctr">
              <a:defRPr sz="800" b="1">
                <a:solidFill>
                  <a:srgbClr val="182B49"/>
                </a:solidFill>
                <a:latin typeface="Consolas"/>
              </a:defRPr>
            </a:pPr>
            <a:r>
              <a:t>UAV Subsystems</a:t>
            </a:r>
          </a:p>
        </p:txBody>
      </p:sp>
      <p:sp>
        <p:nvSpPr>
          <p:cNvPr id="31" name="Rounded Rectangle 30"/>
          <p:cNvSpPr/>
          <p:nvPr/>
        </p:nvSpPr>
        <p:spPr>
          <a:xfrm>
            <a:off x="5637276" y="4581144"/>
            <a:ext cx="142189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37276" y="4617720"/>
            <a:ext cx="1421892" cy="182880"/>
          </a:xfrm>
          <a:prstGeom prst="rect">
            <a:avLst/>
          </a:prstGeom>
          <a:noFill/>
        </p:spPr>
        <p:txBody>
          <a:bodyPr wrap="none" lIns="0" tIns="0" rIns="0" bIns="0">
            <a:spAutoFit/>
          </a:bodyPr>
          <a:lstStyle/>
          <a:p>
            <a:pPr algn="ctr">
              <a:defRPr sz="800" b="1">
                <a:solidFill>
                  <a:srgbClr val="182B49"/>
                </a:solidFill>
                <a:latin typeface="Consolas"/>
              </a:defRPr>
            </a:pPr>
            <a:r>
              <a:t>Search &amp; Rescue</a:t>
            </a:r>
          </a:p>
        </p:txBody>
      </p:sp>
      <p:sp>
        <p:nvSpPr>
          <p:cNvPr id="33" name="Rounded Rectangle 32"/>
          <p:cNvSpPr/>
          <p:nvPr/>
        </p:nvSpPr>
        <p:spPr>
          <a:xfrm>
            <a:off x="731520" y="5257800"/>
            <a:ext cx="10728655" cy="868680"/>
          </a:xfrm>
          <a:prstGeom prst="roundRect">
            <a:avLst/>
          </a:prstGeom>
          <a:solidFill>
            <a:srgbClr val="FEFAF0"/>
          </a:solidFill>
          <a:ln w="1270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1520" y="5312664"/>
            <a:ext cx="45720" cy="758952"/>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5349240"/>
            <a:ext cx="10454335" cy="685800"/>
          </a:xfrm>
          <a:prstGeom prst="rect">
            <a:avLst/>
          </a:prstGeom>
          <a:noFill/>
        </p:spPr>
        <p:txBody>
          <a:bodyPr wrap="square" lIns="0" tIns="0" rIns="0" bIns="0">
            <a:spAutoFit/>
          </a:bodyPr>
          <a:lstStyle/>
          <a:p>
            <a:r>
              <a:rPr b="1" sz="950">
                <a:solidFill>
                  <a:srgbClr val="B07D14"/>
                </a:solidFill>
                <a:latin typeface="Segoe UI"/>
              </a:rPr>
              <a:t>SOVEREIGN DEFENCE VALUE —  </a:t>
            </a:r>
            <a:r>
              <a:rPr sz="900">
                <a:solidFill>
                  <a:srgbClr val="0F172A"/>
                </a:solidFill>
                <a:latin typeface="Segoe UI"/>
              </a:rPr>
              <a:t>Every frontline soldier must possess dependable thermal independence. Frontline endurance, physical combat agility, cognitive acuity, and casualty survival in -40°C glacial theatres depend directly on immediate, localized thermal energy.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SECTION 01 // OPERATIONAL CONTEXT</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Extreme Environments Create a Thermal Infrastructure Gap</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03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10728655"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103120"/>
            <a:ext cx="9784080" cy="3474720"/>
          </a:xfrm>
          <a:prstGeom prst="rect">
            <a:avLst/>
          </a:prstGeom>
          <a:noFill/>
        </p:spPr>
        <p:txBody>
          <a:bodyPr wrap="square" lIns="0" tIns="0" rIns="0" bIns="0">
            <a:spAutoFit/>
          </a:bodyPr>
          <a:lstStyle/>
          <a:p>
            <a:pPr>
              <a:spcAft>
                <a:spcPts val="1000"/>
              </a:spcAft>
              <a:defRPr sz="1100" b="1">
                <a:solidFill>
                  <a:srgbClr val="B07D14"/>
                </a:solidFill>
                <a:latin typeface="Consolas"/>
              </a:defRPr>
            </a:pPr>
            <a:r>
              <a:t>THE BORDER &amp; HIGH-ALTITUDE LOGISTICS BOTTLENECK</a:t>
            </a:r>
          </a:p>
          <a:p>
            <a:pPr>
              <a:spcAft>
                <a:spcPts val="1600"/>
              </a:spcAft>
              <a:defRPr sz="2200" b="1">
                <a:solidFill>
                  <a:srgbClr val="0B1B33"/>
                </a:solidFill>
                <a:latin typeface="Segoe UI"/>
              </a:defRPr>
            </a:pPr>
            <a:r>
              <a:t>A soldier in high-altitude, remote, glacial, winter or infrastructure-constrained terrain needs thermal energy for far more than personal warmth.</a:t>
            </a:r>
          </a:p>
          <a:p>
            <a:pPr>
              <a:defRPr sz="1200">
                <a:solidFill>
                  <a:srgbClr val="404E62"/>
                </a:solidFill>
                <a:latin typeface="Segoe UI"/>
              </a:defRPr>
            </a:pPr>
            <a:r>
              <a:t>Modern military logistics still rely heavily on heavy diesel generators, vulnerable fuel bladders, and volatile kerosene stoves for forward mountain positions. When patrol detachments deploy to isolated ridges, observation posts, and glacial passes, external infrastructure is virtually non-existent.</a:t>
            </a:r>
            <a:br/>
            <a:br/>
            <a:r>
              <a:t>Without portable, flameless, solid-state thermal capability, hypothermia rates spike, combat rations freeze into unpalatable blocks, medical triage is severely compromised, and weapon linkages seize in critical moments.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THE OPERATIONAL PROBLEM</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Eight Thermal Requirements. Zero Infrastructure.</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04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554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554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664207"/>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#01</a:t>
            </a:r>
          </a:p>
          <a:p>
            <a:pPr>
              <a:spcAft>
                <a:spcPts val="300"/>
              </a:spcAft>
              <a:defRPr sz="1150" b="1">
                <a:solidFill>
                  <a:srgbClr val="0B1B33"/>
                </a:solidFill>
                <a:latin typeface="Segoe UI"/>
              </a:defRPr>
            </a:pPr>
            <a:r>
              <a:t>01 Personnel Warmth</a:t>
            </a:r>
          </a:p>
          <a:p>
            <a:pPr>
              <a:spcBef>
                <a:spcPts val="200"/>
              </a:spcBef>
              <a:defRPr sz="900">
                <a:solidFill>
                  <a:srgbClr val="404E62"/>
                </a:solidFill>
                <a:latin typeface="Segoe UI"/>
              </a:defRPr>
            </a:pPr>
            <a:r>
              <a:t>Sustained warmth, frostbite prevention, survival, and cold-weather physical endurance.</a:t>
            </a:r>
          </a:p>
        </p:txBody>
      </p:sp>
      <p:sp>
        <p:nvSpPr>
          <p:cNvPr id="13" name="Rounded Rectangle 12"/>
          <p:cNvSpPr/>
          <p:nvPr/>
        </p:nvSpPr>
        <p:spPr>
          <a:xfrm>
            <a:off x="3465576" y="1554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38728" y="1554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1664207"/>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#02</a:t>
            </a:r>
          </a:p>
          <a:p>
            <a:pPr>
              <a:spcAft>
                <a:spcPts val="300"/>
              </a:spcAft>
              <a:defRPr sz="1150" b="1">
                <a:solidFill>
                  <a:srgbClr val="0B1B33"/>
                </a:solidFill>
                <a:latin typeface="Segoe UI"/>
              </a:defRPr>
            </a:pPr>
            <a:r>
              <a:t>02 Combat Rations</a:t>
            </a:r>
          </a:p>
          <a:p>
            <a:pPr>
              <a:spcBef>
                <a:spcPts val="200"/>
              </a:spcBef>
              <a:defRPr sz="900">
                <a:solidFill>
                  <a:srgbClr val="404E62"/>
                </a:solidFill>
                <a:latin typeface="Segoe UI"/>
              </a:defRPr>
            </a:pPr>
            <a:r>
              <a:t>Flameless heating of RTE / RTC rations, hot tea, and vital warm hydration on patrol.</a:t>
            </a:r>
          </a:p>
        </p:txBody>
      </p:sp>
      <p:sp>
        <p:nvSpPr>
          <p:cNvPr id="16" name="Rounded Rectangle 15"/>
          <p:cNvSpPr/>
          <p:nvPr/>
        </p:nvSpPr>
        <p:spPr>
          <a:xfrm>
            <a:off x="6199632" y="1554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1554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1664207"/>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#03</a:t>
            </a:r>
          </a:p>
          <a:p>
            <a:pPr>
              <a:spcAft>
                <a:spcPts val="300"/>
              </a:spcAft>
              <a:defRPr sz="1150" b="1">
                <a:solidFill>
                  <a:srgbClr val="0B1B33"/>
                </a:solidFill>
                <a:latin typeface="Segoe UI"/>
              </a:defRPr>
            </a:pPr>
            <a:r>
              <a:t>03 Water Utility</a:t>
            </a:r>
          </a:p>
          <a:p>
            <a:pPr>
              <a:spcBef>
                <a:spcPts val="200"/>
              </a:spcBef>
              <a:defRPr sz="900">
                <a:solidFill>
                  <a:srgbClr val="404E62"/>
                </a:solidFill>
                <a:latin typeface="Segoe UI"/>
              </a:defRPr>
            </a:pPr>
            <a:r>
              <a:t>Melting high-altitude snowpack into hot drinking water and utility steam.</a:t>
            </a:r>
          </a:p>
        </p:txBody>
      </p:sp>
      <p:sp>
        <p:nvSpPr>
          <p:cNvPr id="19" name="Rounded Rectangle 18"/>
          <p:cNvSpPr/>
          <p:nvPr/>
        </p:nvSpPr>
        <p:spPr>
          <a:xfrm>
            <a:off x="8933688" y="1554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554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664207"/>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#04</a:t>
            </a:r>
          </a:p>
          <a:p>
            <a:pPr>
              <a:spcAft>
                <a:spcPts val="300"/>
              </a:spcAft>
              <a:defRPr sz="1150" b="1">
                <a:solidFill>
                  <a:srgbClr val="0B1B33"/>
                </a:solidFill>
                <a:latin typeface="Segoe UI"/>
              </a:defRPr>
            </a:pPr>
            <a:r>
              <a:t>04 Field Medical Care</a:t>
            </a:r>
          </a:p>
          <a:p>
            <a:pPr>
              <a:spcBef>
                <a:spcPts val="200"/>
              </a:spcBef>
              <a:defRPr sz="900">
                <a:solidFill>
                  <a:srgbClr val="404E62"/>
                </a:solidFill>
                <a:latin typeface="Segoe UI"/>
              </a:defRPr>
            </a:pPr>
            <a:r>
              <a:t>Casualty hypothermia prevention during evacuation and temperature-controlled medical triage.</a:t>
            </a:r>
          </a:p>
        </p:txBody>
      </p:sp>
      <p:sp>
        <p:nvSpPr>
          <p:cNvPr id="22" name="Rounded Rectangle 21"/>
          <p:cNvSpPr/>
          <p:nvPr/>
        </p:nvSpPr>
        <p:spPr>
          <a:xfrm>
            <a:off x="731520" y="3840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 y="3840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7824" y="3950208"/>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#05</a:t>
            </a:r>
          </a:p>
          <a:p>
            <a:pPr>
              <a:spcAft>
                <a:spcPts val="300"/>
              </a:spcAft>
              <a:defRPr sz="1150" b="1">
                <a:solidFill>
                  <a:srgbClr val="0B1B33"/>
                </a:solidFill>
                <a:latin typeface="Segoe UI"/>
              </a:defRPr>
            </a:pPr>
            <a:r>
              <a:t>05 Equipment Readiness</a:t>
            </a:r>
          </a:p>
          <a:p>
            <a:pPr>
              <a:spcBef>
                <a:spcPts val="200"/>
              </a:spcBef>
              <a:defRPr sz="900">
                <a:solidFill>
                  <a:srgbClr val="404E62"/>
                </a:solidFill>
                <a:latin typeface="Segoe UI"/>
              </a:defRPr>
            </a:pPr>
            <a:r>
              <a:t>Drying tactical gear, unfreezing weapon breach blocks, de-icing optics, and vehicle start.</a:t>
            </a:r>
          </a:p>
        </p:txBody>
      </p:sp>
      <p:sp>
        <p:nvSpPr>
          <p:cNvPr id="25" name="Rounded Rectangle 24"/>
          <p:cNvSpPr/>
          <p:nvPr/>
        </p:nvSpPr>
        <p:spPr>
          <a:xfrm>
            <a:off x="3465576" y="3840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538728" y="3840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11880" y="3950208"/>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#06</a:t>
            </a:r>
          </a:p>
          <a:p>
            <a:pPr>
              <a:spcAft>
                <a:spcPts val="300"/>
              </a:spcAft>
              <a:defRPr sz="1150" b="1">
                <a:solidFill>
                  <a:srgbClr val="0B1B33"/>
                </a:solidFill>
                <a:latin typeface="Segoe UI"/>
              </a:defRPr>
            </a:pPr>
            <a:r>
              <a:t>06 Shelter Heating</a:t>
            </a:r>
          </a:p>
          <a:p>
            <a:pPr>
              <a:spcBef>
                <a:spcPts val="200"/>
              </a:spcBef>
              <a:defRPr sz="900">
                <a:solidFill>
                  <a:srgbClr val="404E62"/>
                </a:solidFill>
                <a:latin typeface="Segoe UI"/>
              </a:defRPr>
            </a:pPr>
            <a:r>
              <a:t>Temporary heating of alpine bivouac shelters, tents, and forward observation posts.</a:t>
            </a:r>
          </a:p>
        </p:txBody>
      </p:sp>
      <p:sp>
        <p:nvSpPr>
          <p:cNvPr id="28" name="Rounded Rectangle 27"/>
          <p:cNvSpPr/>
          <p:nvPr/>
        </p:nvSpPr>
        <p:spPr>
          <a:xfrm>
            <a:off x="6199632" y="3840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72784" y="3840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5936" y="3950208"/>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#07</a:t>
            </a:r>
          </a:p>
          <a:p>
            <a:pPr>
              <a:spcAft>
                <a:spcPts val="300"/>
              </a:spcAft>
              <a:defRPr sz="1150" b="1">
                <a:solidFill>
                  <a:srgbClr val="0B1B33"/>
                </a:solidFill>
                <a:latin typeface="Segoe UI"/>
              </a:defRPr>
            </a:pPr>
            <a:r>
              <a:t>07 Tactical Mobility</a:t>
            </a:r>
          </a:p>
          <a:p>
            <a:pPr>
              <a:spcBef>
                <a:spcPts val="200"/>
              </a:spcBef>
              <a:defRPr sz="900">
                <a:solidFill>
                  <a:srgbClr val="404E62"/>
                </a:solidFill>
                <a:latin typeface="Segoe UI"/>
              </a:defRPr>
            </a:pPr>
            <a:r>
              <a:t>Cold-weather pre-heating for vehicle engine blocks, optics, and UAV lithium batteries.</a:t>
            </a:r>
          </a:p>
        </p:txBody>
      </p:sp>
      <p:sp>
        <p:nvSpPr>
          <p:cNvPr id="31" name="Rounded Rectangle 30"/>
          <p:cNvSpPr/>
          <p:nvPr/>
        </p:nvSpPr>
        <p:spPr>
          <a:xfrm>
            <a:off x="8933688" y="3840480"/>
            <a:ext cx="25146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06840" y="384048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9992" y="3950208"/>
            <a:ext cx="2221992" cy="1810512"/>
          </a:xfrm>
          <a:prstGeom prst="rect">
            <a:avLst/>
          </a:prstGeom>
          <a:noFill/>
        </p:spPr>
        <p:txBody>
          <a:bodyPr wrap="square" lIns="0" tIns="0" rIns="0" bIns="0">
            <a:spAutoFit/>
          </a:bodyPr>
          <a:lstStyle/>
          <a:p>
            <a:pPr>
              <a:spcAft>
                <a:spcPts val="200"/>
              </a:spcAft>
              <a:defRPr sz="800" b="1">
                <a:solidFill>
                  <a:srgbClr val="B07D14"/>
                </a:solidFill>
                <a:latin typeface="Consolas"/>
              </a:defRPr>
            </a:pPr>
            <a:r>
              <a:t>DEMAND #08</a:t>
            </a:r>
          </a:p>
          <a:p>
            <a:pPr>
              <a:spcAft>
                <a:spcPts val="300"/>
              </a:spcAft>
              <a:defRPr sz="1150" b="1">
                <a:solidFill>
                  <a:srgbClr val="0B1B33"/>
                </a:solidFill>
                <a:latin typeface="Segoe UI"/>
              </a:defRPr>
            </a:pPr>
            <a:r>
              <a:t>08 Emergency SAR</a:t>
            </a:r>
          </a:p>
          <a:p>
            <a:pPr>
              <a:spcBef>
                <a:spcPts val="200"/>
              </a:spcBef>
              <a:defRPr sz="900">
                <a:solidFill>
                  <a:srgbClr val="404E62"/>
                </a:solidFill>
                <a:latin typeface="Segoe UI"/>
              </a:defRPr>
            </a:pPr>
            <a:r>
              <a:t>High-altitude search &amp; rescue, avalanche survivor extraction, and disaster relief.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THE TACTICAL CONUNDRUM</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The Challenge of Useful Heat</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05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554480"/>
            <a:ext cx="10728655" cy="2011680"/>
          </a:xfrm>
          <a:prstGeom prst="roundRect">
            <a:avLst/>
          </a:prstGeom>
          <a:solidFill>
            <a:srgbClr val="FEFAF0"/>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37360"/>
            <a:ext cx="9966960" cy="1645920"/>
          </a:xfrm>
          <a:prstGeom prst="rect">
            <a:avLst/>
          </a:prstGeom>
          <a:noFill/>
        </p:spPr>
        <p:txBody>
          <a:bodyPr wrap="square" lIns="0" tIns="0" rIns="0" bIns="0">
            <a:spAutoFit/>
          </a:bodyPr>
          <a:lstStyle/>
          <a:p>
            <a:pPr>
              <a:spcAft>
                <a:spcPts val="600"/>
              </a:spcAft>
              <a:defRPr sz="950" b="1">
                <a:solidFill>
                  <a:srgbClr val="B07D14"/>
                </a:solidFill>
                <a:latin typeface="Consolas"/>
              </a:defRPr>
            </a:pPr>
            <a:r>
              <a:t>THE FUNDAMENTAL COMBAT PARADOX</a:t>
            </a:r>
          </a:p>
          <a:p>
            <a:pPr>
              <a:defRPr sz="2000" b="1">
                <a:solidFill>
                  <a:srgbClr val="0B1B33"/>
                </a:solidFill>
                <a:latin typeface="Segoe UI"/>
              </a:defRPr>
            </a:pPr>
            <a:r>
              <a:t>“The challenge is not simply producing heat.</a:t>
            </a:r>
            <a:br/>
            <a:r>
              <a:t>It is producing USEFUL HEAT where conventional infrastructure cannot easily follow.”</a:t>
            </a:r>
          </a:p>
        </p:txBody>
      </p:sp>
      <p:sp>
        <p:nvSpPr>
          <p:cNvPr id="12" name="Rounded Rectangle 11"/>
          <p:cNvSpPr/>
          <p:nvPr/>
        </p:nvSpPr>
        <p:spPr>
          <a:xfrm>
            <a:off x="731520" y="3886200"/>
            <a:ext cx="1499616"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922776"/>
            <a:ext cx="1499616" cy="182880"/>
          </a:xfrm>
          <a:prstGeom prst="rect">
            <a:avLst/>
          </a:prstGeom>
          <a:noFill/>
        </p:spPr>
        <p:txBody>
          <a:bodyPr wrap="none" lIns="0" tIns="0" rIns="0" bIns="0">
            <a:spAutoFit/>
          </a:bodyPr>
          <a:lstStyle/>
          <a:p>
            <a:pPr algn="ctr">
              <a:defRPr sz="800" b="1">
                <a:solidFill>
                  <a:srgbClr val="182B49"/>
                </a:solidFill>
                <a:latin typeface="Consolas"/>
              </a:defRPr>
            </a:pPr>
            <a:r>
              <a:t>Sub-Zero (-40°C)</a:t>
            </a:r>
          </a:p>
        </p:txBody>
      </p:sp>
      <p:sp>
        <p:nvSpPr>
          <p:cNvPr id="14" name="Rounded Rectangle 13"/>
          <p:cNvSpPr/>
          <p:nvPr/>
        </p:nvSpPr>
        <p:spPr>
          <a:xfrm>
            <a:off x="2340864" y="3886200"/>
            <a:ext cx="1888236"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40864" y="3922776"/>
            <a:ext cx="1888236" cy="182880"/>
          </a:xfrm>
          <a:prstGeom prst="rect">
            <a:avLst/>
          </a:prstGeom>
          <a:noFill/>
        </p:spPr>
        <p:txBody>
          <a:bodyPr wrap="none" lIns="0" tIns="0" rIns="0" bIns="0">
            <a:spAutoFit/>
          </a:bodyPr>
          <a:lstStyle/>
          <a:p>
            <a:pPr algn="ctr">
              <a:defRPr sz="800" b="1">
                <a:solidFill>
                  <a:srgbClr val="182B49"/>
                </a:solidFill>
                <a:latin typeface="Consolas"/>
              </a:defRPr>
            </a:pPr>
            <a:r>
              <a:t>Remote Mountain Ridge</a:t>
            </a:r>
          </a:p>
        </p:txBody>
      </p:sp>
      <p:sp>
        <p:nvSpPr>
          <p:cNvPr id="16" name="Rounded Rectangle 15"/>
          <p:cNvSpPr/>
          <p:nvPr/>
        </p:nvSpPr>
        <p:spPr>
          <a:xfrm>
            <a:off x="4338828" y="3886200"/>
            <a:ext cx="1732788"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38828" y="3922776"/>
            <a:ext cx="1732788" cy="182880"/>
          </a:xfrm>
          <a:prstGeom prst="rect">
            <a:avLst/>
          </a:prstGeom>
          <a:noFill/>
        </p:spPr>
        <p:txBody>
          <a:bodyPr wrap="none" lIns="0" tIns="0" rIns="0" bIns="0">
            <a:spAutoFit/>
          </a:bodyPr>
          <a:lstStyle/>
          <a:p>
            <a:pPr algn="ctr">
              <a:defRPr sz="800" b="1">
                <a:solidFill>
                  <a:srgbClr val="182B49"/>
                </a:solidFill>
                <a:latin typeface="Consolas"/>
              </a:defRPr>
            </a:pPr>
            <a:r>
              <a:t>Blackout Operations</a:t>
            </a:r>
          </a:p>
        </p:txBody>
      </p:sp>
      <p:sp>
        <p:nvSpPr>
          <p:cNvPr id="18" name="Rounded Rectangle 17"/>
          <p:cNvSpPr/>
          <p:nvPr/>
        </p:nvSpPr>
        <p:spPr>
          <a:xfrm>
            <a:off x="6181344" y="3886200"/>
            <a:ext cx="1888236"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3922776"/>
            <a:ext cx="1888236" cy="182880"/>
          </a:xfrm>
          <a:prstGeom prst="rect">
            <a:avLst/>
          </a:prstGeom>
          <a:noFill/>
        </p:spPr>
        <p:txBody>
          <a:bodyPr wrap="none" lIns="0" tIns="0" rIns="0" bIns="0">
            <a:spAutoFit/>
          </a:bodyPr>
          <a:lstStyle/>
          <a:p>
            <a:pPr algn="ctr">
              <a:defRPr sz="800" b="1">
                <a:solidFill>
                  <a:srgbClr val="182B49"/>
                </a:solidFill>
                <a:latin typeface="Consolas"/>
              </a:defRPr>
            </a:pPr>
            <a:r>
              <a:t>Zero Logistical Trail</a:t>
            </a:r>
          </a:p>
        </p:txBody>
      </p:sp>
      <p:sp>
        <p:nvSpPr>
          <p:cNvPr id="20" name="Rounded Rectangle 19"/>
          <p:cNvSpPr/>
          <p:nvPr/>
        </p:nvSpPr>
        <p:spPr>
          <a:xfrm>
            <a:off x="8179308" y="3886200"/>
            <a:ext cx="181051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9308" y="3922776"/>
            <a:ext cx="1810512" cy="182880"/>
          </a:xfrm>
          <a:prstGeom prst="rect">
            <a:avLst/>
          </a:prstGeom>
          <a:noFill/>
        </p:spPr>
        <p:txBody>
          <a:bodyPr wrap="none" lIns="0" tIns="0" rIns="0" bIns="0">
            <a:spAutoFit/>
          </a:bodyPr>
          <a:lstStyle/>
          <a:p>
            <a:pPr algn="ctr">
              <a:defRPr sz="800" b="1">
                <a:solidFill>
                  <a:srgbClr val="182B49"/>
                </a:solidFill>
                <a:latin typeface="Consolas"/>
              </a:defRPr>
            </a:pPr>
            <a:r>
              <a:t>Physically Demanding</a:t>
            </a:r>
          </a:p>
        </p:txBody>
      </p:sp>
      <p:sp>
        <p:nvSpPr>
          <p:cNvPr id="22" name="Rounded Rectangle 21"/>
          <p:cNvSpPr/>
          <p:nvPr/>
        </p:nvSpPr>
        <p:spPr>
          <a:xfrm>
            <a:off x="731520" y="4215384"/>
            <a:ext cx="181051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4251960"/>
            <a:ext cx="1810512" cy="182880"/>
          </a:xfrm>
          <a:prstGeom prst="rect">
            <a:avLst/>
          </a:prstGeom>
          <a:noFill/>
        </p:spPr>
        <p:txBody>
          <a:bodyPr wrap="none" lIns="0" tIns="0" rIns="0" bIns="0">
            <a:spAutoFit/>
          </a:bodyPr>
          <a:lstStyle/>
          <a:p>
            <a:pPr algn="ctr">
              <a:defRPr sz="800" b="1">
                <a:solidFill>
                  <a:srgbClr val="182B49"/>
                </a:solidFill>
                <a:latin typeface="Consolas"/>
              </a:defRPr>
            </a:pPr>
            <a:r>
              <a:t>Zero Carbon Monoxide</a:t>
            </a:r>
          </a:p>
        </p:txBody>
      </p:sp>
      <p:sp>
        <p:nvSpPr>
          <p:cNvPr id="24" name="Rounded Rectangle 23"/>
          <p:cNvSpPr/>
          <p:nvPr/>
        </p:nvSpPr>
        <p:spPr>
          <a:xfrm>
            <a:off x="731520" y="4572000"/>
            <a:ext cx="10728655"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754880"/>
            <a:ext cx="10149840" cy="1188720"/>
          </a:xfrm>
          <a:prstGeom prst="rect">
            <a:avLst/>
          </a:prstGeom>
          <a:noFill/>
        </p:spPr>
        <p:txBody>
          <a:bodyPr wrap="square" lIns="0" tIns="0" rIns="0" bIns="0">
            <a:spAutoFit/>
          </a:bodyPr>
          <a:lstStyle/>
          <a:p>
            <a:pPr>
              <a:spcAft>
                <a:spcPts val="400"/>
              </a:spcAft>
              <a:defRPr sz="900" b="1">
                <a:solidFill>
                  <a:srgbClr val="B07D14"/>
                </a:solidFill>
                <a:latin typeface="Consolas"/>
              </a:defRPr>
            </a:pPr>
            <a:r>
              <a:t>THE FRONTLINE SOLDIER AS THE BENCHMARK FOR EXTREME ENGINEERING</a:t>
            </a:r>
          </a:p>
          <a:p>
            <a:pPr>
              <a:defRPr sz="1100">
                <a:solidFill>
                  <a:srgbClr val="404E62"/>
                </a:solidFill>
                <a:latin typeface="Segoe UI"/>
              </a:defRPr>
            </a:pPr>
            <a:r>
              <a:t>The frontline soldier operating in glacial altitude represents the ultimate operating stress test. If a thermal platform performs reliably under high-altitude, wind-chill, and sub-zero conditions, every adjacent commercial, industrial, and humanitarian application becomes a natural expansion — not an unvalidated risk.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SECTION 02 // PLATFORM ARCHITECTURE</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Portable Thermal Infrastructure</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06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10728655"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103120"/>
            <a:ext cx="9784080" cy="3474720"/>
          </a:xfrm>
          <a:prstGeom prst="rect">
            <a:avLst/>
          </a:prstGeom>
          <a:noFill/>
        </p:spPr>
        <p:txBody>
          <a:bodyPr wrap="square" lIns="0" tIns="0" rIns="0" bIns="0">
            <a:spAutoFit/>
          </a:bodyPr>
          <a:lstStyle/>
          <a:p>
            <a:pPr>
              <a:spcAft>
                <a:spcPts val="1000"/>
              </a:spcAft>
              <a:defRPr sz="1100" b="1">
                <a:solidFill>
                  <a:srgbClr val="B07D14"/>
                </a:solidFill>
                <a:latin typeface="Consolas"/>
              </a:defRPr>
            </a:pPr>
            <a:r>
              <a:t>100% INDIGENOUS REACTION ENGINEERING</a:t>
            </a:r>
          </a:p>
          <a:p>
            <a:pPr>
              <a:spcAft>
                <a:spcPts val="1600"/>
              </a:spcAft>
              <a:defRPr sz="2200" b="1">
                <a:solidFill>
                  <a:srgbClr val="0B1B33"/>
                </a:solidFill>
                <a:latin typeface="Segoe UI"/>
              </a:defRPr>
            </a:pPr>
            <a:r>
              <a:t>A proprietary water-activated exothermic system — engineered specifically for extreme environments where infrastructure is zero.</a:t>
            </a:r>
          </a:p>
          <a:p>
            <a:pPr>
              <a:defRPr sz="1200">
                <a:solidFill>
                  <a:srgbClr val="404E62"/>
                </a:solidFill>
                <a:latin typeface="Segoe UI"/>
              </a:defRPr>
            </a:pPr>
            <a:r>
              <a:t>Heatbolt eliminates dangerous open fires, heavy generators, and hazardous pressurized fuel canisters through a solid-state, highly stable mineral formulation.</a:t>
            </a:r>
            <a:br/>
            <a:br/>
            <a:r>
              <a:t>Activated by ambient water, stream runoff, or melted snowpack, Heatbolt converts chemical bond energy directly into rapid, controlled thermodynamic heat and clean steam in seconds — with 100% indigenous Indian raw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THE HEATBOLT ANSWER</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Water In. Heat Out. Anywhere.</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07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00200"/>
            <a:ext cx="251460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60020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783080"/>
            <a:ext cx="2148840" cy="640080"/>
          </a:xfrm>
          <a:prstGeom prst="rect">
            <a:avLst/>
          </a:prstGeom>
          <a:noFill/>
        </p:spPr>
        <p:txBody>
          <a:bodyPr wrap="none" lIns="0" tIns="0" rIns="0" bIns="0">
            <a:spAutoFit/>
          </a:bodyPr>
          <a:lstStyle/>
          <a:p>
            <a:pPr>
              <a:defRPr sz="3600" b="1">
                <a:solidFill>
                  <a:srgbClr val="B07D14"/>
                </a:solidFill>
                <a:latin typeface="Consolas"/>
              </a:defRPr>
            </a:pPr>
            <a:r>
              <a:t>01</a:t>
            </a:r>
          </a:p>
        </p:txBody>
      </p:sp>
      <p:sp>
        <p:nvSpPr>
          <p:cNvPr id="13" name="TextBox 12"/>
          <p:cNvSpPr txBox="1"/>
          <p:nvPr/>
        </p:nvSpPr>
        <p:spPr>
          <a:xfrm>
            <a:off x="914400" y="2606040"/>
            <a:ext cx="2148840" cy="1737360"/>
          </a:xfrm>
          <a:prstGeom prst="rect">
            <a:avLst/>
          </a:prstGeom>
          <a:noFill/>
        </p:spPr>
        <p:txBody>
          <a:bodyPr wrap="square" lIns="0" tIns="0" rIns="0" bIns="0">
            <a:spAutoFit/>
          </a:bodyPr>
          <a:lstStyle/>
          <a:p>
            <a:pPr>
              <a:spcAft>
                <a:spcPts val="800"/>
              </a:spcAft>
              <a:defRPr sz="1500" b="1">
                <a:solidFill>
                  <a:srgbClr val="0B1B33"/>
                </a:solidFill>
                <a:latin typeface="Segoe UI"/>
              </a:defRPr>
            </a:pPr>
            <a:r>
              <a:t>ACTIVATE</a:t>
            </a:r>
          </a:p>
          <a:p>
            <a:pPr>
              <a:defRPr sz="1000">
                <a:solidFill>
                  <a:srgbClr val="404E62"/>
                </a:solidFill>
                <a:latin typeface="Segoe UI"/>
              </a:defRPr>
            </a:pPr>
            <a:r>
              <a:t>Water or melted snow is introduced into the hermetic thermal pouch chamber.</a:t>
            </a:r>
          </a:p>
        </p:txBody>
      </p:sp>
      <p:sp>
        <p:nvSpPr>
          <p:cNvPr id="14" name="Rounded Rectangle 13"/>
          <p:cNvSpPr/>
          <p:nvPr/>
        </p:nvSpPr>
        <p:spPr>
          <a:xfrm>
            <a:off x="3465576" y="1600200"/>
            <a:ext cx="251460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8728" y="160020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8456" y="1783080"/>
            <a:ext cx="2148840" cy="640080"/>
          </a:xfrm>
          <a:prstGeom prst="rect">
            <a:avLst/>
          </a:prstGeom>
          <a:noFill/>
        </p:spPr>
        <p:txBody>
          <a:bodyPr wrap="none" lIns="0" tIns="0" rIns="0" bIns="0">
            <a:spAutoFit/>
          </a:bodyPr>
          <a:lstStyle/>
          <a:p>
            <a:pPr>
              <a:defRPr sz="3600" b="1">
                <a:solidFill>
                  <a:srgbClr val="B07D14"/>
                </a:solidFill>
                <a:latin typeface="Consolas"/>
              </a:defRPr>
            </a:pPr>
            <a:r>
              <a:t>02</a:t>
            </a:r>
          </a:p>
        </p:txBody>
      </p:sp>
      <p:sp>
        <p:nvSpPr>
          <p:cNvPr id="17" name="TextBox 16"/>
          <p:cNvSpPr txBox="1"/>
          <p:nvPr/>
        </p:nvSpPr>
        <p:spPr>
          <a:xfrm>
            <a:off x="3648456" y="2606040"/>
            <a:ext cx="2148840" cy="1737360"/>
          </a:xfrm>
          <a:prstGeom prst="rect">
            <a:avLst/>
          </a:prstGeom>
          <a:noFill/>
        </p:spPr>
        <p:txBody>
          <a:bodyPr wrap="square" lIns="0" tIns="0" rIns="0" bIns="0">
            <a:spAutoFit/>
          </a:bodyPr>
          <a:lstStyle/>
          <a:p>
            <a:pPr>
              <a:spcAft>
                <a:spcPts val="800"/>
              </a:spcAft>
              <a:defRPr sz="1500" b="1">
                <a:solidFill>
                  <a:srgbClr val="0B1B33"/>
                </a:solidFill>
                <a:latin typeface="Segoe UI"/>
              </a:defRPr>
            </a:pPr>
            <a:r>
              <a:t>REACT</a:t>
            </a:r>
          </a:p>
          <a:p>
            <a:pPr>
              <a:defRPr sz="1000">
                <a:solidFill>
                  <a:srgbClr val="404E62"/>
                </a:solidFill>
                <a:latin typeface="Segoe UI"/>
              </a:defRPr>
            </a:pPr>
            <a:r>
              <a:t>Proprietary mineral formulation triggers an instant, controlled exothermic reaction.</a:t>
            </a:r>
          </a:p>
        </p:txBody>
      </p:sp>
      <p:sp>
        <p:nvSpPr>
          <p:cNvPr id="18" name="Rounded Rectangle 17"/>
          <p:cNvSpPr/>
          <p:nvPr/>
        </p:nvSpPr>
        <p:spPr>
          <a:xfrm>
            <a:off x="6199632" y="1600200"/>
            <a:ext cx="251460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2784" y="160020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1783080"/>
            <a:ext cx="2148840" cy="640080"/>
          </a:xfrm>
          <a:prstGeom prst="rect">
            <a:avLst/>
          </a:prstGeom>
          <a:noFill/>
        </p:spPr>
        <p:txBody>
          <a:bodyPr wrap="none" lIns="0" tIns="0" rIns="0" bIns="0">
            <a:spAutoFit/>
          </a:bodyPr>
          <a:lstStyle/>
          <a:p>
            <a:pPr>
              <a:defRPr sz="3600" b="1">
                <a:solidFill>
                  <a:srgbClr val="B07D14"/>
                </a:solidFill>
                <a:latin typeface="Consolas"/>
              </a:defRPr>
            </a:pPr>
            <a:r>
              <a:t>03</a:t>
            </a:r>
          </a:p>
        </p:txBody>
      </p:sp>
      <p:sp>
        <p:nvSpPr>
          <p:cNvPr id="21" name="TextBox 20"/>
          <p:cNvSpPr txBox="1"/>
          <p:nvPr/>
        </p:nvSpPr>
        <p:spPr>
          <a:xfrm>
            <a:off x="6382512" y="2606040"/>
            <a:ext cx="2148840" cy="1737360"/>
          </a:xfrm>
          <a:prstGeom prst="rect">
            <a:avLst/>
          </a:prstGeom>
          <a:noFill/>
        </p:spPr>
        <p:txBody>
          <a:bodyPr wrap="square" lIns="0" tIns="0" rIns="0" bIns="0">
            <a:spAutoFit/>
          </a:bodyPr>
          <a:lstStyle/>
          <a:p>
            <a:pPr>
              <a:spcAft>
                <a:spcPts val="800"/>
              </a:spcAft>
              <a:defRPr sz="1500" b="1">
                <a:solidFill>
                  <a:srgbClr val="0B1B33"/>
                </a:solidFill>
                <a:latin typeface="Segoe UI"/>
              </a:defRPr>
            </a:pPr>
            <a:r>
              <a:t>TRANSFER</a:t>
            </a:r>
          </a:p>
          <a:p>
            <a:pPr>
              <a:defRPr sz="1000">
                <a:solidFill>
                  <a:srgbClr val="404E62"/>
                </a:solidFill>
                <a:latin typeface="Segoe UI"/>
              </a:defRPr>
            </a:pPr>
            <a:r>
              <a:t>Thermal energy and pure steam conduct precisely into the payload without contamination.</a:t>
            </a:r>
          </a:p>
        </p:txBody>
      </p:sp>
      <p:sp>
        <p:nvSpPr>
          <p:cNvPr id="22" name="Rounded Rectangle 21"/>
          <p:cNvSpPr/>
          <p:nvPr/>
        </p:nvSpPr>
        <p:spPr>
          <a:xfrm>
            <a:off x="8933688" y="1600200"/>
            <a:ext cx="251460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06840" y="160020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1783080"/>
            <a:ext cx="2148840" cy="640080"/>
          </a:xfrm>
          <a:prstGeom prst="rect">
            <a:avLst/>
          </a:prstGeom>
          <a:noFill/>
        </p:spPr>
        <p:txBody>
          <a:bodyPr wrap="none" lIns="0" tIns="0" rIns="0" bIns="0">
            <a:spAutoFit/>
          </a:bodyPr>
          <a:lstStyle/>
          <a:p>
            <a:pPr>
              <a:defRPr sz="3600" b="1">
                <a:solidFill>
                  <a:srgbClr val="B07D14"/>
                </a:solidFill>
                <a:latin typeface="Consolas"/>
              </a:defRPr>
            </a:pPr>
            <a:r>
              <a:t>04</a:t>
            </a:r>
          </a:p>
        </p:txBody>
      </p:sp>
      <p:sp>
        <p:nvSpPr>
          <p:cNvPr id="25" name="TextBox 24"/>
          <p:cNvSpPr txBox="1"/>
          <p:nvPr/>
        </p:nvSpPr>
        <p:spPr>
          <a:xfrm>
            <a:off x="9116568" y="2606040"/>
            <a:ext cx="2148840" cy="1737360"/>
          </a:xfrm>
          <a:prstGeom prst="rect">
            <a:avLst/>
          </a:prstGeom>
          <a:noFill/>
        </p:spPr>
        <p:txBody>
          <a:bodyPr wrap="square" lIns="0" tIns="0" rIns="0" bIns="0">
            <a:spAutoFit/>
          </a:bodyPr>
          <a:lstStyle/>
          <a:p>
            <a:pPr>
              <a:spcAft>
                <a:spcPts val="800"/>
              </a:spcAft>
              <a:defRPr sz="1500" b="1">
                <a:solidFill>
                  <a:srgbClr val="0B1B33"/>
                </a:solidFill>
                <a:latin typeface="Segoe UI"/>
              </a:defRPr>
            </a:pPr>
            <a:r>
              <a:t>DEPLOY</a:t>
            </a:r>
          </a:p>
          <a:p>
            <a:pPr>
              <a:defRPr sz="1000">
                <a:solidFill>
                  <a:srgbClr val="404E62"/>
                </a:solidFill>
                <a:latin typeface="Segoe UI"/>
              </a:defRPr>
            </a:pPr>
            <a:r>
              <a:t>Engineered into soldier pouches, ration packs, survival vests, and tactical equipment.</a:t>
            </a:r>
          </a:p>
        </p:txBody>
      </p:sp>
      <p:sp>
        <p:nvSpPr>
          <p:cNvPr id="26" name="Rounded Rectangle 25"/>
          <p:cNvSpPr/>
          <p:nvPr/>
        </p:nvSpPr>
        <p:spPr>
          <a:xfrm>
            <a:off x="731520" y="4892040"/>
            <a:ext cx="1499616"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928616"/>
            <a:ext cx="1499616" cy="182880"/>
          </a:xfrm>
          <a:prstGeom prst="rect">
            <a:avLst/>
          </a:prstGeom>
          <a:noFill/>
        </p:spPr>
        <p:txBody>
          <a:bodyPr wrap="none" lIns="0" tIns="0" rIns="0" bIns="0">
            <a:spAutoFit/>
          </a:bodyPr>
          <a:lstStyle/>
          <a:p>
            <a:pPr algn="ctr">
              <a:defRPr sz="800" b="1">
                <a:solidFill>
                  <a:srgbClr val="182B49"/>
                </a:solidFill>
                <a:latin typeface="Consolas"/>
              </a:defRPr>
            </a:pPr>
            <a:r>
              <a:t>Zero Mains Power</a:t>
            </a:r>
          </a:p>
        </p:txBody>
      </p:sp>
      <p:sp>
        <p:nvSpPr>
          <p:cNvPr id="28" name="Rounded Rectangle 27"/>
          <p:cNvSpPr/>
          <p:nvPr/>
        </p:nvSpPr>
        <p:spPr>
          <a:xfrm>
            <a:off x="2340864" y="4892040"/>
            <a:ext cx="1732788"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40864" y="4928616"/>
            <a:ext cx="1732788" cy="182880"/>
          </a:xfrm>
          <a:prstGeom prst="rect">
            <a:avLst/>
          </a:prstGeom>
          <a:noFill/>
        </p:spPr>
        <p:txBody>
          <a:bodyPr wrap="none" lIns="0" tIns="0" rIns="0" bIns="0">
            <a:spAutoFit/>
          </a:bodyPr>
          <a:lstStyle/>
          <a:p>
            <a:pPr algn="ctr">
              <a:defRPr sz="800" b="1">
                <a:solidFill>
                  <a:srgbClr val="182B49"/>
                </a:solidFill>
                <a:latin typeface="Consolas"/>
              </a:defRPr>
            </a:pPr>
            <a:r>
              <a:t>Zero LPG / Gas Need</a:t>
            </a:r>
          </a:p>
        </p:txBody>
      </p:sp>
      <p:sp>
        <p:nvSpPr>
          <p:cNvPr id="30" name="Rounded Rectangle 29"/>
          <p:cNvSpPr/>
          <p:nvPr/>
        </p:nvSpPr>
        <p:spPr>
          <a:xfrm>
            <a:off x="4183380" y="4892040"/>
            <a:ext cx="142189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83380" y="4928616"/>
            <a:ext cx="1421892" cy="182880"/>
          </a:xfrm>
          <a:prstGeom prst="rect">
            <a:avLst/>
          </a:prstGeom>
          <a:noFill/>
        </p:spPr>
        <p:txBody>
          <a:bodyPr wrap="none" lIns="0" tIns="0" rIns="0" bIns="0">
            <a:spAutoFit/>
          </a:bodyPr>
          <a:lstStyle/>
          <a:p>
            <a:pPr algn="ctr">
              <a:defRPr sz="800" b="1">
                <a:solidFill>
                  <a:srgbClr val="182B49"/>
                </a:solidFill>
                <a:latin typeface="Consolas"/>
              </a:defRPr>
            </a:pPr>
            <a:r>
              <a:t>Zero Open Flame</a:t>
            </a:r>
          </a:p>
        </p:txBody>
      </p:sp>
      <p:sp>
        <p:nvSpPr>
          <p:cNvPr id="32" name="Rounded Rectangle 31"/>
          <p:cNvSpPr/>
          <p:nvPr/>
        </p:nvSpPr>
        <p:spPr>
          <a:xfrm>
            <a:off x="5715000" y="4892040"/>
            <a:ext cx="2043684"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15000" y="4928616"/>
            <a:ext cx="2043684" cy="182880"/>
          </a:xfrm>
          <a:prstGeom prst="rect">
            <a:avLst/>
          </a:prstGeom>
          <a:noFill/>
        </p:spPr>
        <p:txBody>
          <a:bodyPr wrap="none" lIns="0" tIns="0" rIns="0" bIns="0">
            <a:spAutoFit/>
          </a:bodyPr>
          <a:lstStyle/>
          <a:p>
            <a:pPr algn="ctr">
              <a:defRPr sz="800" b="1">
                <a:solidFill>
                  <a:srgbClr val="182B49"/>
                </a:solidFill>
                <a:latin typeface="Consolas"/>
              </a:defRPr>
            </a:pPr>
            <a:r>
              <a:t>Zero Acoustic Signature</a:t>
            </a:r>
          </a:p>
        </p:txBody>
      </p:sp>
      <p:sp>
        <p:nvSpPr>
          <p:cNvPr id="34" name="Rounded Rectangle 33"/>
          <p:cNvSpPr/>
          <p:nvPr/>
        </p:nvSpPr>
        <p:spPr>
          <a:xfrm>
            <a:off x="7868412" y="4892040"/>
            <a:ext cx="1655064"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8412" y="4928616"/>
            <a:ext cx="1655064" cy="182880"/>
          </a:xfrm>
          <a:prstGeom prst="rect">
            <a:avLst/>
          </a:prstGeom>
          <a:noFill/>
        </p:spPr>
        <p:txBody>
          <a:bodyPr wrap="none" lIns="0" tIns="0" rIns="0" bIns="0">
            <a:spAutoFit/>
          </a:bodyPr>
          <a:lstStyle/>
          <a:p>
            <a:pPr algn="ctr">
              <a:defRPr sz="800" b="1">
                <a:solidFill>
                  <a:srgbClr val="182B49"/>
                </a:solidFill>
                <a:latin typeface="Consolas"/>
              </a:defRPr>
            </a:pPr>
            <a:r>
              <a:t>Zero Toxic Residue</a:t>
            </a:r>
          </a:p>
        </p:txBody>
      </p:sp>
      <p:sp>
        <p:nvSpPr>
          <p:cNvPr id="36" name="Rounded Rectangle 35"/>
          <p:cNvSpPr/>
          <p:nvPr/>
        </p:nvSpPr>
        <p:spPr>
          <a:xfrm>
            <a:off x="731520" y="5221224"/>
            <a:ext cx="1810512" cy="256032"/>
          </a:xfrm>
          <a:prstGeom prst="round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257800"/>
            <a:ext cx="1810512" cy="182880"/>
          </a:xfrm>
          <a:prstGeom prst="rect">
            <a:avLst/>
          </a:prstGeom>
          <a:noFill/>
        </p:spPr>
        <p:txBody>
          <a:bodyPr wrap="none" lIns="0" tIns="0" rIns="0" bIns="0">
            <a:spAutoFit/>
          </a:bodyPr>
          <a:lstStyle/>
          <a:p>
            <a:pPr algn="ctr">
              <a:defRPr sz="800" b="1">
                <a:solidFill>
                  <a:srgbClr val="182B49"/>
                </a:solidFill>
                <a:latin typeface="Consolas"/>
              </a:defRPr>
            </a:pPr>
            <a:r>
              <a:t>Modular Form Factors</a:t>
            </a:r>
          </a:p>
        </p:txBody>
      </p:sp>
      <p:sp>
        <p:nvSpPr>
          <p:cNvPr id="38" name="Rounded Rectangle 37"/>
          <p:cNvSpPr/>
          <p:nvPr/>
        </p:nvSpPr>
        <p:spPr>
          <a:xfrm>
            <a:off x="731520" y="5486400"/>
            <a:ext cx="10728655" cy="731520"/>
          </a:xfrm>
          <a:prstGeom prst="roundRect">
            <a:avLst/>
          </a:prstGeom>
          <a:solidFill>
            <a:srgbClr val="FEFAF0"/>
          </a:solidFill>
          <a:ln w="1270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5541264"/>
            <a:ext cx="45720" cy="621792"/>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5577840"/>
            <a:ext cx="10454335" cy="548640"/>
          </a:xfrm>
          <a:prstGeom prst="rect">
            <a:avLst/>
          </a:prstGeom>
          <a:noFill/>
        </p:spPr>
        <p:txBody>
          <a:bodyPr wrap="square" lIns="0" tIns="0" rIns="0" bIns="0">
            <a:spAutoFit/>
          </a:bodyPr>
          <a:lstStyle/>
          <a:p>
            <a:r>
              <a:rPr b="1" sz="950">
                <a:solidFill>
                  <a:srgbClr val="B07D14"/>
                </a:solidFill>
                <a:latin typeface="Segoe UI"/>
              </a:rPr>
              <a:t>TACTICAL BLACKOUT DISCIPLINE —  </a:t>
            </a:r>
            <a:r>
              <a:rPr sz="900">
                <a:solidFill>
                  <a:srgbClr val="0F172A"/>
                </a:solidFill>
                <a:latin typeface="Segoe UI"/>
              </a:rPr>
              <a:t>Flameless chemical activation emits zero light signature and zero acoustic profile, fully conforming to strict night blackout and forward sentry concealment doctrines.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THE PLATFORM THESIS</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Not a Heater. A Thermal Platform.</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08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TextBox 9"/>
          <p:cNvSpPr txBox="1"/>
          <p:nvPr/>
        </p:nvSpPr>
        <p:spPr>
          <a:xfrm>
            <a:off x="731520" y="1371600"/>
            <a:ext cx="10728655" cy="411480"/>
          </a:xfrm>
          <a:prstGeom prst="rect">
            <a:avLst/>
          </a:prstGeom>
          <a:noFill/>
        </p:spPr>
        <p:txBody>
          <a:bodyPr wrap="none" lIns="0" tIns="0" rIns="0" bIns="0">
            <a:spAutoFit/>
          </a:bodyPr>
          <a:lstStyle/>
          <a:p>
            <a:pPr>
              <a:defRPr sz="1200">
                <a:solidFill>
                  <a:srgbClr val="B07D14"/>
                </a:solidFill>
                <a:latin typeface="Segoe UI"/>
              </a:defRPr>
            </a:pPr>
            <a:r>
              <a:t>A conventional product solves one problem. A platform solves many — using one common technological core.</a:t>
            </a:r>
          </a:p>
        </p:txBody>
      </p:sp>
      <p:sp>
        <p:nvSpPr>
          <p:cNvPr id="11" name="Rounded Rectangle 10"/>
          <p:cNvSpPr/>
          <p:nvPr/>
        </p:nvSpPr>
        <p:spPr>
          <a:xfrm>
            <a:off x="731520" y="1920240"/>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4672" y="192024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029968"/>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#01</a:t>
            </a:r>
          </a:p>
          <a:p>
            <a:pPr>
              <a:spcAft>
                <a:spcPts val="300"/>
              </a:spcAft>
              <a:defRPr sz="1150" b="1">
                <a:solidFill>
                  <a:srgbClr val="0B1B33"/>
                </a:solidFill>
                <a:latin typeface="Segoe UI"/>
              </a:defRPr>
            </a:pPr>
            <a:r>
              <a:t>Soldier Warming</a:t>
            </a:r>
          </a:p>
          <a:p>
            <a:pPr>
              <a:spcBef>
                <a:spcPts val="200"/>
              </a:spcBef>
              <a:defRPr sz="900">
                <a:solidFill>
                  <a:srgbClr val="404E62"/>
                </a:solidFill>
                <a:latin typeface="Segoe UI"/>
              </a:defRPr>
            </a:pPr>
            <a:r>
              <a:t>Personal thermal protection at point of need; wearable heating elements.</a:t>
            </a:r>
          </a:p>
        </p:txBody>
      </p:sp>
      <p:sp>
        <p:nvSpPr>
          <p:cNvPr id="14" name="Rounded Rectangle 13"/>
          <p:cNvSpPr/>
          <p:nvPr/>
        </p:nvSpPr>
        <p:spPr>
          <a:xfrm>
            <a:off x="3465576" y="1920240"/>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8728" y="192024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2029968"/>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#02</a:t>
            </a:r>
          </a:p>
          <a:p>
            <a:pPr>
              <a:spcAft>
                <a:spcPts val="300"/>
              </a:spcAft>
              <a:defRPr sz="1150" b="1">
                <a:solidFill>
                  <a:srgbClr val="0B1B33"/>
                </a:solidFill>
                <a:latin typeface="Segoe UI"/>
              </a:defRPr>
            </a:pPr>
            <a:r>
              <a:t>Ration Heating</a:t>
            </a:r>
          </a:p>
          <a:p>
            <a:pPr>
              <a:spcBef>
                <a:spcPts val="200"/>
              </a:spcBef>
              <a:defRPr sz="900">
                <a:solidFill>
                  <a:srgbClr val="404E62"/>
                </a:solidFill>
                <a:latin typeface="Segoe UI"/>
              </a:defRPr>
            </a:pPr>
            <a:r>
              <a:t>Hot meals and beverages without field kitchens, flame, or combustion smoke.</a:t>
            </a:r>
          </a:p>
        </p:txBody>
      </p:sp>
      <p:sp>
        <p:nvSpPr>
          <p:cNvPr id="17" name="Rounded Rectangle 16"/>
          <p:cNvSpPr/>
          <p:nvPr/>
        </p:nvSpPr>
        <p:spPr>
          <a:xfrm>
            <a:off x="6199632" y="1920240"/>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2784" y="192024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029968"/>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#03</a:t>
            </a:r>
          </a:p>
          <a:p>
            <a:pPr>
              <a:spcAft>
                <a:spcPts val="300"/>
              </a:spcAft>
              <a:defRPr sz="1150" b="1">
                <a:solidFill>
                  <a:srgbClr val="0B1B33"/>
                </a:solidFill>
                <a:latin typeface="Segoe UI"/>
              </a:defRPr>
            </a:pPr>
            <a:r>
              <a:t>Hot Water / Steam</a:t>
            </a:r>
          </a:p>
          <a:p>
            <a:pPr>
              <a:spcBef>
                <a:spcPts val="200"/>
              </a:spcBef>
              <a:defRPr sz="900">
                <a:solidFill>
                  <a:srgbClr val="404E62"/>
                </a:solidFill>
                <a:latin typeface="Segoe UI"/>
              </a:defRPr>
            </a:pPr>
            <a:r>
              <a:t>Field utility hot water generation, snow-to-water conversion, sanitation.</a:t>
            </a:r>
          </a:p>
        </p:txBody>
      </p:sp>
      <p:sp>
        <p:nvSpPr>
          <p:cNvPr id="20" name="Rounded Rectangle 19"/>
          <p:cNvSpPr/>
          <p:nvPr/>
        </p:nvSpPr>
        <p:spPr>
          <a:xfrm>
            <a:off x="8933688" y="1920240"/>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840" y="192024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2029968"/>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#04</a:t>
            </a:r>
          </a:p>
          <a:p>
            <a:pPr>
              <a:spcAft>
                <a:spcPts val="300"/>
              </a:spcAft>
              <a:defRPr sz="1150" b="1">
                <a:solidFill>
                  <a:srgbClr val="0B1B33"/>
                </a:solidFill>
                <a:latin typeface="Segoe UI"/>
              </a:defRPr>
            </a:pPr>
            <a:r>
              <a:t>Temporary Heating</a:t>
            </a:r>
          </a:p>
          <a:p>
            <a:pPr>
              <a:spcBef>
                <a:spcPts val="200"/>
              </a:spcBef>
              <a:defRPr sz="900">
                <a:solidFill>
                  <a:srgbClr val="404E62"/>
                </a:solidFill>
                <a:latin typeface="Segoe UI"/>
              </a:defRPr>
            </a:pPr>
            <a:r>
              <a:t>Bivouac shelters, observation posts, forward operational living pods.</a:t>
            </a:r>
          </a:p>
        </p:txBody>
      </p:sp>
      <p:sp>
        <p:nvSpPr>
          <p:cNvPr id="23" name="Rounded Rectangle 22"/>
          <p:cNvSpPr/>
          <p:nvPr/>
        </p:nvSpPr>
        <p:spPr>
          <a:xfrm>
            <a:off x="731520" y="4050791"/>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4672" y="4050791"/>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4160520"/>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#05</a:t>
            </a:r>
          </a:p>
          <a:p>
            <a:pPr>
              <a:spcAft>
                <a:spcPts val="300"/>
              </a:spcAft>
              <a:defRPr sz="1150" b="1">
                <a:solidFill>
                  <a:srgbClr val="0B1B33"/>
                </a:solidFill>
                <a:latin typeface="Segoe UI"/>
              </a:defRPr>
            </a:pPr>
            <a:r>
              <a:t>Field Medical</a:t>
            </a:r>
          </a:p>
          <a:p>
            <a:pPr>
              <a:spcBef>
                <a:spcPts val="200"/>
              </a:spcBef>
              <a:defRPr sz="900">
                <a:solidFill>
                  <a:srgbClr val="404E62"/>
                </a:solidFill>
                <a:latin typeface="Segoe UI"/>
              </a:defRPr>
            </a:pPr>
            <a:r>
              <a:t>Thermal workflows for casualty care, hypothermia treatment, IV warming.</a:t>
            </a:r>
          </a:p>
        </p:txBody>
      </p:sp>
      <p:sp>
        <p:nvSpPr>
          <p:cNvPr id="26" name="Rounded Rectangle 25"/>
          <p:cNvSpPr/>
          <p:nvPr/>
        </p:nvSpPr>
        <p:spPr>
          <a:xfrm>
            <a:off x="3465576" y="4050791"/>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38728" y="4050791"/>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80" y="4160520"/>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#06</a:t>
            </a:r>
          </a:p>
          <a:p>
            <a:pPr>
              <a:spcAft>
                <a:spcPts val="300"/>
              </a:spcAft>
              <a:defRPr sz="1150" b="1">
                <a:solidFill>
                  <a:srgbClr val="0B1B33"/>
                </a:solidFill>
                <a:latin typeface="Segoe UI"/>
              </a:defRPr>
            </a:pPr>
            <a:r>
              <a:t>Equipment Drying</a:t>
            </a:r>
          </a:p>
          <a:p>
            <a:pPr>
              <a:spcBef>
                <a:spcPts val="200"/>
              </a:spcBef>
              <a:defRPr sz="900">
                <a:solidFill>
                  <a:srgbClr val="404E62"/>
                </a:solidFill>
                <a:latin typeface="Segoe UI"/>
              </a:defRPr>
            </a:pPr>
            <a:r>
              <a:t>Tactical gear drying, weapon de-icing, moisture mitigation in freezing zones.</a:t>
            </a:r>
          </a:p>
        </p:txBody>
      </p:sp>
      <p:sp>
        <p:nvSpPr>
          <p:cNvPr id="29" name="Rounded Rectangle 28"/>
          <p:cNvSpPr/>
          <p:nvPr/>
        </p:nvSpPr>
        <p:spPr>
          <a:xfrm>
            <a:off x="6199632" y="4050791"/>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72784" y="4050791"/>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4160520"/>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#07</a:t>
            </a:r>
          </a:p>
          <a:p>
            <a:pPr>
              <a:spcAft>
                <a:spcPts val="300"/>
              </a:spcAft>
              <a:defRPr sz="1150" b="1">
                <a:solidFill>
                  <a:srgbClr val="0B1B33"/>
                </a:solidFill>
                <a:latin typeface="Segoe UI"/>
              </a:defRPr>
            </a:pPr>
            <a:r>
              <a:t>Cold-Weather Mobility</a:t>
            </a:r>
          </a:p>
          <a:p>
            <a:pPr>
              <a:spcBef>
                <a:spcPts val="200"/>
              </a:spcBef>
              <a:defRPr sz="900">
                <a:solidFill>
                  <a:srgbClr val="404E62"/>
                </a:solidFill>
                <a:latin typeface="Segoe UI"/>
              </a:defRPr>
            </a:pPr>
            <a:r>
              <a:t>Battery pre-heating, UAV sub-systems, vehicle component readiness.</a:t>
            </a:r>
          </a:p>
        </p:txBody>
      </p:sp>
      <p:sp>
        <p:nvSpPr>
          <p:cNvPr id="32" name="Rounded Rectangle 31"/>
          <p:cNvSpPr/>
          <p:nvPr/>
        </p:nvSpPr>
        <p:spPr>
          <a:xfrm>
            <a:off x="8933688" y="4050791"/>
            <a:ext cx="2514600" cy="187451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06840" y="4050791"/>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79992" y="4160520"/>
            <a:ext cx="2221992" cy="1673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#08</a:t>
            </a:r>
          </a:p>
          <a:p>
            <a:pPr>
              <a:spcAft>
                <a:spcPts val="300"/>
              </a:spcAft>
              <a:defRPr sz="1150" b="1">
                <a:solidFill>
                  <a:srgbClr val="0B1B33"/>
                </a:solidFill>
                <a:latin typeface="Segoe UI"/>
              </a:defRPr>
            </a:pPr>
            <a:r>
              <a:t>Emergency SAR</a:t>
            </a:r>
          </a:p>
          <a:p>
            <a:pPr>
              <a:spcBef>
                <a:spcPts val="200"/>
              </a:spcBef>
              <a:defRPr sz="900">
                <a:solidFill>
                  <a:srgbClr val="404E62"/>
                </a:solidFill>
                <a:latin typeface="Segoe UI"/>
              </a:defRPr>
            </a:pPr>
            <a:r>
              <a:t>Disaster response, avalanche search &amp; rescue, humanitarian mission thermal kits.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PERFORMANCE ENVELOPE</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Selected Figures from Current Development</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09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2514600" cy="310896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011680"/>
            <a:ext cx="2240280" cy="2377440"/>
          </a:xfrm>
          <a:prstGeom prst="rect">
            <a:avLst/>
          </a:prstGeom>
          <a:noFill/>
        </p:spPr>
        <p:txBody>
          <a:bodyPr wrap="square" lIns="0" tIns="0" rIns="0" bIns="0">
            <a:spAutoFit/>
          </a:bodyPr>
          <a:lstStyle/>
          <a:p>
            <a:pPr algn="ctr">
              <a:spcAft>
                <a:spcPts val="1200"/>
              </a:spcAft>
              <a:defRPr sz="3600" b="1">
                <a:solidFill>
                  <a:srgbClr val="B07D14"/>
                </a:solidFill>
                <a:latin typeface="Segoe UI"/>
              </a:defRPr>
            </a:pPr>
            <a:r>
              <a:t>100°C</a:t>
            </a:r>
          </a:p>
          <a:p>
            <a:pPr algn="ctr">
              <a:spcAft>
                <a:spcPts val="800"/>
              </a:spcAft>
              <a:defRPr sz="1200" b="1">
                <a:solidFill>
                  <a:srgbClr val="0B1B33"/>
                </a:solidFill>
                <a:latin typeface="Segoe UI"/>
              </a:defRPr>
            </a:pPr>
            <a:r>
              <a:t>Peak Thermal Output</a:t>
            </a:r>
          </a:p>
          <a:p>
            <a:pPr algn="ctr">
              <a:defRPr sz="950">
                <a:solidFill>
                  <a:srgbClr val="404E62"/>
                </a:solidFill>
                <a:latin typeface="Segoe UI"/>
              </a:defRPr>
            </a:pPr>
            <a:r>
              <a:t>Selected high-performance configurations</a:t>
            </a:r>
          </a:p>
        </p:txBody>
      </p:sp>
      <p:sp>
        <p:nvSpPr>
          <p:cNvPr id="13" name="Rounded Rectangle 12"/>
          <p:cNvSpPr/>
          <p:nvPr/>
        </p:nvSpPr>
        <p:spPr>
          <a:xfrm>
            <a:off x="3465576" y="1645920"/>
            <a:ext cx="2514600" cy="310896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7016"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11680"/>
            <a:ext cx="2240280" cy="2377440"/>
          </a:xfrm>
          <a:prstGeom prst="rect">
            <a:avLst/>
          </a:prstGeom>
          <a:noFill/>
        </p:spPr>
        <p:txBody>
          <a:bodyPr wrap="square" lIns="0" tIns="0" rIns="0" bIns="0">
            <a:spAutoFit/>
          </a:bodyPr>
          <a:lstStyle/>
          <a:p>
            <a:pPr algn="ctr">
              <a:spcAft>
                <a:spcPts val="1200"/>
              </a:spcAft>
              <a:defRPr sz="3600" b="1">
                <a:solidFill>
                  <a:srgbClr val="B07D14"/>
                </a:solidFill>
                <a:latin typeface="Segoe UI"/>
              </a:defRPr>
            </a:pPr>
            <a:r>
              <a:t>&lt; 30s</a:t>
            </a:r>
          </a:p>
          <a:p>
            <a:pPr algn="ctr">
              <a:spcAft>
                <a:spcPts val="800"/>
              </a:spcAft>
              <a:defRPr sz="1200" b="1">
                <a:solidFill>
                  <a:srgbClr val="0B1B33"/>
                </a:solidFill>
                <a:latin typeface="Segoe UI"/>
              </a:defRPr>
            </a:pPr>
            <a:r>
              <a:t>Activation Latency</a:t>
            </a:r>
          </a:p>
          <a:p>
            <a:pPr algn="ctr">
              <a:defRPr sz="950">
                <a:solidFill>
                  <a:srgbClr val="404E62"/>
                </a:solidFill>
                <a:latin typeface="Segoe UI"/>
              </a:defRPr>
            </a:pPr>
            <a:r>
              <a:t>Approximate rapid-response trigger</a:t>
            </a:r>
          </a:p>
        </p:txBody>
      </p:sp>
      <p:sp>
        <p:nvSpPr>
          <p:cNvPr id="16" name="Rounded Rectangle 15"/>
          <p:cNvSpPr/>
          <p:nvPr/>
        </p:nvSpPr>
        <p:spPr>
          <a:xfrm>
            <a:off x="6199632" y="1645920"/>
            <a:ext cx="2514600" cy="310896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91072"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36792" y="2011680"/>
            <a:ext cx="2240280" cy="2377440"/>
          </a:xfrm>
          <a:prstGeom prst="rect">
            <a:avLst/>
          </a:prstGeom>
          <a:noFill/>
        </p:spPr>
        <p:txBody>
          <a:bodyPr wrap="square" lIns="0" tIns="0" rIns="0" bIns="0">
            <a:spAutoFit/>
          </a:bodyPr>
          <a:lstStyle/>
          <a:p>
            <a:pPr algn="ctr">
              <a:spcAft>
                <a:spcPts val="1200"/>
              </a:spcAft>
              <a:defRPr sz="3600" b="1">
                <a:solidFill>
                  <a:srgbClr val="B07D14"/>
                </a:solidFill>
                <a:latin typeface="Segoe UI"/>
              </a:defRPr>
            </a:pPr>
            <a:r>
              <a:t>45 min</a:t>
            </a:r>
          </a:p>
          <a:p>
            <a:pPr algn="ctr">
              <a:spcAft>
                <a:spcPts val="800"/>
              </a:spcAft>
              <a:defRPr sz="1200" b="1">
                <a:solidFill>
                  <a:srgbClr val="0B1B33"/>
                </a:solidFill>
                <a:latin typeface="Segoe UI"/>
              </a:defRPr>
            </a:pPr>
            <a:r>
              <a:t>Active Thermal Duration</a:t>
            </a:r>
          </a:p>
          <a:p>
            <a:pPr algn="ctr">
              <a:defRPr sz="950">
                <a:solidFill>
                  <a:srgbClr val="404E62"/>
                </a:solidFill>
                <a:latin typeface="Segoe UI"/>
              </a:defRPr>
            </a:pPr>
            <a:r>
              <a:t>Standard military operational envelope</a:t>
            </a:r>
          </a:p>
        </p:txBody>
      </p:sp>
      <p:sp>
        <p:nvSpPr>
          <p:cNvPr id="19" name="Rounded Rectangle 18"/>
          <p:cNvSpPr/>
          <p:nvPr/>
        </p:nvSpPr>
        <p:spPr>
          <a:xfrm>
            <a:off x="8933688" y="1645920"/>
            <a:ext cx="2514600" cy="310896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25128"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0848" y="2011680"/>
            <a:ext cx="2240280" cy="2377440"/>
          </a:xfrm>
          <a:prstGeom prst="rect">
            <a:avLst/>
          </a:prstGeom>
          <a:noFill/>
        </p:spPr>
        <p:txBody>
          <a:bodyPr wrap="square" lIns="0" tIns="0" rIns="0" bIns="0">
            <a:spAutoFit/>
          </a:bodyPr>
          <a:lstStyle/>
          <a:p>
            <a:pPr algn="ctr">
              <a:spcAft>
                <a:spcPts val="1200"/>
              </a:spcAft>
              <a:defRPr sz="3600" b="1">
                <a:solidFill>
                  <a:srgbClr val="B07D14"/>
                </a:solidFill>
                <a:latin typeface="Segoe UI"/>
              </a:defRPr>
            </a:pPr>
            <a:r>
              <a:t>60°C / 3h</a:t>
            </a:r>
          </a:p>
          <a:p>
            <a:pPr algn="ctr">
              <a:spcAft>
                <a:spcPts val="800"/>
              </a:spcAft>
              <a:defRPr sz="1200" b="1">
                <a:solidFill>
                  <a:srgbClr val="0B1B33"/>
                </a:solidFill>
                <a:latin typeface="Segoe UI"/>
              </a:defRPr>
            </a:pPr>
            <a:r>
              <a:t>Extended Warmth Profile</a:t>
            </a:r>
          </a:p>
          <a:p>
            <a:pPr algn="ctr">
              <a:defRPr sz="950">
                <a:solidFill>
                  <a:srgbClr val="404E62"/>
                </a:solidFill>
                <a:latin typeface="Segoe UI"/>
              </a:defRPr>
            </a:pPr>
            <a:r>
              <a:t>Casualty transport &amp; survival configuration</a:t>
            </a:r>
          </a:p>
        </p:txBody>
      </p:sp>
      <p:sp>
        <p:nvSpPr>
          <p:cNvPr id="22" name="Rounded Rectangle 21"/>
          <p:cNvSpPr/>
          <p:nvPr/>
        </p:nvSpPr>
        <p:spPr>
          <a:xfrm>
            <a:off x="731520" y="5120640"/>
            <a:ext cx="10728655" cy="1051560"/>
          </a:xfrm>
          <a:prstGeom prst="roundRect">
            <a:avLst/>
          </a:prstGeom>
          <a:solidFill>
            <a:srgbClr val="FEFAF0"/>
          </a:solidFill>
          <a:ln w="1270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5175503"/>
            <a:ext cx="45720" cy="941831"/>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5212079"/>
            <a:ext cx="10454335" cy="868680"/>
          </a:xfrm>
          <a:prstGeom prst="rect">
            <a:avLst/>
          </a:prstGeom>
          <a:noFill/>
        </p:spPr>
        <p:txBody>
          <a:bodyPr wrap="square" lIns="0" tIns="0" rIns="0" bIns="0">
            <a:spAutoFit/>
          </a:bodyPr>
          <a:lstStyle/>
          <a:p>
            <a:r>
              <a:rPr b="1" sz="950">
                <a:solidFill>
                  <a:srgbClr val="B07D14"/>
                </a:solidFill>
                <a:latin typeface="Segoe UI"/>
              </a:rPr>
              <a:t>QUALIFICATION MANDATE —  </a:t>
            </a:r>
            <a:r>
              <a:rPr sz="900">
                <a:solidFill>
                  <a:srgbClr val="0F172A"/>
                </a:solidFill>
                <a:latin typeface="Segoe UI"/>
              </a:rPr>
              <a:t>Performance figures reflect developmental laboratory envelopes. Output kinetics vary with formulation density, water volume, packaging geometry, payload thermal conductivity, ambient sub-zero temperature, and wind chill. Every Defence application undergoes rigorous mil-spec qualification.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SECTION 03 // MISSION CAPABILITIES</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From Product to Soldier Capability</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10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10728655"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103120"/>
            <a:ext cx="9784080" cy="3474720"/>
          </a:xfrm>
          <a:prstGeom prst="rect">
            <a:avLst/>
          </a:prstGeom>
          <a:noFill/>
        </p:spPr>
        <p:txBody>
          <a:bodyPr wrap="square" lIns="0" tIns="0" rIns="0" bIns="0">
            <a:spAutoFit/>
          </a:bodyPr>
          <a:lstStyle/>
          <a:p>
            <a:pPr>
              <a:spcAft>
                <a:spcPts val="1000"/>
              </a:spcAft>
              <a:defRPr sz="1100" b="1">
                <a:solidFill>
                  <a:srgbClr val="B07D14"/>
                </a:solidFill>
                <a:latin typeface="Consolas"/>
              </a:defRPr>
            </a:pPr>
            <a:r>
              <a:t>MISSION-ALIGNED DEFENCE SOLUTIONS</a:t>
            </a:r>
          </a:p>
          <a:p>
            <a:pPr>
              <a:spcAft>
                <a:spcPts val="1600"/>
              </a:spcAft>
              <a:defRPr sz="2200" b="1">
                <a:solidFill>
                  <a:srgbClr val="0B1B33"/>
                </a:solidFill>
                <a:latin typeface="Segoe UI"/>
              </a:defRPr>
            </a:pPr>
            <a:r>
              <a:t>Ten mission-aligned use cases — each engineered toward rigorous military qualification, not mere laboratory demonstration.</a:t>
            </a:r>
          </a:p>
          <a:p>
            <a:pPr>
              <a:defRPr sz="1200">
                <a:solidFill>
                  <a:srgbClr val="404E62"/>
                </a:solidFill>
                <a:latin typeface="Segoe UI"/>
              </a:defRPr>
            </a:pPr>
            <a:r>
              <a:t>Heatbolt translates fundamental chemical thermodynamics into practical soldier-centric kits.</a:t>
            </a:r>
            <a:br/>
            <a:br/>
            <a:r>
              <a:t>From extreme glacial combat at -40°C on the Siachen glacier to rapid forward triage casualty evacuation, Heatbolt creates modular capability that integrates directly into existing defence procurement specifications.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MISSION USE CASES</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Ten Use Cases. One Core Platform.</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11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64592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75564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01</a:t>
            </a:r>
          </a:p>
          <a:p>
            <a:pPr>
              <a:spcAft>
                <a:spcPts val="300"/>
              </a:spcAft>
              <a:defRPr sz="1050" b="1">
                <a:solidFill>
                  <a:srgbClr val="0B1B33"/>
                </a:solidFill>
                <a:latin typeface="Segoe UI"/>
              </a:defRPr>
            </a:pPr>
            <a:r>
              <a:t>UC-01 Personal Thermal</a:t>
            </a:r>
          </a:p>
          <a:p>
            <a:pPr>
              <a:spcBef>
                <a:spcPts val="200"/>
              </a:spcBef>
              <a:defRPr sz="850">
                <a:solidFill>
                  <a:srgbClr val="404E62"/>
                </a:solidFill>
                <a:latin typeface="Segoe UI"/>
              </a:defRPr>
            </a:pPr>
            <a:r>
              <a:t>Body warmers, survival packs, heated gloves/jackets for prolonged sub-zero sentry watch.</a:t>
            </a:r>
          </a:p>
        </p:txBody>
      </p:sp>
      <p:sp>
        <p:nvSpPr>
          <p:cNvPr id="13" name="Rounded Rectangle 12"/>
          <p:cNvSpPr/>
          <p:nvPr/>
        </p:nvSpPr>
        <p:spPr>
          <a:xfrm>
            <a:off x="2907792" y="164592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164592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4096" y="175564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02</a:t>
            </a:r>
          </a:p>
          <a:p>
            <a:pPr>
              <a:spcAft>
                <a:spcPts val="300"/>
              </a:spcAft>
              <a:defRPr sz="1050" b="1">
                <a:solidFill>
                  <a:srgbClr val="0B1B33"/>
                </a:solidFill>
                <a:latin typeface="Segoe UI"/>
              </a:defRPr>
            </a:pPr>
            <a:r>
              <a:t>UC-02 Field Food &amp; Beverages</a:t>
            </a:r>
          </a:p>
          <a:p>
            <a:pPr>
              <a:spcBef>
                <a:spcPts val="200"/>
              </a:spcBef>
              <a:defRPr sz="850">
                <a:solidFill>
                  <a:srgbClr val="404E62"/>
                </a:solidFill>
                <a:latin typeface="Segoe UI"/>
              </a:defRPr>
            </a:pPr>
            <a:r>
              <a:t>Flameless self-heating of combat rations (RTE/RTC meals), tea, coffee, and clean hot water.</a:t>
            </a:r>
          </a:p>
        </p:txBody>
      </p:sp>
      <p:sp>
        <p:nvSpPr>
          <p:cNvPr id="16" name="Rounded Rectangle 15"/>
          <p:cNvSpPr/>
          <p:nvPr/>
        </p:nvSpPr>
        <p:spPr>
          <a:xfrm>
            <a:off x="5084064" y="164592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57216" y="164592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0368" y="175564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03</a:t>
            </a:r>
          </a:p>
          <a:p>
            <a:pPr>
              <a:spcAft>
                <a:spcPts val="300"/>
              </a:spcAft>
              <a:defRPr sz="1050" b="1">
                <a:solidFill>
                  <a:srgbClr val="0B1B33"/>
                </a:solidFill>
                <a:latin typeface="Segoe UI"/>
              </a:defRPr>
            </a:pPr>
            <a:r>
              <a:t>UC-03 High-Altitude Glacial</a:t>
            </a:r>
          </a:p>
          <a:p>
            <a:pPr>
              <a:spcBef>
                <a:spcPts val="200"/>
              </a:spcBef>
              <a:defRPr sz="850">
                <a:solidFill>
                  <a:srgbClr val="404E62"/>
                </a:solidFill>
                <a:latin typeface="Segoe UI"/>
              </a:defRPr>
            </a:pPr>
            <a:r>
              <a:t>Warming, hot hydration, shelter heating, gear drying, and continuous snow melting.</a:t>
            </a:r>
          </a:p>
        </p:txBody>
      </p:sp>
      <p:sp>
        <p:nvSpPr>
          <p:cNvPr id="19" name="Rounded Rectangle 18"/>
          <p:cNvSpPr/>
          <p:nvPr/>
        </p:nvSpPr>
        <p:spPr>
          <a:xfrm>
            <a:off x="7260336" y="164592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33488" y="164592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0" y="175564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04</a:t>
            </a:r>
          </a:p>
          <a:p>
            <a:pPr>
              <a:spcAft>
                <a:spcPts val="300"/>
              </a:spcAft>
              <a:defRPr sz="1050" b="1">
                <a:solidFill>
                  <a:srgbClr val="0B1B33"/>
                </a:solidFill>
                <a:latin typeface="Segoe UI"/>
              </a:defRPr>
            </a:pPr>
            <a:r>
              <a:t>UC-04 Ice &amp; Snow Management</a:t>
            </a:r>
          </a:p>
          <a:p>
            <a:pPr>
              <a:spcBef>
                <a:spcPts val="200"/>
              </a:spcBef>
              <a:defRPr sz="850">
                <a:solidFill>
                  <a:srgbClr val="404E62"/>
                </a:solidFill>
                <a:latin typeface="Segoe UI"/>
              </a:defRPr>
            </a:pPr>
            <a:r>
              <a:t>Localised melting, clearing frozen weapon mounts, optics, and locked access-points.</a:t>
            </a:r>
          </a:p>
        </p:txBody>
      </p:sp>
      <p:sp>
        <p:nvSpPr>
          <p:cNvPr id="22" name="Rounded Rectangle 21"/>
          <p:cNvSpPr/>
          <p:nvPr/>
        </p:nvSpPr>
        <p:spPr>
          <a:xfrm>
            <a:off x="9436608" y="164592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64592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82912" y="175564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05</a:t>
            </a:r>
          </a:p>
          <a:p>
            <a:pPr>
              <a:spcAft>
                <a:spcPts val="300"/>
              </a:spcAft>
              <a:defRPr sz="1050" b="1">
                <a:solidFill>
                  <a:srgbClr val="0B1B33"/>
                </a:solidFill>
                <a:latin typeface="Segoe UI"/>
              </a:defRPr>
            </a:pPr>
            <a:r>
              <a:t>UC-05 Field Medical Support</a:t>
            </a:r>
          </a:p>
          <a:p>
            <a:pPr>
              <a:spcBef>
                <a:spcPts val="200"/>
              </a:spcBef>
              <a:defRPr sz="850">
                <a:solidFill>
                  <a:srgbClr val="404E62"/>
                </a:solidFill>
                <a:latin typeface="Segoe UI"/>
              </a:defRPr>
            </a:pPr>
            <a:r>
              <a:t>Casualty transport hypothermia prevention, warm IV fluids, and field sterilisation.</a:t>
            </a:r>
          </a:p>
        </p:txBody>
      </p:sp>
      <p:sp>
        <p:nvSpPr>
          <p:cNvPr id="25" name="Rounded Rectangle 24"/>
          <p:cNvSpPr/>
          <p:nvPr/>
        </p:nvSpPr>
        <p:spPr>
          <a:xfrm>
            <a:off x="731520" y="384048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4672" y="384048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395020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06</a:t>
            </a:r>
          </a:p>
          <a:p>
            <a:pPr>
              <a:spcAft>
                <a:spcPts val="300"/>
              </a:spcAft>
              <a:defRPr sz="1050" b="1">
                <a:solidFill>
                  <a:srgbClr val="0B1B33"/>
                </a:solidFill>
                <a:latin typeface="Segoe UI"/>
              </a:defRPr>
            </a:pPr>
            <a:r>
              <a:t>UC-06 Temporary Shelters</a:t>
            </a:r>
          </a:p>
          <a:p>
            <a:pPr>
              <a:spcBef>
                <a:spcPts val="200"/>
              </a:spcBef>
              <a:defRPr sz="850">
                <a:solidFill>
                  <a:srgbClr val="404E62"/>
                </a:solidFill>
                <a:latin typeface="Segoe UI"/>
              </a:defRPr>
            </a:pPr>
            <a:r>
              <a:t>Rapid emergency heating for tactical bivouacs, alpine shelters, and forward command posts.</a:t>
            </a:r>
          </a:p>
        </p:txBody>
      </p:sp>
      <p:sp>
        <p:nvSpPr>
          <p:cNvPr id="28" name="Rounded Rectangle 27"/>
          <p:cNvSpPr/>
          <p:nvPr/>
        </p:nvSpPr>
        <p:spPr>
          <a:xfrm>
            <a:off x="2907792" y="384048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80944" y="384048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54096" y="395020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07</a:t>
            </a:r>
          </a:p>
          <a:p>
            <a:pPr>
              <a:spcAft>
                <a:spcPts val="300"/>
              </a:spcAft>
              <a:defRPr sz="1050" b="1">
                <a:solidFill>
                  <a:srgbClr val="0B1B33"/>
                </a:solidFill>
                <a:latin typeface="Segoe UI"/>
              </a:defRPr>
            </a:pPr>
            <a:r>
              <a:t>UC-07 Hygiene &amp; Sanitation</a:t>
            </a:r>
          </a:p>
          <a:p>
            <a:pPr>
              <a:spcBef>
                <a:spcPts val="200"/>
              </a:spcBef>
              <a:defRPr sz="850">
                <a:solidFill>
                  <a:srgbClr val="404E62"/>
                </a:solidFill>
                <a:latin typeface="Segoe UI"/>
              </a:defRPr>
            </a:pPr>
            <a:r>
              <a:t>On-demand hot water, steam generation, field laundry, and decontamination stations.</a:t>
            </a:r>
          </a:p>
        </p:txBody>
      </p:sp>
      <p:sp>
        <p:nvSpPr>
          <p:cNvPr id="31" name="Rounded Rectangle 30"/>
          <p:cNvSpPr/>
          <p:nvPr/>
        </p:nvSpPr>
        <p:spPr>
          <a:xfrm>
            <a:off x="5084064" y="384048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57216" y="384048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30368" y="395020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08</a:t>
            </a:r>
          </a:p>
          <a:p>
            <a:pPr>
              <a:spcAft>
                <a:spcPts val="300"/>
              </a:spcAft>
              <a:defRPr sz="1050" b="1">
                <a:solidFill>
                  <a:srgbClr val="0B1B33"/>
                </a:solidFill>
                <a:latin typeface="Segoe UI"/>
              </a:defRPr>
            </a:pPr>
            <a:r>
              <a:t>UC-08 Equipment Maintenance</a:t>
            </a:r>
          </a:p>
          <a:p>
            <a:pPr>
              <a:spcBef>
                <a:spcPts val="200"/>
              </a:spcBef>
              <a:defRPr sz="850">
                <a:solidFill>
                  <a:srgbClr val="404E62"/>
                </a:solidFill>
                <a:latin typeface="Segoe UI"/>
              </a:defRPr>
            </a:pPr>
            <a:r>
              <a:t>Weapon bore drying, vehicle engine block thawing, and frozen linkage recovery.</a:t>
            </a:r>
          </a:p>
        </p:txBody>
      </p:sp>
      <p:sp>
        <p:nvSpPr>
          <p:cNvPr id="34" name="Rounded Rectangle 33"/>
          <p:cNvSpPr/>
          <p:nvPr/>
        </p:nvSpPr>
        <p:spPr>
          <a:xfrm>
            <a:off x="7260336" y="384048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33488" y="384048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0" y="395020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09</a:t>
            </a:r>
          </a:p>
          <a:p>
            <a:pPr>
              <a:spcAft>
                <a:spcPts val="300"/>
              </a:spcAft>
              <a:defRPr sz="1050" b="1">
                <a:solidFill>
                  <a:srgbClr val="0B1B33"/>
                </a:solidFill>
                <a:latin typeface="Segoe UI"/>
              </a:defRPr>
            </a:pPr>
            <a:r>
              <a:t>UC-09 Aviation &amp; UAV Systems</a:t>
            </a:r>
          </a:p>
          <a:p>
            <a:pPr>
              <a:spcBef>
                <a:spcPts val="200"/>
              </a:spcBef>
              <a:defRPr sz="850">
                <a:solidFill>
                  <a:srgbClr val="404E62"/>
                </a:solidFill>
                <a:latin typeface="Segoe UI"/>
              </a:defRPr>
            </a:pPr>
            <a:r>
              <a:t>Pre-flight surface de-icing and cold-weather UAV battery pre-heating support.</a:t>
            </a:r>
          </a:p>
        </p:txBody>
      </p:sp>
      <p:sp>
        <p:nvSpPr>
          <p:cNvPr id="37" name="Rounded Rectangle 36"/>
          <p:cNvSpPr/>
          <p:nvPr/>
        </p:nvSpPr>
        <p:spPr>
          <a:xfrm>
            <a:off x="9436608" y="3840480"/>
            <a:ext cx="2011680" cy="1920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09760" y="3840480"/>
            <a:ext cx="186537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82912" y="3950208"/>
            <a:ext cx="1719072" cy="1719072"/>
          </a:xfrm>
          <a:prstGeom prst="rect">
            <a:avLst/>
          </a:prstGeom>
          <a:noFill/>
        </p:spPr>
        <p:txBody>
          <a:bodyPr wrap="square" lIns="0" tIns="0" rIns="0" bIns="0">
            <a:spAutoFit/>
          </a:bodyPr>
          <a:lstStyle/>
          <a:p>
            <a:pPr>
              <a:spcAft>
                <a:spcPts val="200"/>
              </a:spcAft>
              <a:defRPr sz="800" b="1">
                <a:solidFill>
                  <a:srgbClr val="B07D14"/>
                </a:solidFill>
                <a:latin typeface="Consolas"/>
              </a:defRPr>
            </a:pPr>
            <a:r>
              <a:t>USE CASE 10</a:t>
            </a:r>
          </a:p>
          <a:p>
            <a:pPr>
              <a:spcAft>
                <a:spcPts val="300"/>
              </a:spcAft>
              <a:defRPr sz="1050" b="1">
                <a:solidFill>
                  <a:srgbClr val="0B1B33"/>
                </a:solidFill>
                <a:latin typeface="Segoe UI"/>
              </a:defRPr>
            </a:pPr>
            <a:r>
              <a:t>UC-10 Search &amp; Rescue (SAR)</a:t>
            </a:r>
          </a:p>
          <a:p>
            <a:pPr>
              <a:spcBef>
                <a:spcPts val="200"/>
              </a:spcBef>
              <a:defRPr sz="850">
                <a:solidFill>
                  <a:srgbClr val="404E62"/>
                </a:solidFill>
                <a:latin typeface="Segoe UI"/>
              </a:defRPr>
            </a:pPr>
            <a:r>
              <a:t>High-altitude disaster recovery, avalanche rescue thermal bags, and multi-agency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THE SOLDIER-FIRST VISION</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A Family of Mission-Ready Kits</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12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2514600" cy="420624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28800"/>
            <a:ext cx="2185416" cy="3749039"/>
          </a:xfrm>
          <a:prstGeom prst="rect">
            <a:avLst/>
          </a:prstGeom>
          <a:noFill/>
        </p:spPr>
        <p:txBody>
          <a:bodyPr wrap="square" lIns="0" tIns="0" rIns="0" bIns="0">
            <a:spAutoFit/>
          </a:bodyPr>
          <a:lstStyle/>
          <a:p>
            <a:pPr>
              <a:spcAft>
                <a:spcPts val="200"/>
              </a:spcAft>
              <a:defRPr sz="1100" b="1">
                <a:solidFill>
                  <a:srgbClr val="B07D14"/>
                </a:solidFill>
                <a:latin typeface="Consolas"/>
              </a:defRPr>
            </a:pPr>
            <a:r>
              <a:t>KIT 01</a:t>
            </a:r>
          </a:p>
          <a:p>
            <a:pPr>
              <a:spcAft>
                <a:spcPts val="1000"/>
              </a:spcAft>
              <a:defRPr sz="1400" b="1">
                <a:solidFill>
                  <a:srgbClr val="0B1B33"/>
                </a:solidFill>
                <a:latin typeface="Segoe UI"/>
              </a:defRPr>
            </a:pPr>
            <a:r>
              <a:t>Soldier Survival Kit</a:t>
            </a:r>
          </a:p>
          <a:p>
            <a:pPr>
              <a:spcAft>
                <a:spcPts val="400"/>
              </a:spcAft>
              <a:defRPr sz="850" b="1">
                <a:solidFill>
                  <a:srgbClr val="B07D14"/>
                </a:solidFill>
                <a:latin typeface="Consolas"/>
              </a:defRPr>
            </a:pPr>
            <a:r>
              <a:t>CORE CAPABILITIES:</a:t>
            </a:r>
          </a:p>
          <a:p>
            <a:pPr>
              <a:spcAft>
                <a:spcPts val="1200"/>
              </a:spcAft>
              <a:defRPr sz="950">
                <a:solidFill>
                  <a:srgbClr val="0B1B33"/>
                </a:solidFill>
                <a:latin typeface="Segoe UI"/>
              </a:defRPr>
            </a:pPr>
            <a:r>
              <a:t>Portable thermal activation • Emergency body warming • Food &amp; beverage heating • Clean hot water</a:t>
            </a:r>
          </a:p>
          <a:p>
            <a:pPr>
              <a:spcAft>
                <a:spcPts val="400"/>
              </a:spcAft>
              <a:defRPr sz="850" b="1">
                <a:solidFill>
                  <a:srgbClr val="B07D14"/>
                </a:solidFill>
                <a:latin typeface="Consolas"/>
              </a:defRPr>
            </a:pPr>
            <a:r>
              <a:t>MISSION PROFILE:</a:t>
            </a:r>
          </a:p>
          <a:p>
            <a:pPr>
              <a:defRPr sz="900">
                <a:solidFill>
                  <a:srgbClr val="404E62"/>
                </a:solidFill>
                <a:latin typeface="Segoe UI"/>
              </a:defRPr>
            </a:pPr>
            <a:r>
              <a:t>Immediate survival loadout for extreme weather patrols and covert reconnaissance detachments.</a:t>
            </a:r>
          </a:p>
        </p:txBody>
      </p:sp>
      <p:sp>
        <p:nvSpPr>
          <p:cNvPr id="13" name="Rounded Rectangle 12"/>
          <p:cNvSpPr/>
          <p:nvPr/>
        </p:nvSpPr>
        <p:spPr>
          <a:xfrm>
            <a:off x="3465576" y="1645920"/>
            <a:ext cx="2514600" cy="420624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7016"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0168" y="1828800"/>
            <a:ext cx="2185416" cy="3749039"/>
          </a:xfrm>
          <a:prstGeom prst="rect">
            <a:avLst/>
          </a:prstGeom>
          <a:noFill/>
        </p:spPr>
        <p:txBody>
          <a:bodyPr wrap="square" lIns="0" tIns="0" rIns="0" bIns="0">
            <a:spAutoFit/>
          </a:bodyPr>
          <a:lstStyle/>
          <a:p>
            <a:pPr>
              <a:spcAft>
                <a:spcPts val="200"/>
              </a:spcAft>
              <a:defRPr sz="1100" b="1">
                <a:solidFill>
                  <a:srgbClr val="B07D14"/>
                </a:solidFill>
                <a:latin typeface="Consolas"/>
              </a:defRPr>
            </a:pPr>
            <a:r>
              <a:t>KIT 02</a:t>
            </a:r>
          </a:p>
          <a:p>
            <a:pPr>
              <a:spcAft>
                <a:spcPts val="1000"/>
              </a:spcAft>
              <a:defRPr sz="1400" b="1">
                <a:solidFill>
                  <a:srgbClr val="0B1B33"/>
                </a:solidFill>
                <a:latin typeface="Segoe UI"/>
              </a:defRPr>
            </a:pPr>
            <a:r>
              <a:t>High-Altitude Kit</a:t>
            </a:r>
          </a:p>
          <a:p>
            <a:pPr>
              <a:spcAft>
                <a:spcPts val="400"/>
              </a:spcAft>
              <a:defRPr sz="850" b="1">
                <a:solidFill>
                  <a:srgbClr val="B07D14"/>
                </a:solidFill>
                <a:latin typeface="Consolas"/>
              </a:defRPr>
            </a:pPr>
            <a:r>
              <a:t>CORE CAPABILITIES:</a:t>
            </a:r>
          </a:p>
          <a:p>
            <a:pPr>
              <a:spcAft>
                <a:spcPts val="1200"/>
              </a:spcAft>
              <a:defRPr sz="950">
                <a:solidFill>
                  <a:srgbClr val="0B1B33"/>
                </a:solidFill>
                <a:latin typeface="Segoe UI"/>
              </a:defRPr>
            </a:pPr>
            <a:r>
              <a:t>Personal warmth modules • Snow / ice thawing packs • Weapon / gear drying • Bivouac shelter heat</a:t>
            </a:r>
          </a:p>
          <a:p>
            <a:pPr>
              <a:spcAft>
                <a:spcPts val="400"/>
              </a:spcAft>
              <a:defRPr sz="850" b="1">
                <a:solidFill>
                  <a:srgbClr val="B07D14"/>
                </a:solidFill>
                <a:latin typeface="Consolas"/>
              </a:defRPr>
            </a:pPr>
            <a:r>
              <a:t>MISSION PROFILE:</a:t>
            </a:r>
          </a:p>
          <a:p>
            <a:pPr>
              <a:defRPr sz="900">
                <a:solidFill>
                  <a:srgbClr val="404E62"/>
                </a:solidFill>
                <a:latin typeface="Segoe UI"/>
              </a:defRPr>
            </a:pPr>
            <a:r>
              <a:t>Engineered for 15,000+ ft glacial environments, permanent snowlines, and sub-zero sentry posts.</a:t>
            </a:r>
          </a:p>
        </p:txBody>
      </p:sp>
      <p:sp>
        <p:nvSpPr>
          <p:cNvPr id="16" name="Rounded Rectangle 15"/>
          <p:cNvSpPr/>
          <p:nvPr/>
        </p:nvSpPr>
        <p:spPr>
          <a:xfrm>
            <a:off x="6199632" y="1645920"/>
            <a:ext cx="2514600" cy="420624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91072"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28800"/>
            <a:ext cx="2185416" cy="3749039"/>
          </a:xfrm>
          <a:prstGeom prst="rect">
            <a:avLst/>
          </a:prstGeom>
          <a:noFill/>
        </p:spPr>
        <p:txBody>
          <a:bodyPr wrap="square" lIns="0" tIns="0" rIns="0" bIns="0">
            <a:spAutoFit/>
          </a:bodyPr>
          <a:lstStyle/>
          <a:p>
            <a:pPr>
              <a:spcAft>
                <a:spcPts val="200"/>
              </a:spcAft>
              <a:defRPr sz="1100" b="1">
                <a:solidFill>
                  <a:srgbClr val="B07D14"/>
                </a:solidFill>
                <a:latin typeface="Consolas"/>
              </a:defRPr>
            </a:pPr>
            <a:r>
              <a:t>KIT 03</a:t>
            </a:r>
          </a:p>
          <a:p>
            <a:pPr>
              <a:spcAft>
                <a:spcPts val="1000"/>
              </a:spcAft>
              <a:defRPr sz="1400" b="1">
                <a:solidFill>
                  <a:srgbClr val="0B1B33"/>
                </a:solidFill>
                <a:latin typeface="Segoe UI"/>
              </a:defRPr>
            </a:pPr>
            <a:r>
              <a:t>Field Ration System</a:t>
            </a:r>
          </a:p>
          <a:p>
            <a:pPr>
              <a:spcAft>
                <a:spcPts val="400"/>
              </a:spcAft>
              <a:defRPr sz="850" b="1">
                <a:solidFill>
                  <a:srgbClr val="B07D14"/>
                </a:solidFill>
                <a:latin typeface="Consolas"/>
              </a:defRPr>
            </a:pPr>
            <a:r>
              <a:t>CORE CAPABILITIES:</a:t>
            </a:r>
          </a:p>
          <a:p>
            <a:pPr>
              <a:spcAft>
                <a:spcPts val="1200"/>
              </a:spcAft>
              <a:defRPr sz="950">
                <a:solidFill>
                  <a:srgbClr val="0B1B33"/>
                </a:solidFill>
                <a:latin typeface="Segoe UI"/>
              </a:defRPr>
            </a:pPr>
            <a:r>
              <a:t>Integrated heating sleeve • Hot meals in 10 mins • Hot hydration packs • Controlled steam venting</a:t>
            </a:r>
          </a:p>
          <a:p>
            <a:pPr>
              <a:spcAft>
                <a:spcPts val="400"/>
              </a:spcAft>
              <a:defRPr sz="850" b="1">
                <a:solidFill>
                  <a:srgbClr val="B07D14"/>
                </a:solidFill>
                <a:latin typeface="Consolas"/>
              </a:defRPr>
            </a:pPr>
            <a:r>
              <a:t>MISSION PROFILE:</a:t>
            </a:r>
          </a:p>
          <a:p>
            <a:pPr>
              <a:defRPr sz="900">
                <a:solidFill>
                  <a:srgbClr val="404E62"/>
                </a:solidFill>
                <a:latin typeface="Segoe UI"/>
              </a:defRPr>
            </a:pPr>
            <a:r>
              <a:t>Self-contained combat meal heating system replacing flame stoves and unpalatable frozen food.</a:t>
            </a:r>
          </a:p>
        </p:txBody>
      </p:sp>
      <p:sp>
        <p:nvSpPr>
          <p:cNvPr id="19" name="Rounded Rectangle 18"/>
          <p:cNvSpPr/>
          <p:nvPr/>
        </p:nvSpPr>
        <p:spPr>
          <a:xfrm>
            <a:off x="8933688" y="1645920"/>
            <a:ext cx="2514600" cy="420624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25128"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1828800"/>
            <a:ext cx="2185416" cy="3749039"/>
          </a:xfrm>
          <a:prstGeom prst="rect">
            <a:avLst/>
          </a:prstGeom>
          <a:noFill/>
        </p:spPr>
        <p:txBody>
          <a:bodyPr wrap="square" lIns="0" tIns="0" rIns="0" bIns="0">
            <a:spAutoFit/>
          </a:bodyPr>
          <a:lstStyle/>
          <a:p>
            <a:pPr>
              <a:spcAft>
                <a:spcPts val="200"/>
              </a:spcAft>
              <a:defRPr sz="1100" b="1">
                <a:solidFill>
                  <a:srgbClr val="B07D14"/>
                </a:solidFill>
                <a:latin typeface="Consolas"/>
              </a:defRPr>
            </a:pPr>
            <a:r>
              <a:t>KIT 04</a:t>
            </a:r>
          </a:p>
          <a:p>
            <a:pPr>
              <a:spcAft>
                <a:spcPts val="1000"/>
              </a:spcAft>
              <a:defRPr sz="1400" b="1">
                <a:solidFill>
                  <a:srgbClr val="0B1B33"/>
                </a:solidFill>
                <a:latin typeface="Segoe UI"/>
              </a:defRPr>
            </a:pPr>
            <a:r>
              <a:t>Winter Operations Kit</a:t>
            </a:r>
          </a:p>
          <a:p>
            <a:pPr>
              <a:spcAft>
                <a:spcPts val="400"/>
              </a:spcAft>
              <a:defRPr sz="850" b="1">
                <a:solidFill>
                  <a:srgbClr val="B07D14"/>
                </a:solidFill>
                <a:latin typeface="Consolas"/>
              </a:defRPr>
            </a:pPr>
            <a:r>
              <a:t>CORE CAPABILITIES:</a:t>
            </a:r>
          </a:p>
          <a:p>
            <a:pPr>
              <a:spcAft>
                <a:spcPts val="1200"/>
              </a:spcAft>
              <a:defRPr sz="950">
                <a:solidFill>
                  <a:srgbClr val="0B1B33"/>
                </a:solidFill>
                <a:latin typeface="Segoe UI"/>
              </a:defRPr>
            </a:pPr>
            <a:r>
              <a:t>Extended body warming • Heavy gear drying • Utility hot water • Mobile field clinic heating</a:t>
            </a:r>
          </a:p>
          <a:p>
            <a:pPr>
              <a:spcAft>
                <a:spcPts val="400"/>
              </a:spcAft>
              <a:defRPr sz="850" b="1">
                <a:solidFill>
                  <a:srgbClr val="B07D14"/>
                </a:solidFill>
                <a:latin typeface="Consolas"/>
              </a:defRPr>
            </a:pPr>
            <a:r>
              <a:t>MISSION PROFILE:</a:t>
            </a:r>
          </a:p>
          <a:p>
            <a:pPr>
              <a:defRPr sz="900">
                <a:solidFill>
                  <a:srgbClr val="404E62"/>
                </a:solidFill>
                <a:latin typeface="Segoe UI"/>
              </a:defRPr>
            </a:pPr>
            <a:r>
              <a:t>Comprehensive squad-level thermal kit for extreme winter warfare and prolonged field maneuvers.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USE CASE 03 — DEEP DIVE</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High-Altitude &amp; Glacial Operations</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13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5486400" cy="4480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28800"/>
            <a:ext cx="4937760" cy="4023360"/>
          </a:xfrm>
          <a:prstGeom prst="rect">
            <a:avLst/>
          </a:prstGeom>
          <a:noFill/>
        </p:spPr>
        <p:txBody>
          <a:bodyPr wrap="square" lIns="0" tIns="0" rIns="0" bIns="0">
            <a:spAutoFit/>
          </a:bodyPr>
          <a:lstStyle/>
          <a:p>
            <a:pPr>
              <a:spcAft>
                <a:spcPts val="1000"/>
              </a:spcAft>
              <a:defRPr sz="950" b="1">
                <a:solidFill>
                  <a:srgbClr val="B07D14"/>
                </a:solidFill>
                <a:latin typeface="Consolas"/>
              </a:defRPr>
            </a:pPr>
            <a:r>
              <a:t>GLACIAL THEATRE CAPABILITIES</a:t>
            </a:r>
          </a:p>
          <a:p>
            <a:pPr>
              <a:spcBef>
                <a:spcPts val="600"/>
              </a:spcBef>
              <a:defRPr sz="1150" b="1">
                <a:solidFill>
                  <a:srgbClr val="0B1B33"/>
                </a:solidFill>
                <a:latin typeface="Segoe UI"/>
              </a:defRPr>
            </a:pPr>
            <a:r>
              <a:t>•  Soldier Sustained Warming</a:t>
            </a:r>
          </a:p>
          <a:p>
            <a:pPr>
              <a:defRPr sz="950">
                <a:solidFill>
                  <a:srgbClr val="404E62"/>
                </a:solidFill>
                <a:latin typeface="Segoe UI"/>
              </a:defRPr>
            </a:pPr>
            <a:r>
              <a:t>Continuous personal thermal protection in -40°C blizzards; prevents frostbite and peripheral vasoconstriction.</a:t>
            </a:r>
          </a:p>
          <a:p>
            <a:pPr>
              <a:spcBef>
                <a:spcPts val="600"/>
              </a:spcBef>
              <a:defRPr sz="1150" b="1">
                <a:solidFill>
                  <a:srgbClr val="0B1B33"/>
                </a:solidFill>
                <a:latin typeface="Segoe UI"/>
              </a:defRPr>
            </a:pPr>
            <a:r>
              <a:t>•  Hot Food &amp; Instant Hydration</a:t>
            </a:r>
          </a:p>
          <a:p>
            <a:pPr>
              <a:defRPr sz="950">
                <a:solidFill>
                  <a:srgbClr val="404E62"/>
                </a:solidFill>
                <a:latin typeface="Segoe UI"/>
              </a:defRPr>
            </a:pPr>
            <a:r>
              <a:t>Rapid heating of canned and pouch rations without stoves; eliminates reliance on frozen solid rations.</a:t>
            </a:r>
          </a:p>
          <a:p>
            <a:pPr>
              <a:spcBef>
                <a:spcPts val="600"/>
              </a:spcBef>
              <a:defRPr sz="1150" b="1">
                <a:solidFill>
                  <a:srgbClr val="0B1B33"/>
                </a:solidFill>
                <a:latin typeface="Segoe UI"/>
              </a:defRPr>
            </a:pPr>
            <a:r>
              <a:t>•  Shelter &amp; Bivouac Heating</a:t>
            </a:r>
          </a:p>
          <a:p>
            <a:pPr>
              <a:defRPr sz="950">
                <a:solidFill>
                  <a:srgbClr val="404E62"/>
                </a:solidFill>
                <a:latin typeface="Segoe UI"/>
              </a:defRPr>
            </a:pPr>
            <a:r>
              <a:t>Safe, non-toxic flameless warmth for alpine tents without dangerous carbon monoxide buildup.</a:t>
            </a:r>
          </a:p>
          <a:p>
            <a:pPr>
              <a:spcBef>
                <a:spcPts val="600"/>
              </a:spcBef>
              <a:defRPr sz="1150" b="1">
                <a:solidFill>
                  <a:srgbClr val="0B1B33"/>
                </a:solidFill>
                <a:latin typeface="Segoe UI"/>
              </a:defRPr>
            </a:pPr>
            <a:r>
              <a:t>•  Snow &amp; Ice Conversion</a:t>
            </a:r>
          </a:p>
          <a:p>
            <a:pPr>
              <a:defRPr sz="950">
                <a:solidFill>
                  <a:srgbClr val="404E62"/>
                </a:solidFill>
                <a:latin typeface="Segoe UI"/>
              </a:defRPr>
            </a:pPr>
            <a:r>
              <a:t>Converts glacial snow into warm potable drinking water in minutes; prevents severe dehydration at altitude.</a:t>
            </a:r>
          </a:p>
        </p:txBody>
      </p:sp>
      <p:sp>
        <p:nvSpPr>
          <p:cNvPr id="12" name="Rounded Rectangle 11"/>
          <p:cNvSpPr/>
          <p:nvPr/>
        </p:nvSpPr>
        <p:spPr>
          <a:xfrm>
            <a:off x="6492240" y="1645920"/>
            <a:ext cx="4967935" cy="448056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828800"/>
            <a:ext cx="4389120" cy="4023360"/>
          </a:xfrm>
          <a:prstGeom prst="rect">
            <a:avLst/>
          </a:prstGeom>
          <a:noFill/>
        </p:spPr>
        <p:txBody>
          <a:bodyPr wrap="square" lIns="0" tIns="0" rIns="0" bIns="0">
            <a:spAutoFit/>
          </a:bodyPr>
          <a:lstStyle/>
          <a:p>
            <a:pPr>
              <a:spcAft>
                <a:spcPts val="1000"/>
              </a:spcAft>
              <a:defRPr sz="950" b="1">
                <a:solidFill>
                  <a:srgbClr val="B07D14"/>
                </a:solidFill>
                <a:latin typeface="Consolas"/>
              </a:defRPr>
            </a:pPr>
            <a:r>
              <a:t>TARGET THEATRES</a:t>
            </a:r>
          </a:p>
          <a:p>
            <a:pPr>
              <a:spcAft>
                <a:spcPts val="1800"/>
              </a:spcAft>
              <a:defRPr sz="1200" b="1">
                <a:solidFill>
                  <a:srgbClr val="0B1B33"/>
                </a:solidFill>
                <a:latin typeface="Segoe UI"/>
              </a:defRPr>
            </a:pPr>
            <a:r>
              <a:t>Siachen Glacier  •  Eastern Ladakh  •  Tawang Sector  •  Drass &amp; Kargil Passes  •  High-Altitude Forward Posts</a:t>
            </a:r>
          </a:p>
          <a:p>
            <a:pPr>
              <a:spcAft>
                <a:spcPts val="600"/>
              </a:spcAft>
              <a:defRPr sz="900" b="1">
                <a:solidFill>
                  <a:srgbClr val="B07D14"/>
                </a:solidFill>
                <a:latin typeface="Consolas"/>
              </a:defRPr>
            </a:pPr>
            <a:r>
              <a:t>WHY HIGH-ALTITUDE LEADS THE STRATEGY:</a:t>
            </a:r>
          </a:p>
          <a:p>
            <a:pPr>
              <a:defRPr sz="1300" b="1">
                <a:solidFill>
                  <a:srgbClr val="0B1B33"/>
                </a:solidFill>
                <a:latin typeface="Segoe UI"/>
              </a:defRPr>
            </a:pPr>
            <a:r>
              <a:t>“High-altitude operations represent the harshest thermal infrastructure gap in modern Defence.</a:t>
            </a:r>
            <a:br/>
            <a:br/>
            <a:r>
              <a:t>If Heatbolt performs at 18,000 feet under -40°C extreme winds, every adjacent ground environment becomes an operational expansion — not an unproven risk.”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USE CASE 05 — DEEP DIVE</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Combat Medical Support — Qualification Discipline</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14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342900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645920"/>
            <a:ext cx="3282696" cy="32004"/>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755648"/>
            <a:ext cx="3136392" cy="2724912"/>
          </a:xfrm>
          <a:prstGeom prst="rect">
            <a:avLst/>
          </a:prstGeom>
          <a:noFill/>
        </p:spPr>
        <p:txBody>
          <a:bodyPr wrap="square" lIns="0" tIns="0" rIns="0" bIns="0">
            <a:spAutoFit/>
          </a:bodyPr>
          <a:lstStyle/>
          <a:p>
            <a:pPr>
              <a:spcAft>
                <a:spcPts val="200"/>
              </a:spcAft>
              <a:defRPr sz="800" b="1">
                <a:solidFill>
                  <a:srgbClr val="B91C1C"/>
                </a:solidFill>
                <a:latin typeface="Consolas"/>
              </a:defRPr>
            </a:pPr>
            <a:r>
              <a:t>TRIAGE CRITICAL</a:t>
            </a:r>
          </a:p>
          <a:p>
            <a:pPr>
              <a:spcAft>
                <a:spcPts val="300"/>
              </a:spcAft>
              <a:defRPr sz="1300" b="1">
                <a:solidFill>
                  <a:srgbClr val="0B1B33"/>
                </a:solidFill>
                <a:latin typeface="Segoe UI"/>
              </a:defRPr>
            </a:pPr>
            <a:r>
              <a:t>Patient Evacuation Care</a:t>
            </a:r>
          </a:p>
          <a:p>
            <a:pPr>
              <a:spcBef>
                <a:spcPts val="200"/>
              </a:spcBef>
              <a:defRPr sz="1000">
                <a:solidFill>
                  <a:srgbClr val="404E62"/>
                </a:solidFill>
                <a:latin typeface="Segoe UI"/>
              </a:defRPr>
            </a:pPr>
            <a:r>
              <a:t>Continuous thermal support during casualty evacuation (CASEVAC); prevents hypothermic coagulopathy in wounded personnel.</a:t>
            </a:r>
          </a:p>
        </p:txBody>
      </p:sp>
      <p:sp>
        <p:nvSpPr>
          <p:cNvPr id="13" name="Rounded Rectangle 12"/>
          <p:cNvSpPr/>
          <p:nvPr/>
        </p:nvSpPr>
        <p:spPr>
          <a:xfrm>
            <a:off x="4379976" y="1645920"/>
            <a:ext cx="342900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8" y="1645920"/>
            <a:ext cx="3282696" cy="32004"/>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755648"/>
            <a:ext cx="3136392" cy="2724912"/>
          </a:xfrm>
          <a:prstGeom prst="rect">
            <a:avLst/>
          </a:prstGeom>
          <a:noFill/>
        </p:spPr>
        <p:txBody>
          <a:bodyPr wrap="square" lIns="0" tIns="0" rIns="0" bIns="0">
            <a:spAutoFit/>
          </a:bodyPr>
          <a:lstStyle/>
          <a:p>
            <a:pPr>
              <a:spcAft>
                <a:spcPts val="200"/>
              </a:spcAft>
              <a:defRPr sz="800" b="1">
                <a:solidFill>
                  <a:srgbClr val="B91C1C"/>
                </a:solidFill>
                <a:latin typeface="Consolas"/>
              </a:defRPr>
            </a:pPr>
            <a:r>
              <a:t>UTILITY SUPPORT</a:t>
            </a:r>
          </a:p>
          <a:p>
            <a:pPr>
              <a:spcAft>
                <a:spcPts val="300"/>
              </a:spcAft>
              <a:defRPr sz="1300" b="1">
                <a:solidFill>
                  <a:srgbClr val="0B1B33"/>
                </a:solidFill>
                <a:latin typeface="Segoe UI"/>
              </a:defRPr>
            </a:pPr>
            <a:r>
              <a:t>Hot Water &amp; Steam Utility</a:t>
            </a:r>
          </a:p>
          <a:p>
            <a:pPr>
              <a:spcBef>
                <a:spcPts val="200"/>
              </a:spcBef>
              <a:defRPr sz="1000">
                <a:solidFill>
                  <a:srgbClr val="404E62"/>
                </a:solidFill>
                <a:latin typeface="Segoe UI"/>
              </a:defRPr>
            </a:pPr>
            <a:r>
              <a:t>Immediate hot water for trauma cleaning, patient re-warming baths, and medical kit reconstitution.</a:t>
            </a:r>
          </a:p>
        </p:txBody>
      </p:sp>
      <p:sp>
        <p:nvSpPr>
          <p:cNvPr id="16" name="Rounded Rectangle 15"/>
          <p:cNvSpPr/>
          <p:nvPr/>
        </p:nvSpPr>
        <p:spPr>
          <a:xfrm>
            <a:off x="8028432" y="1645920"/>
            <a:ext cx="342900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1584" y="1645920"/>
            <a:ext cx="3282696" cy="32004"/>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755648"/>
            <a:ext cx="3136392" cy="2724912"/>
          </a:xfrm>
          <a:prstGeom prst="rect">
            <a:avLst/>
          </a:prstGeom>
          <a:noFill/>
        </p:spPr>
        <p:txBody>
          <a:bodyPr wrap="square" lIns="0" tIns="0" rIns="0" bIns="0">
            <a:spAutoFit/>
          </a:bodyPr>
          <a:lstStyle/>
          <a:p>
            <a:pPr>
              <a:spcAft>
                <a:spcPts val="200"/>
              </a:spcAft>
              <a:defRPr sz="800" b="1">
                <a:solidFill>
                  <a:srgbClr val="B91C1C"/>
                </a:solidFill>
                <a:latin typeface="Consolas"/>
              </a:defRPr>
            </a:pPr>
            <a:r>
              <a:t>FIELD STERILISATION</a:t>
            </a:r>
          </a:p>
          <a:p>
            <a:pPr>
              <a:spcAft>
                <a:spcPts val="300"/>
              </a:spcAft>
              <a:defRPr sz="1300" b="1">
                <a:solidFill>
                  <a:srgbClr val="0B1B33"/>
                </a:solidFill>
                <a:latin typeface="Segoe UI"/>
              </a:defRPr>
            </a:pPr>
            <a:r>
              <a:t>Sterilisation Concepts</a:t>
            </a:r>
          </a:p>
          <a:p>
            <a:pPr>
              <a:spcBef>
                <a:spcPts val="200"/>
              </a:spcBef>
              <a:defRPr sz="1000">
                <a:solidFill>
                  <a:srgbClr val="404E62"/>
                </a:solidFill>
                <a:latin typeface="Segoe UI"/>
              </a:defRPr>
            </a:pPr>
            <a:r>
              <a:t>Flameless high-temperature steam generation for field instrument sterilisation and emergency decontamination workflows.</a:t>
            </a:r>
          </a:p>
        </p:txBody>
      </p:sp>
      <p:sp>
        <p:nvSpPr>
          <p:cNvPr id="19" name="Rounded Rectangle 18"/>
          <p:cNvSpPr/>
          <p:nvPr/>
        </p:nvSpPr>
        <p:spPr>
          <a:xfrm>
            <a:off x="731520" y="4846320"/>
            <a:ext cx="10728655" cy="1280160"/>
          </a:xfrm>
          <a:prstGeom prst="roundRect">
            <a:avLst/>
          </a:prstGeom>
          <a:solidFill>
            <a:srgbClr val="FEFAF0"/>
          </a:solidFill>
          <a:ln w="1270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901183"/>
            <a:ext cx="45720" cy="1170431"/>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937759"/>
            <a:ext cx="10454335" cy="1097280"/>
          </a:xfrm>
          <a:prstGeom prst="rect">
            <a:avLst/>
          </a:prstGeom>
          <a:noFill/>
        </p:spPr>
        <p:txBody>
          <a:bodyPr wrap="square" lIns="0" tIns="0" rIns="0" bIns="0">
            <a:spAutoFit/>
          </a:bodyPr>
          <a:lstStyle/>
          <a:p>
            <a:r>
              <a:rPr b="1" sz="950">
                <a:solidFill>
                  <a:srgbClr val="B91C1C"/>
                </a:solidFill>
                <a:latin typeface="Segoe UI"/>
              </a:rPr>
              <a:t>CLINICAL REGULATORY DISCIPLINE —  </a:t>
            </a:r>
            <a:r>
              <a:rPr sz="900">
                <a:solidFill>
                  <a:srgbClr val="0F172A"/>
                </a:solidFill>
                <a:latin typeface="Segoe UI"/>
              </a:rPr>
              <a:t>Heatbolt does not propose bypassing medical qualification protocols. Dedicated clinical evaluation programs cover precise thermal stability, biocompatibility, non-toxic emissions, zero volatile organic compounds, human factors, and regulatory approvals. Medical applications represent specialized development tracks.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USE CASES 09 / 10 — DEVELOPMENT HORIZONS</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Aviation, UAV &amp; Emergency Response</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15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5248656"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645920"/>
            <a:ext cx="5102352"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755648"/>
            <a:ext cx="4956048" cy="4187952"/>
          </a:xfrm>
          <a:prstGeom prst="rect">
            <a:avLst/>
          </a:prstGeom>
          <a:noFill/>
        </p:spPr>
        <p:txBody>
          <a:bodyPr wrap="square" lIns="0" tIns="0" rIns="0" bIns="0">
            <a:spAutoFit/>
          </a:bodyPr>
          <a:lstStyle/>
          <a:p>
            <a:pPr>
              <a:spcAft>
                <a:spcPts val="200"/>
              </a:spcAft>
              <a:defRPr sz="800" b="1">
                <a:solidFill>
                  <a:srgbClr val="0B1B33"/>
                </a:solidFill>
                <a:latin typeface="Consolas"/>
              </a:defRPr>
            </a:pPr>
            <a:r>
              <a:t>AEROSPACE HORIZONS</a:t>
            </a:r>
          </a:p>
          <a:p>
            <a:pPr>
              <a:spcAft>
                <a:spcPts val="300"/>
              </a:spcAft>
              <a:defRPr sz="1400" b="1">
                <a:solidFill>
                  <a:srgbClr val="0B1B33"/>
                </a:solidFill>
                <a:latin typeface="Segoe UI"/>
              </a:defRPr>
            </a:pPr>
            <a:r>
              <a:t>Aviation &amp; UAV — Future Concepts</a:t>
            </a:r>
          </a:p>
          <a:p>
            <a:pPr>
              <a:spcBef>
                <a:spcPts val="200"/>
              </a:spcBef>
              <a:defRPr sz="1050">
                <a:solidFill>
                  <a:srgbClr val="404E62"/>
                </a:solidFill>
                <a:latin typeface="Segoe UI"/>
              </a:defRPr>
            </a:pPr>
            <a:r>
              <a:t>Exploratory applications focusing on cold-weather aviation readiness:</a:t>
            </a:r>
            <a:br/>
            <a:br/>
            <a:r>
              <a:t>• Aircraft De-Icing Support: Rapid thermal surface thawing for rotary blades and wings.</a:t>
            </a:r>
            <a:br/>
            <a:r>
              <a:t>• UAV Battery Pre-Heating: Lithium-ion battery conditioning to restore operational flight time in sub-zero air.</a:t>
            </a:r>
            <a:br/>
            <a:r>
              <a:t>• Subsystem Warming: Thermal management for high-altitude sensor gimbals and forward-looking infrared optics.</a:t>
            </a:r>
            <a:br/>
            <a:r>
              <a:t>• Field Maintenance: Rapid thawing of seized linkages and hydraulic junctions.</a:t>
            </a:r>
          </a:p>
        </p:txBody>
      </p:sp>
      <p:sp>
        <p:nvSpPr>
          <p:cNvPr id="13" name="Rounded Rectangle 12"/>
          <p:cNvSpPr/>
          <p:nvPr/>
        </p:nvSpPr>
        <p:spPr>
          <a:xfrm>
            <a:off x="6199632" y="1645920"/>
            <a:ext cx="525780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2784" y="1645920"/>
            <a:ext cx="51114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5936" y="1755648"/>
            <a:ext cx="4965192" cy="4187952"/>
          </a:xfrm>
          <a:prstGeom prst="rect">
            <a:avLst/>
          </a:prstGeom>
          <a:noFill/>
        </p:spPr>
        <p:txBody>
          <a:bodyPr wrap="square" lIns="0" tIns="0" rIns="0" bIns="0">
            <a:spAutoFit/>
          </a:bodyPr>
          <a:lstStyle/>
          <a:p>
            <a:pPr>
              <a:spcAft>
                <a:spcPts val="200"/>
              </a:spcAft>
              <a:defRPr sz="800" b="1">
                <a:solidFill>
                  <a:srgbClr val="B07D14"/>
                </a:solidFill>
                <a:latin typeface="Consolas"/>
              </a:defRPr>
            </a:pPr>
            <a:r>
              <a:t>DUAL-USE HUMANITARIAN</a:t>
            </a:r>
          </a:p>
          <a:p>
            <a:pPr>
              <a:spcAft>
                <a:spcPts val="300"/>
              </a:spcAft>
              <a:defRPr sz="1400" b="1">
                <a:solidFill>
                  <a:srgbClr val="0B1B33"/>
                </a:solidFill>
                <a:latin typeface="Segoe UI"/>
              </a:defRPr>
            </a:pPr>
            <a:r>
              <a:t>Search &amp; Rescue — Dual-Use Value</a:t>
            </a:r>
          </a:p>
          <a:p>
            <a:pPr>
              <a:spcBef>
                <a:spcPts val="200"/>
              </a:spcBef>
              <a:defRPr sz="1050">
                <a:solidFill>
                  <a:srgbClr val="404E62"/>
                </a:solidFill>
                <a:latin typeface="Segoe UI"/>
              </a:defRPr>
            </a:pPr>
            <a:r>
              <a:t>One unified platform serving Defence, Disaster Response, and Humanitarian Relief:</a:t>
            </a:r>
            <a:br/>
            <a:br/>
            <a:r>
              <a:t>• Rapid Casualty Warming: Rapid thermal blankets for hypothermic survivors.</a:t>
            </a:r>
            <a:br/>
            <a:r>
              <a:t>• Emergency Shelters: Instant heat for avalanche rescue camps and disaster survivor zones.</a:t>
            </a:r>
            <a:br/>
            <a:r>
              <a:t>• Dual-Use National Framework: Deployment across Indian Army, NDRF, SDRF, and global humanitarian agencies.</a:t>
            </a:r>
            <a:br/>
            <a:r>
              <a:t>• Sovereign Resilience: Stockpiled emergency thermal reserves requiring zero maintenance or batteries.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INNOVATION PIPELINE</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One Technology. 80+ Application Concepts.</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16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TextBox 9"/>
          <p:cNvSpPr txBox="1"/>
          <p:nvPr/>
        </p:nvSpPr>
        <p:spPr>
          <a:xfrm>
            <a:off x="731520" y="1371600"/>
            <a:ext cx="10728655" cy="320040"/>
          </a:xfrm>
          <a:prstGeom prst="rect">
            <a:avLst/>
          </a:prstGeom>
          <a:noFill/>
        </p:spPr>
        <p:txBody>
          <a:bodyPr wrap="none" lIns="0" tIns="0" rIns="0" bIns="0">
            <a:spAutoFit/>
          </a:bodyPr>
          <a:lstStyle/>
          <a:p>
            <a:pPr>
              <a:defRPr sz="1100">
                <a:solidFill>
                  <a:srgbClr val="B07D14"/>
                </a:solidFill>
                <a:latin typeface="Segoe UI"/>
              </a:defRPr>
            </a:pPr>
            <a:r>
              <a:t>A structured innovation pipeline across 9 operational domains — representing structured R&amp;D horizons, not premature claims.</a:t>
            </a:r>
          </a:p>
        </p:txBody>
      </p:sp>
      <p:sp>
        <p:nvSpPr>
          <p:cNvPr id="11" name="Rounded Rectangle 10"/>
          <p:cNvSpPr/>
          <p:nvPr/>
        </p:nvSpPr>
        <p:spPr>
          <a:xfrm>
            <a:off x="731520" y="1783080"/>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4672" y="1783080"/>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892807"/>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01</a:t>
            </a:r>
          </a:p>
          <a:p>
            <a:pPr>
              <a:spcAft>
                <a:spcPts val="300"/>
              </a:spcAft>
              <a:defRPr sz="1100" b="1">
                <a:solidFill>
                  <a:srgbClr val="0B1B33"/>
                </a:solidFill>
                <a:latin typeface="Segoe UI"/>
              </a:defRPr>
            </a:pPr>
            <a:r>
              <a:t>Personnel</a:t>
            </a:r>
          </a:p>
          <a:p>
            <a:pPr>
              <a:spcBef>
                <a:spcPts val="200"/>
              </a:spcBef>
              <a:defRPr sz="850">
                <a:solidFill>
                  <a:srgbClr val="404E62"/>
                </a:solidFill>
                <a:latin typeface="Segoe UI"/>
              </a:defRPr>
            </a:pPr>
            <a:r>
              <a:t>Body warmers • Warmer jackets • Survival packs • Portable baths • Field laundry</a:t>
            </a:r>
          </a:p>
        </p:txBody>
      </p:sp>
      <p:sp>
        <p:nvSpPr>
          <p:cNvPr id="14" name="Rounded Rectangle 13"/>
          <p:cNvSpPr/>
          <p:nvPr/>
        </p:nvSpPr>
        <p:spPr>
          <a:xfrm>
            <a:off x="4379976" y="1783080"/>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3128" y="1783080"/>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892807"/>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02</a:t>
            </a:r>
          </a:p>
          <a:p>
            <a:pPr>
              <a:spcAft>
                <a:spcPts val="300"/>
              </a:spcAft>
              <a:defRPr sz="1100" b="1">
                <a:solidFill>
                  <a:srgbClr val="0B1B33"/>
                </a:solidFill>
                <a:latin typeface="Segoe UI"/>
              </a:defRPr>
            </a:pPr>
            <a:r>
              <a:t>Food &amp; Nutrition</a:t>
            </a:r>
          </a:p>
          <a:p>
            <a:pPr>
              <a:spcBef>
                <a:spcPts val="200"/>
              </a:spcBef>
              <a:defRPr sz="850">
                <a:solidFill>
                  <a:srgbClr val="404E62"/>
                </a:solidFill>
                <a:latin typeface="Segoe UI"/>
              </a:defRPr>
            </a:pPr>
            <a:r>
              <a:t>Field kitchens • Food warming • Preservation • Field bakery • Self-heating rations</a:t>
            </a:r>
          </a:p>
        </p:txBody>
      </p:sp>
      <p:sp>
        <p:nvSpPr>
          <p:cNvPr id="17" name="Rounded Rectangle 16"/>
          <p:cNvSpPr/>
          <p:nvPr/>
        </p:nvSpPr>
        <p:spPr>
          <a:xfrm>
            <a:off x="8028432" y="1783080"/>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1584" y="1783080"/>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74736" y="1892807"/>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03</a:t>
            </a:r>
          </a:p>
          <a:p>
            <a:pPr>
              <a:spcAft>
                <a:spcPts val="300"/>
              </a:spcAft>
              <a:defRPr sz="1100" b="1">
                <a:solidFill>
                  <a:srgbClr val="0B1B33"/>
                </a:solidFill>
                <a:latin typeface="Segoe UI"/>
              </a:defRPr>
            </a:pPr>
            <a:r>
              <a:t>Water &amp; Steam</a:t>
            </a:r>
          </a:p>
          <a:p>
            <a:pPr>
              <a:spcBef>
                <a:spcPts val="200"/>
              </a:spcBef>
              <a:defRPr sz="850">
                <a:solidFill>
                  <a:srgbClr val="404E62"/>
                </a:solidFill>
                <a:latin typeface="Segoe UI"/>
              </a:defRPr>
            </a:pPr>
            <a:r>
              <a:t>Water heating • Steam generation • Distillation • Water purification concepts</a:t>
            </a:r>
          </a:p>
        </p:txBody>
      </p:sp>
      <p:sp>
        <p:nvSpPr>
          <p:cNvPr id="20" name="Rounded Rectangle 19"/>
          <p:cNvSpPr/>
          <p:nvPr/>
        </p:nvSpPr>
        <p:spPr>
          <a:xfrm>
            <a:off x="731520" y="3310128"/>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 y="3310128"/>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3419856"/>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04</a:t>
            </a:r>
          </a:p>
          <a:p>
            <a:pPr>
              <a:spcAft>
                <a:spcPts val="300"/>
              </a:spcAft>
              <a:defRPr sz="1100" b="1">
                <a:solidFill>
                  <a:srgbClr val="0B1B33"/>
                </a:solidFill>
                <a:latin typeface="Segoe UI"/>
              </a:defRPr>
            </a:pPr>
            <a:r>
              <a:t>Medical &amp; Triage</a:t>
            </a:r>
          </a:p>
          <a:p>
            <a:pPr>
              <a:spcBef>
                <a:spcPts val="200"/>
              </a:spcBef>
              <a:defRPr sz="850">
                <a:solidFill>
                  <a:srgbClr val="404E62"/>
                </a:solidFill>
                <a:latin typeface="Segoe UI"/>
              </a:defRPr>
            </a:pPr>
            <a:r>
              <a:t>Field hospitals • Casualty warming • Instrument sterilisation • Trauma kits</a:t>
            </a:r>
          </a:p>
        </p:txBody>
      </p:sp>
      <p:sp>
        <p:nvSpPr>
          <p:cNvPr id="23" name="Rounded Rectangle 22"/>
          <p:cNvSpPr/>
          <p:nvPr/>
        </p:nvSpPr>
        <p:spPr>
          <a:xfrm>
            <a:off x="4379976" y="3310128"/>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53128" y="3310128"/>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3419856"/>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05</a:t>
            </a:r>
          </a:p>
          <a:p>
            <a:pPr>
              <a:spcAft>
                <a:spcPts val="300"/>
              </a:spcAft>
              <a:defRPr sz="1100" b="1">
                <a:solidFill>
                  <a:srgbClr val="0B1B33"/>
                </a:solidFill>
                <a:latin typeface="Segoe UI"/>
              </a:defRPr>
            </a:pPr>
            <a:r>
              <a:t>Equipment &amp; Ops</a:t>
            </a:r>
          </a:p>
          <a:p>
            <a:pPr>
              <a:spcBef>
                <a:spcPts val="200"/>
              </a:spcBef>
              <a:defRPr sz="850">
                <a:solidFill>
                  <a:srgbClr val="404E62"/>
                </a:solidFill>
                <a:latin typeface="Segoe UI"/>
              </a:defRPr>
            </a:pPr>
            <a:r>
              <a:t>Gear drying • Vehicle maintenance • Weapon bore cleaning • De-icing systems</a:t>
            </a:r>
          </a:p>
        </p:txBody>
      </p:sp>
      <p:sp>
        <p:nvSpPr>
          <p:cNvPr id="26" name="Rounded Rectangle 25"/>
          <p:cNvSpPr/>
          <p:nvPr/>
        </p:nvSpPr>
        <p:spPr>
          <a:xfrm>
            <a:off x="8028432" y="3310128"/>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01584" y="3310128"/>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74736" y="3419856"/>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06</a:t>
            </a:r>
          </a:p>
          <a:p>
            <a:pPr>
              <a:spcAft>
                <a:spcPts val="300"/>
              </a:spcAft>
              <a:defRPr sz="1100" b="1">
                <a:solidFill>
                  <a:srgbClr val="0B1B33"/>
                </a:solidFill>
                <a:latin typeface="Segoe UI"/>
              </a:defRPr>
            </a:pPr>
            <a:r>
              <a:t>Infrastructure</a:t>
            </a:r>
          </a:p>
          <a:p>
            <a:pPr>
              <a:spcBef>
                <a:spcPts val="200"/>
              </a:spcBef>
              <a:defRPr sz="850">
                <a:solidFill>
                  <a:srgbClr val="404E62"/>
                </a:solidFill>
                <a:latin typeface="Segoe UI"/>
              </a:defRPr>
            </a:pPr>
            <a:r>
              <a:t>Concrete curing in cold • Remote building • Emergency shelters • Underground posts</a:t>
            </a:r>
          </a:p>
        </p:txBody>
      </p:sp>
      <p:sp>
        <p:nvSpPr>
          <p:cNvPr id="29" name="Rounded Rectangle 28"/>
          <p:cNvSpPr/>
          <p:nvPr/>
        </p:nvSpPr>
        <p:spPr>
          <a:xfrm>
            <a:off x="731520" y="4837176"/>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4672" y="4837176"/>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4946904"/>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07</a:t>
            </a:r>
          </a:p>
          <a:p>
            <a:pPr>
              <a:spcAft>
                <a:spcPts val="300"/>
              </a:spcAft>
              <a:defRPr sz="1100" b="1">
                <a:solidFill>
                  <a:srgbClr val="0B1B33"/>
                </a:solidFill>
                <a:latin typeface="Segoe UI"/>
              </a:defRPr>
            </a:pPr>
            <a:r>
              <a:t>Security &amp; Border</a:t>
            </a:r>
          </a:p>
          <a:p>
            <a:pPr>
              <a:spcBef>
                <a:spcPts val="200"/>
              </a:spcBef>
              <a:defRPr sz="850">
                <a:solidFill>
                  <a:srgbClr val="404E62"/>
                </a:solidFill>
                <a:latin typeface="Segoe UI"/>
              </a:defRPr>
            </a:pPr>
            <a:r>
              <a:t>Border post warming • Surveillance camera de-fogging • Tactical fogging concepts</a:t>
            </a:r>
          </a:p>
        </p:txBody>
      </p:sp>
      <p:sp>
        <p:nvSpPr>
          <p:cNvPr id="32" name="Rounded Rectangle 31"/>
          <p:cNvSpPr/>
          <p:nvPr/>
        </p:nvSpPr>
        <p:spPr>
          <a:xfrm>
            <a:off x="4379976" y="4837176"/>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53128" y="4837176"/>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26280" y="4946904"/>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08</a:t>
            </a:r>
          </a:p>
          <a:p>
            <a:pPr>
              <a:spcAft>
                <a:spcPts val="300"/>
              </a:spcAft>
              <a:defRPr sz="1100" b="1">
                <a:solidFill>
                  <a:srgbClr val="0B1B33"/>
                </a:solidFill>
                <a:latin typeface="Segoe UI"/>
              </a:defRPr>
            </a:pPr>
            <a:r>
              <a:t>Search &amp; Rescue</a:t>
            </a:r>
          </a:p>
          <a:p>
            <a:pPr>
              <a:spcBef>
                <a:spcPts val="200"/>
              </a:spcBef>
              <a:defRPr sz="850">
                <a:solidFill>
                  <a:srgbClr val="404E62"/>
                </a:solidFill>
                <a:latin typeface="Segoe UI"/>
              </a:defRPr>
            </a:pPr>
            <a:r>
              <a:t>Disaster response • Avalanche survivor kits • Humanitarian emergency supply</a:t>
            </a:r>
          </a:p>
        </p:txBody>
      </p:sp>
      <p:sp>
        <p:nvSpPr>
          <p:cNvPr id="35" name="Rounded Rectangle 34"/>
          <p:cNvSpPr/>
          <p:nvPr/>
        </p:nvSpPr>
        <p:spPr>
          <a:xfrm>
            <a:off x="8028432" y="4837176"/>
            <a:ext cx="342900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01584" y="4837176"/>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74736" y="4946904"/>
            <a:ext cx="3136392" cy="1124712"/>
          </a:xfrm>
          <a:prstGeom prst="rect">
            <a:avLst/>
          </a:prstGeom>
          <a:noFill/>
        </p:spPr>
        <p:txBody>
          <a:bodyPr wrap="square" lIns="0" tIns="0" rIns="0" bIns="0">
            <a:spAutoFit/>
          </a:bodyPr>
          <a:lstStyle/>
          <a:p>
            <a:pPr>
              <a:spcAft>
                <a:spcPts val="200"/>
              </a:spcAft>
              <a:defRPr sz="800" b="1">
                <a:solidFill>
                  <a:srgbClr val="B07D14"/>
                </a:solidFill>
                <a:latin typeface="Consolas"/>
              </a:defRPr>
            </a:pPr>
            <a:r>
              <a:t>DOMAIN 09</a:t>
            </a:r>
          </a:p>
          <a:p>
            <a:pPr>
              <a:spcAft>
                <a:spcPts val="300"/>
              </a:spcAft>
              <a:defRPr sz="1100" b="1">
                <a:solidFill>
                  <a:srgbClr val="0B1B33"/>
                </a:solidFill>
                <a:latin typeface="Segoe UI"/>
              </a:defRPr>
            </a:pPr>
            <a:r>
              <a:t>Environmental</a:t>
            </a:r>
          </a:p>
          <a:p>
            <a:pPr>
              <a:spcBef>
                <a:spcPts val="200"/>
              </a:spcBef>
              <a:defRPr sz="850">
                <a:solidFill>
                  <a:srgbClr val="404E62"/>
                </a:solidFill>
                <a:latin typeface="Segoe UI"/>
              </a:defRPr>
            </a:pPr>
            <a:r>
              <a:t>Environmental decontamination • Waste treatment thermal support • Remote field ops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SECTION 04 // LEADERSHIP &amp; EXECUTION</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Technology Alone Does Not Create a Defence Capability</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17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10728655"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103120"/>
            <a:ext cx="9784080" cy="3474720"/>
          </a:xfrm>
          <a:prstGeom prst="rect">
            <a:avLst/>
          </a:prstGeom>
          <a:noFill/>
        </p:spPr>
        <p:txBody>
          <a:bodyPr wrap="square" lIns="0" tIns="0" rIns="0" bIns="0">
            <a:spAutoFit/>
          </a:bodyPr>
          <a:lstStyle/>
          <a:p>
            <a:pPr>
              <a:spcAft>
                <a:spcPts val="1000"/>
              </a:spcAft>
              <a:defRPr sz="1100" b="1">
                <a:solidFill>
                  <a:srgbClr val="B07D14"/>
                </a:solidFill>
                <a:latin typeface="Consolas"/>
              </a:defRPr>
            </a:pPr>
            <a:r>
              <a:t>EXECUTION &amp; SCALE</a:t>
            </a:r>
          </a:p>
          <a:p>
            <a:pPr>
              <a:spcAft>
                <a:spcPts val="1600"/>
              </a:spcAft>
              <a:defRPr sz="2200" b="1">
                <a:solidFill>
                  <a:srgbClr val="0B1B33"/>
                </a:solidFill>
                <a:latin typeface="Segoe UI"/>
              </a:defRPr>
            </a:pPr>
            <a:r>
              <a:t>Heatbolt is assembling sovereign capability across every dimension — from atomic reaction kinetics to millions of consistent field units.</a:t>
            </a:r>
          </a:p>
          <a:p>
            <a:pPr>
              <a:defRPr sz="1200">
                <a:solidFill>
                  <a:srgbClr val="404E62"/>
                </a:solidFill>
                <a:latin typeface="Segoe UI"/>
              </a:defRPr>
            </a:pPr>
            <a:r>
              <a:t>A breakthrough technology is only as viable as its manufacturing repeatability, supply chain resilience, and institutional leadership.</a:t>
            </a:r>
            <a:br/>
            <a:br/>
            <a:r>
              <a:t>Heatbolt brings together seasoned industrial titans, aerospace propulsion veterans, FMCG packaging leaders, and defence strategists to bridge the gap between invention and multi-million unit military deployment.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EXECUTIVE LEADERSHIP</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Built to Execute</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18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251460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64592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755648"/>
            <a:ext cx="2221992" cy="4187952"/>
          </a:xfrm>
          <a:prstGeom prst="rect">
            <a:avLst/>
          </a:prstGeom>
          <a:noFill/>
        </p:spPr>
        <p:txBody>
          <a:bodyPr wrap="square" lIns="0" tIns="0" rIns="0" bIns="0">
            <a:spAutoFit/>
          </a:bodyPr>
          <a:lstStyle/>
          <a:p>
            <a:pPr>
              <a:spcAft>
                <a:spcPts val="200"/>
              </a:spcAft>
              <a:defRPr sz="800" b="1">
                <a:solidFill>
                  <a:srgbClr val="B07D14"/>
                </a:solidFill>
                <a:latin typeface="Consolas"/>
              </a:defRPr>
            </a:pPr>
            <a:r>
              <a:t>FOUNDER &amp; MANAGING DIRECTOR</a:t>
            </a:r>
          </a:p>
          <a:p>
            <a:pPr>
              <a:spcAft>
                <a:spcPts val="300"/>
              </a:spcAft>
              <a:defRPr sz="1300" b="1">
                <a:solidFill>
                  <a:srgbClr val="0B1B33"/>
                </a:solidFill>
                <a:latin typeface="Segoe UI"/>
              </a:defRPr>
            </a:pPr>
            <a:r>
              <a:t>Dr. Kumarpal Porwal</a:t>
            </a:r>
          </a:p>
          <a:p>
            <a:pPr>
              <a:spcBef>
                <a:spcPts val="200"/>
              </a:spcBef>
              <a:defRPr sz="950">
                <a:solidFill>
                  <a:srgbClr val="404E62"/>
                </a:solidFill>
                <a:latin typeface="Segoe UI"/>
              </a:defRPr>
            </a:pPr>
            <a:r>
              <a:t>Deep-tech commercialisation • Controlled thermal activation • Enterprise AI &amp; operational transformation (Chief of Staff, Vega Aviation) • Defence &amp; FMCG strategic engagement.</a:t>
            </a:r>
          </a:p>
        </p:txBody>
      </p:sp>
      <p:sp>
        <p:nvSpPr>
          <p:cNvPr id="13" name="Rounded Rectangle 12"/>
          <p:cNvSpPr/>
          <p:nvPr/>
        </p:nvSpPr>
        <p:spPr>
          <a:xfrm>
            <a:off x="3465576" y="1645920"/>
            <a:ext cx="251460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38728" y="1645920"/>
            <a:ext cx="2368296"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1755648"/>
            <a:ext cx="2221992" cy="4187952"/>
          </a:xfrm>
          <a:prstGeom prst="rect">
            <a:avLst/>
          </a:prstGeom>
          <a:noFill/>
        </p:spPr>
        <p:txBody>
          <a:bodyPr wrap="square" lIns="0" tIns="0" rIns="0" bIns="0">
            <a:spAutoFit/>
          </a:bodyPr>
          <a:lstStyle/>
          <a:p>
            <a:pPr>
              <a:spcAft>
                <a:spcPts val="200"/>
              </a:spcAft>
              <a:defRPr sz="800" b="1">
                <a:solidFill>
                  <a:srgbClr val="0B1B33"/>
                </a:solidFill>
                <a:latin typeface="Consolas"/>
              </a:defRPr>
            </a:pPr>
            <a:r>
              <a:t>MANUFACTURING &amp; QUALITY HEAD</a:t>
            </a:r>
          </a:p>
          <a:p>
            <a:pPr>
              <a:spcAft>
                <a:spcPts val="300"/>
              </a:spcAft>
              <a:defRPr sz="1300" b="1">
                <a:solidFill>
                  <a:srgbClr val="0B1B33"/>
                </a:solidFill>
                <a:latin typeface="Segoe UI"/>
              </a:defRPr>
            </a:pPr>
            <a:r>
              <a:t>Rahul Awasthi</a:t>
            </a:r>
          </a:p>
          <a:p>
            <a:pPr>
              <a:spcBef>
                <a:spcPts val="200"/>
              </a:spcBef>
              <a:defRPr sz="950">
                <a:solidFill>
                  <a:srgbClr val="404E62"/>
                </a:solidFill>
                <a:latin typeface="Segoe UI"/>
              </a:defRPr>
            </a:pPr>
            <a:r>
              <a:t>National Mfg &amp; Quality Head, SBC Tanzania (Pepsi) • Ex-SLMG Coca-Cola, Amazon (led 6,000+ operations workforce), Glenmark, SABMiller, Coca-Cola.</a:t>
            </a:r>
          </a:p>
        </p:txBody>
      </p:sp>
      <p:sp>
        <p:nvSpPr>
          <p:cNvPr id="16" name="Rounded Rectangle 15"/>
          <p:cNvSpPr/>
          <p:nvPr/>
        </p:nvSpPr>
        <p:spPr>
          <a:xfrm>
            <a:off x="6199632" y="1645920"/>
            <a:ext cx="251460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164592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1755648"/>
            <a:ext cx="2221992" cy="4187952"/>
          </a:xfrm>
          <a:prstGeom prst="rect">
            <a:avLst/>
          </a:prstGeom>
          <a:noFill/>
        </p:spPr>
        <p:txBody>
          <a:bodyPr wrap="square" lIns="0" tIns="0" rIns="0" bIns="0">
            <a:spAutoFit/>
          </a:bodyPr>
          <a:lstStyle/>
          <a:p>
            <a:pPr>
              <a:spcAft>
                <a:spcPts val="200"/>
              </a:spcAft>
              <a:defRPr sz="800" b="1">
                <a:solidFill>
                  <a:srgbClr val="B07D14"/>
                </a:solidFill>
                <a:latin typeface="Consolas"/>
              </a:defRPr>
            </a:pPr>
            <a:r>
              <a:t>MARKETING &amp; GROWTH</a:t>
            </a:r>
          </a:p>
          <a:p>
            <a:pPr>
              <a:spcAft>
                <a:spcPts val="300"/>
              </a:spcAft>
              <a:defRPr sz="1300" b="1">
                <a:solidFill>
                  <a:srgbClr val="0B1B33"/>
                </a:solidFill>
                <a:latin typeface="Segoe UI"/>
              </a:defRPr>
            </a:pPr>
            <a:r>
              <a:t>Puneet Solanki</a:t>
            </a:r>
          </a:p>
          <a:p>
            <a:pPr>
              <a:spcBef>
                <a:spcPts val="200"/>
              </a:spcBef>
              <a:defRPr sz="950">
                <a:solidFill>
                  <a:srgbClr val="404E62"/>
                </a:solidFill>
                <a:latin typeface="Segoe UI"/>
              </a:defRPr>
            </a:pPr>
            <a:r>
              <a:t>Market positioning &amp; institutional engagement • Application &amp; partnership development • Go-to-market scaling across Defence, institutional buyers, and global consumer brands.</a:t>
            </a:r>
          </a:p>
        </p:txBody>
      </p:sp>
      <p:sp>
        <p:nvSpPr>
          <p:cNvPr id="19" name="Rounded Rectangle 18"/>
          <p:cNvSpPr/>
          <p:nvPr/>
        </p:nvSpPr>
        <p:spPr>
          <a:xfrm>
            <a:off x="8933688" y="1645920"/>
            <a:ext cx="251460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645920"/>
            <a:ext cx="2368296"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755648"/>
            <a:ext cx="2221992" cy="4187952"/>
          </a:xfrm>
          <a:prstGeom prst="rect">
            <a:avLst/>
          </a:prstGeom>
          <a:noFill/>
        </p:spPr>
        <p:txBody>
          <a:bodyPr wrap="square" lIns="0" tIns="0" rIns="0" bIns="0">
            <a:spAutoFit/>
          </a:bodyPr>
          <a:lstStyle/>
          <a:p>
            <a:pPr>
              <a:spcAft>
                <a:spcPts val="200"/>
              </a:spcAft>
              <a:defRPr sz="800" b="1">
                <a:solidFill>
                  <a:srgbClr val="0B1B33"/>
                </a:solidFill>
                <a:latin typeface="Consolas"/>
              </a:defRPr>
            </a:pPr>
            <a:r>
              <a:t>GLOBAL BUSINESS LEADERSHIP</a:t>
            </a:r>
          </a:p>
          <a:p>
            <a:pPr>
              <a:spcAft>
                <a:spcPts val="300"/>
              </a:spcAft>
              <a:defRPr sz="1300" b="1">
                <a:solidFill>
                  <a:srgbClr val="0B1B33"/>
                </a:solidFill>
                <a:latin typeface="Segoe UI"/>
              </a:defRPr>
            </a:pPr>
            <a:r>
              <a:t>Amit Jain</a:t>
            </a:r>
          </a:p>
          <a:p>
            <a:pPr>
              <a:spcBef>
                <a:spcPts val="200"/>
              </a:spcBef>
              <a:defRPr sz="950">
                <a:solidFill>
                  <a:srgbClr val="404E62"/>
                </a:solidFill>
                <a:latin typeface="Segoe UI"/>
              </a:defRPr>
            </a:pPr>
            <a:r>
              <a:t>Former Managing Director — L'Oréal India (First Indian MD) • Executive leadership across AkzoNobel, Coca-Cola, Viacom/MTV, ICI • Consumer innovation &amp; global scaling.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SCIENCE &amp; ENGINEERING ECOSYSTEM</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A Multidisciplinary Research Bench</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19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107286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719072"/>
            <a:ext cx="36576" cy="63093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755648"/>
            <a:ext cx="10454335" cy="557784"/>
          </a:xfrm>
          <a:prstGeom prst="rect">
            <a:avLst/>
          </a:prstGeom>
          <a:noFill/>
        </p:spPr>
        <p:txBody>
          <a:bodyPr wrap="square" lIns="0" tIns="0" rIns="0" bIns="0">
            <a:spAutoFit/>
          </a:bodyPr>
          <a:lstStyle/>
          <a:p>
            <a:r>
              <a:rPr sz="1100" b="1">
                <a:solidFill>
                  <a:srgbClr val="0B1B33"/>
                </a:solidFill>
                <a:latin typeface="Segoe UI"/>
              </a:rPr>
              <a:t>Dr. Saibalendu Sarkar — TIFR  </a:t>
            </a:r>
            <a:r>
              <a:rPr sz="850" b="1">
                <a:solidFill>
                  <a:srgbClr val="B07D14"/>
                </a:solidFill>
                <a:latin typeface="Consolas"/>
              </a:rPr>
              <a:t>[NANOMATERIALS &amp; CATALYSIS]  </a:t>
            </a:r>
          </a:p>
          <a:p>
            <a:pPr>
              <a:defRPr sz="900">
                <a:solidFill>
                  <a:srgbClr val="404E62"/>
                </a:solidFill>
                <a:latin typeface="Segoe UI"/>
              </a:defRPr>
            </a:pPr>
            <a:r>
              <a:t>Nanomaterials, reaction kinetics, CO2 conversion, advanced mineral characterisation and thermodynamic profiling.</a:t>
            </a:r>
          </a:p>
        </p:txBody>
      </p:sp>
      <p:sp>
        <p:nvSpPr>
          <p:cNvPr id="13" name="Rounded Rectangle 12"/>
          <p:cNvSpPr/>
          <p:nvPr/>
        </p:nvSpPr>
        <p:spPr>
          <a:xfrm>
            <a:off x="731520" y="2569464"/>
            <a:ext cx="107286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642616"/>
            <a:ext cx="36576" cy="63093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679192"/>
            <a:ext cx="10454335" cy="557784"/>
          </a:xfrm>
          <a:prstGeom prst="rect">
            <a:avLst/>
          </a:prstGeom>
          <a:noFill/>
        </p:spPr>
        <p:txBody>
          <a:bodyPr wrap="square" lIns="0" tIns="0" rIns="0" bIns="0">
            <a:spAutoFit/>
          </a:bodyPr>
          <a:lstStyle/>
          <a:p>
            <a:r>
              <a:rPr sz="1100" b="1">
                <a:solidFill>
                  <a:srgbClr val="0B1B33"/>
                </a:solidFill>
                <a:latin typeface="Segoe UI"/>
              </a:rPr>
              <a:t>Anil Kumar Tripathi  </a:t>
            </a:r>
            <a:r>
              <a:rPr sz="850" b="1">
                <a:solidFill>
                  <a:srgbClr val="B07D14"/>
                </a:solidFill>
                <a:latin typeface="Consolas"/>
              </a:rPr>
              <a:t>[PACKAGING &amp; BARRIER ENGINEERING]  </a:t>
            </a:r>
          </a:p>
          <a:p>
            <a:pPr>
              <a:defRPr sz="900">
                <a:solidFill>
                  <a:srgbClr val="404E62"/>
                </a:solidFill>
                <a:latin typeface="Segoe UI"/>
              </a:defRPr>
            </a:pPr>
            <a:r>
              <a:t>Packaging technology, high-barrier hermetic foils, QA/QC standards, shelf-life integrity, and new product development.</a:t>
            </a:r>
          </a:p>
        </p:txBody>
      </p:sp>
      <p:sp>
        <p:nvSpPr>
          <p:cNvPr id="16" name="Rounded Rectangle 15"/>
          <p:cNvSpPr/>
          <p:nvPr/>
        </p:nvSpPr>
        <p:spPr>
          <a:xfrm>
            <a:off x="731520" y="3493008"/>
            <a:ext cx="107286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566160"/>
            <a:ext cx="36576" cy="63093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02736"/>
            <a:ext cx="10454335" cy="557784"/>
          </a:xfrm>
          <a:prstGeom prst="rect">
            <a:avLst/>
          </a:prstGeom>
          <a:noFill/>
        </p:spPr>
        <p:txBody>
          <a:bodyPr wrap="square" lIns="0" tIns="0" rIns="0" bIns="0">
            <a:spAutoFit/>
          </a:bodyPr>
          <a:lstStyle/>
          <a:p>
            <a:r>
              <a:rPr sz="1100" b="1">
                <a:solidFill>
                  <a:srgbClr val="0B1B33"/>
                </a:solidFill>
                <a:latin typeface="Segoe UI"/>
              </a:rPr>
              <a:t>Mahantesh G. Vantamuri  </a:t>
            </a:r>
            <a:r>
              <a:rPr sz="850" b="1">
                <a:solidFill>
                  <a:srgbClr val="B07D14"/>
                </a:solidFill>
                <a:latin typeface="Consolas"/>
              </a:rPr>
              <a:t>[MECHANICAL &amp; TOOLING DESIGN]  </a:t>
            </a:r>
          </a:p>
          <a:p>
            <a:pPr>
              <a:defRPr sz="900">
                <a:solidFill>
                  <a:srgbClr val="404E62"/>
                </a:solidFill>
                <a:latin typeface="Segoe UI"/>
              </a:defRPr>
            </a:pPr>
            <a:r>
              <a:t>Mechanical tooling, product industrial design, CAD/CAM simulation, injection moulding, and high-speed automated assembly.</a:t>
            </a:r>
          </a:p>
        </p:txBody>
      </p:sp>
      <p:sp>
        <p:nvSpPr>
          <p:cNvPr id="19" name="Rounded Rectangle 18"/>
          <p:cNvSpPr/>
          <p:nvPr/>
        </p:nvSpPr>
        <p:spPr>
          <a:xfrm>
            <a:off x="731520" y="4416552"/>
            <a:ext cx="107286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489704"/>
            <a:ext cx="36576" cy="63093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526280"/>
            <a:ext cx="10454335" cy="557784"/>
          </a:xfrm>
          <a:prstGeom prst="rect">
            <a:avLst/>
          </a:prstGeom>
          <a:noFill/>
        </p:spPr>
        <p:txBody>
          <a:bodyPr wrap="square" lIns="0" tIns="0" rIns="0" bIns="0">
            <a:spAutoFit/>
          </a:bodyPr>
          <a:lstStyle/>
          <a:p>
            <a:r>
              <a:rPr sz="1100" b="1">
                <a:solidFill>
                  <a:srgbClr val="0B1B33"/>
                </a:solidFill>
                <a:latin typeface="Segoe UI"/>
              </a:rPr>
              <a:t>T. Koshi • Prerna Bhanot • Michele Barbazza  </a:t>
            </a:r>
            <a:r>
              <a:rPr sz="850" b="1">
                <a:solidFill>
                  <a:srgbClr val="B07D14"/>
                </a:solidFill>
                <a:latin typeface="Consolas"/>
              </a:rPr>
              <a:t>[STRATEGY, TALENT &amp; EXPANSION]  </a:t>
            </a:r>
          </a:p>
          <a:p>
            <a:pPr>
              <a:defRPr sz="900">
                <a:solidFill>
                  <a:srgbClr val="404E62"/>
                </a:solidFill>
                <a:latin typeface="Segoe UI"/>
              </a:defRPr>
            </a:pPr>
            <a:r>
              <a:t>Corporate governance, institutional talent scaling, international business development, and sovereign trade frameworks.</a:t>
            </a:r>
          </a:p>
        </p:txBody>
      </p:sp>
      <p:sp>
        <p:nvSpPr>
          <p:cNvPr id="22" name="Rounded Rectangle 21"/>
          <p:cNvSpPr/>
          <p:nvPr/>
        </p:nvSpPr>
        <p:spPr>
          <a:xfrm>
            <a:off x="731520" y="5340096"/>
            <a:ext cx="10728655" cy="7772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5413248"/>
            <a:ext cx="36576" cy="63093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449824"/>
            <a:ext cx="10454335" cy="557784"/>
          </a:xfrm>
          <a:prstGeom prst="rect">
            <a:avLst/>
          </a:prstGeom>
          <a:noFill/>
        </p:spPr>
        <p:txBody>
          <a:bodyPr wrap="square" lIns="0" tIns="0" rIns="0" bIns="0">
            <a:spAutoFit/>
          </a:bodyPr>
          <a:lstStyle/>
          <a:p>
            <a:r>
              <a:rPr sz="1100" b="1">
                <a:solidFill>
                  <a:srgbClr val="0B1B33"/>
                </a:solidFill>
                <a:latin typeface="Segoe UI"/>
              </a:rPr>
              <a:t>Extended Institutional Network  </a:t>
            </a:r>
            <a:r>
              <a:rPr sz="850" b="1">
                <a:solidFill>
                  <a:srgbClr val="B07D14"/>
                </a:solidFill>
                <a:latin typeface="Consolas"/>
              </a:rPr>
              <a:t>[DEFENCE &amp; FOOD TECH ECOSYSTEM]  </a:t>
            </a:r>
          </a:p>
          <a:p>
            <a:pPr>
              <a:defRPr sz="900">
                <a:solidFill>
                  <a:srgbClr val="404E62"/>
                </a:solidFill>
                <a:latin typeface="Segoe UI"/>
              </a:defRPr>
            </a:pPr>
            <a:r>
              <a:t>Ex-CFTRI scientists, All-India food industry leadership, Vega Helmets industrial network, Microlabs, Nilons, and advanced research labs.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DISTINGUISHED ADVISORS &amp; ECOSYSTEM</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Names That Strengthen the Mission</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20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25146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64592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755648"/>
            <a:ext cx="2221992" cy="1856231"/>
          </a:xfrm>
          <a:prstGeom prst="rect">
            <a:avLst/>
          </a:prstGeom>
          <a:noFill/>
        </p:spPr>
        <p:txBody>
          <a:bodyPr wrap="square" lIns="0" tIns="0" rIns="0" bIns="0">
            <a:spAutoFit/>
          </a:bodyPr>
          <a:lstStyle/>
          <a:p>
            <a:pPr>
              <a:spcAft>
                <a:spcPts val="200"/>
              </a:spcAft>
              <a:defRPr sz="800" b="1">
                <a:solidFill>
                  <a:srgbClr val="B07D14"/>
                </a:solidFill>
                <a:latin typeface="Consolas"/>
              </a:defRPr>
            </a:pPr>
            <a:r>
              <a:t>ROCKET SCIENCE &amp; PROPULSION</a:t>
            </a:r>
          </a:p>
          <a:p>
            <a:pPr>
              <a:spcAft>
                <a:spcPts val="300"/>
              </a:spcAft>
              <a:defRPr sz="1100" b="1">
                <a:solidFill>
                  <a:srgbClr val="0B1B33"/>
                </a:solidFill>
                <a:latin typeface="Segoe UI"/>
              </a:defRPr>
            </a:pPr>
            <a:r>
              <a:t>Nambi Narayan</a:t>
            </a:r>
          </a:p>
          <a:p>
            <a:pPr>
              <a:spcBef>
                <a:spcPts val="200"/>
              </a:spcBef>
              <a:defRPr sz="850">
                <a:solidFill>
                  <a:srgbClr val="404E62"/>
                </a:solidFill>
                <a:latin typeface="Segoe UI"/>
              </a:defRPr>
            </a:pPr>
            <a:r>
              <a:t>Legendary ISRO Rocket Scientist — Space propulsion pioneer, national strategic aerospace leadership.</a:t>
            </a:r>
          </a:p>
        </p:txBody>
      </p:sp>
      <p:sp>
        <p:nvSpPr>
          <p:cNvPr id="13" name="Rounded Rectangle 12"/>
          <p:cNvSpPr/>
          <p:nvPr/>
        </p:nvSpPr>
        <p:spPr>
          <a:xfrm>
            <a:off x="3465576" y="1645920"/>
            <a:ext cx="25146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38728" y="164592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1755648"/>
            <a:ext cx="2221992" cy="1856231"/>
          </a:xfrm>
          <a:prstGeom prst="rect">
            <a:avLst/>
          </a:prstGeom>
          <a:noFill/>
        </p:spPr>
        <p:txBody>
          <a:bodyPr wrap="square" lIns="0" tIns="0" rIns="0" bIns="0">
            <a:spAutoFit/>
          </a:bodyPr>
          <a:lstStyle/>
          <a:p>
            <a:pPr>
              <a:spcAft>
                <a:spcPts val="200"/>
              </a:spcAft>
              <a:defRPr sz="800" b="1">
                <a:solidFill>
                  <a:srgbClr val="B07D14"/>
                </a:solidFill>
                <a:latin typeface="Consolas"/>
              </a:defRPr>
            </a:pPr>
            <a:r>
              <a:t>PACKAGING DEVELOPMENT &amp; FMCG SCALE</a:t>
            </a:r>
          </a:p>
          <a:p>
            <a:pPr>
              <a:spcAft>
                <a:spcPts val="300"/>
              </a:spcAft>
              <a:defRPr sz="1100" b="1">
                <a:solidFill>
                  <a:srgbClr val="0B1B33"/>
                </a:solidFill>
                <a:latin typeface="Segoe UI"/>
              </a:defRPr>
            </a:pPr>
            <a:r>
              <a:t>Pradeep Kumar Pandey</a:t>
            </a:r>
          </a:p>
          <a:p>
            <a:pPr>
              <a:spcBef>
                <a:spcPts val="200"/>
              </a:spcBef>
              <a:defRPr sz="850">
                <a:solidFill>
                  <a:srgbClr val="404E62"/>
                </a:solidFill>
                <a:latin typeface="Segoe UI"/>
              </a:defRPr>
            </a:pPr>
            <a:r>
              <a:t>Senior Advisor — President, Packaging Development, Emami Ltd • 29+ years, Gold Medalist • Ex-Procter &amp; Gamble, Amway, Dabur.</a:t>
            </a:r>
          </a:p>
        </p:txBody>
      </p:sp>
      <p:sp>
        <p:nvSpPr>
          <p:cNvPr id="16" name="Rounded Rectangle 15"/>
          <p:cNvSpPr/>
          <p:nvPr/>
        </p:nvSpPr>
        <p:spPr>
          <a:xfrm>
            <a:off x="6199632" y="1645920"/>
            <a:ext cx="25146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1645920"/>
            <a:ext cx="2368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1755648"/>
            <a:ext cx="2221992" cy="1856231"/>
          </a:xfrm>
          <a:prstGeom prst="rect">
            <a:avLst/>
          </a:prstGeom>
          <a:noFill/>
        </p:spPr>
        <p:txBody>
          <a:bodyPr wrap="square" lIns="0" tIns="0" rIns="0" bIns="0">
            <a:spAutoFit/>
          </a:bodyPr>
          <a:lstStyle/>
          <a:p>
            <a:pPr>
              <a:spcAft>
                <a:spcPts val="200"/>
              </a:spcAft>
              <a:defRPr sz="800" b="1">
                <a:solidFill>
                  <a:srgbClr val="B07D14"/>
                </a:solidFill>
                <a:latin typeface="Consolas"/>
              </a:defRPr>
            </a:pPr>
            <a:r>
              <a:t>GLOBAL THERMOFORMING &amp; PACKAGING</a:t>
            </a:r>
          </a:p>
          <a:p>
            <a:pPr>
              <a:spcAft>
                <a:spcPts val="300"/>
              </a:spcAft>
              <a:defRPr sz="1100" b="1">
                <a:solidFill>
                  <a:srgbClr val="0B1B33"/>
                </a:solidFill>
                <a:latin typeface="Segoe UI"/>
              </a:defRPr>
            </a:pPr>
            <a:r>
              <a:t>Andrew Dobringer</a:t>
            </a:r>
          </a:p>
          <a:p>
            <a:pPr>
              <a:spcBef>
                <a:spcPts val="200"/>
              </a:spcBef>
              <a:defRPr sz="850">
                <a:solidFill>
                  <a:srgbClr val="404E62"/>
                </a:solidFill>
                <a:latin typeface="Segoe UI"/>
              </a:defRPr>
            </a:pPr>
            <a:r>
              <a:t>Senior Advisor — International Thermoforming, Precision Tooling &amp; Advanced Packaging Systems Engineering Specialist.</a:t>
            </a:r>
          </a:p>
        </p:txBody>
      </p:sp>
      <p:sp>
        <p:nvSpPr>
          <p:cNvPr id="19" name="Rounded Rectangle 18"/>
          <p:cNvSpPr/>
          <p:nvPr/>
        </p:nvSpPr>
        <p:spPr>
          <a:xfrm>
            <a:off x="8933688" y="1645920"/>
            <a:ext cx="25146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645920"/>
            <a:ext cx="2368296"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755648"/>
            <a:ext cx="2221992" cy="1856231"/>
          </a:xfrm>
          <a:prstGeom prst="rect">
            <a:avLst/>
          </a:prstGeom>
          <a:noFill/>
        </p:spPr>
        <p:txBody>
          <a:bodyPr wrap="square" lIns="0" tIns="0" rIns="0" bIns="0">
            <a:spAutoFit/>
          </a:bodyPr>
          <a:lstStyle/>
          <a:p>
            <a:pPr>
              <a:spcAft>
                <a:spcPts val="200"/>
              </a:spcAft>
              <a:defRPr sz="800" b="1">
                <a:solidFill>
                  <a:srgbClr val="0B1B33"/>
                </a:solidFill>
                <a:latin typeface="Consolas"/>
              </a:defRPr>
            </a:pPr>
            <a:r>
              <a:t>RESEARCH LEADERSHIP &amp; MATERIALS</a:t>
            </a:r>
          </a:p>
          <a:p>
            <a:pPr>
              <a:spcAft>
                <a:spcPts val="300"/>
              </a:spcAft>
              <a:defRPr sz="1100" b="1">
                <a:solidFill>
                  <a:srgbClr val="0B1B33"/>
                </a:solidFill>
                <a:latin typeface="Segoe UI"/>
              </a:defRPr>
            </a:pPr>
            <a:r>
              <a:t>Prof. Somnath Ganguly</a:t>
            </a:r>
          </a:p>
          <a:p>
            <a:pPr>
              <a:spcBef>
                <a:spcPts val="200"/>
              </a:spcBef>
              <a:defRPr sz="850">
                <a:solidFill>
                  <a:srgbClr val="404E62"/>
                </a:solidFill>
                <a:latin typeface="Segoe UI"/>
              </a:defRPr>
            </a:pPr>
            <a:r>
              <a:t>Senior Advisor — 40+ years of distinguished leadership in chemical formulation, materials research, and laboratory scaling.</a:t>
            </a:r>
          </a:p>
        </p:txBody>
      </p:sp>
      <p:sp>
        <p:nvSpPr>
          <p:cNvPr id="22" name="Rounded Rectangle 21"/>
          <p:cNvSpPr/>
          <p:nvPr/>
        </p:nvSpPr>
        <p:spPr>
          <a:xfrm>
            <a:off x="2093976" y="3886200"/>
            <a:ext cx="25146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67128" y="3886200"/>
            <a:ext cx="2368296"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40280" y="3995928"/>
            <a:ext cx="2221992" cy="1856231"/>
          </a:xfrm>
          <a:prstGeom prst="rect">
            <a:avLst/>
          </a:prstGeom>
          <a:noFill/>
        </p:spPr>
        <p:txBody>
          <a:bodyPr wrap="square" lIns="0" tIns="0" rIns="0" bIns="0">
            <a:spAutoFit/>
          </a:bodyPr>
          <a:lstStyle/>
          <a:p>
            <a:pPr>
              <a:spcAft>
                <a:spcPts val="200"/>
              </a:spcAft>
              <a:defRPr sz="800" b="1">
                <a:solidFill>
                  <a:srgbClr val="0B1B33"/>
                </a:solidFill>
                <a:latin typeface="Consolas"/>
              </a:defRPr>
            </a:pPr>
            <a:r>
              <a:t>MACHINERY &amp; AUTOMATION</a:t>
            </a:r>
          </a:p>
          <a:p>
            <a:pPr>
              <a:spcAft>
                <a:spcPts val="300"/>
              </a:spcAft>
              <a:defRPr sz="1100" b="1">
                <a:solidFill>
                  <a:srgbClr val="0B1B33"/>
                </a:solidFill>
                <a:latin typeface="Segoe UI"/>
              </a:defRPr>
            </a:pPr>
            <a:r>
              <a:t>Ravi Tejwani</a:t>
            </a:r>
          </a:p>
          <a:p>
            <a:pPr>
              <a:spcBef>
                <a:spcPts val="200"/>
              </a:spcBef>
              <a:defRPr sz="850">
                <a:solidFill>
                  <a:srgbClr val="404E62"/>
                </a:solidFill>
                <a:latin typeface="Segoe UI"/>
              </a:defRPr>
            </a:pPr>
            <a:r>
              <a:t>Industrial machinery expert — Manufacturing automation, precision production equipment, and high-speed packaging lines.</a:t>
            </a:r>
          </a:p>
        </p:txBody>
      </p:sp>
      <p:sp>
        <p:nvSpPr>
          <p:cNvPr id="25" name="Rounded Rectangle 24"/>
          <p:cNvSpPr/>
          <p:nvPr/>
        </p:nvSpPr>
        <p:spPr>
          <a:xfrm>
            <a:off x="4828032" y="3886200"/>
            <a:ext cx="25146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901184" y="3886200"/>
            <a:ext cx="2368296"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74336" y="3995928"/>
            <a:ext cx="2221992" cy="1856231"/>
          </a:xfrm>
          <a:prstGeom prst="rect">
            <a:avLst/>
          </a:prstGeom>
          <a:noFill/>
        </p:spPr>
        <p:txBody>
          <a:bodyPr wrap="square" lIns="0" tIns="0" rIns="0" bIns="0">
            <a:spAutoFit/>
          </a:bodyPr>
          <a:lstStyle/>
          <a:p>
            <a:pPr>
              <a:spcAft>
                <a:spcPts val="200"/>
              </a:spcAft>
              <a:defRPr sz="800" b="1">
                <a:solidFill>
                  <a:srgbClr val="0B1B33"/>
                </a:solidFill>
                <a:latin typeface="Consolas"/>
              </a:defRPr>
            </a:pPr>
            <a:r>
              <a:t>NARRATIVE &amp; STRATEGIC ENGAGEMENT</a:t>
            </a:r>
          </a:p>
          <a:p>
            <a:pPr>
              <a:spcAft>
                <a:spcPts val="300"/>
              </a:spcAft>
              <a:defRPr sz="1100" b="1">
                <a:solidFill>
                  <a:srgbClr val="0B1B33"/>
                </a:solidFill>
                <a:latin typeface="Segoe UI"/>
              </a:defRPr>
            </a:pPr>
            <a:r>
              <a:t>R. Madhavan</a:t>
            </a:r>
          </a:p>
          <a:p>
            <a:pPr>
              <a:spcBef>
                <a:spcPts val="200"/>
              </a:spcBef>
              <a:defRPr sz="850">
                <a:solidFill>
                  <a:srgbClr val="404E62"/>
                </a:solidFill>
                <a:latin typeface="Segoe UI"/>
              </a:defRPr>
            </a:pPr>
            <a:r>
              <a:t>Acclaimed film actor &amp; director — National communication, strategic storytelling, and high-impact institutional narrative.</a:t>
            </a:r>
          </a:p>
        </p:txBody>
      </p:sp>
      <p:sp>
        <p:nvSpPr>
          <p:cNvPr id="28" name="Rounded Rectangle 27"/>
          <p:cNvSpPr/>
          <p:nvPr/>
        </p:nvSpPr>
        <p:spPr>
          <a:xfrm>
            <a:off x="7562088" y="3886200"/>
            <a:ext cx="25146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35240" y="3886200"/>
            <a:ext cx="2368296"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08392" y="3995928"/>
            <a:ext cx="2221992" cy="1856231"/>
          </a:xfrm>
          <a:prstGeom prst="rect">
            <a:avLst/>
          </a:prstGeom>
          <a:noFill/>
        </p:spPr>
        <p:txBody>
          <a:bodyPr wrap="square" lIns="0" tIns="0" rIns="0" bIns="0">
            <a:spAutoFit/>
          </a:bodyPr>
          <a:lstStyle/>
          <a:p>
            <a:pPr>
              <a:spcAft>
                <a:spcPts val="200"/>
              </a:spcAft>
              <a:defRPr sz="800" b="1">
                <a:solidFill>
                  <a:srgbClr val="0B1B33"/>
                </a:solidFill>
                <a:latin typeface="Consolas"/>
              </a:defRPr>
            </a:pPr>
            <a:r>
              <a:t>STRATEGIC ENTERPRISE NETWORK</a:t>
            </a:r>
          </a:p>
          <a:p>
            <a:pPr>
              <a:spcAft>
                <a:spcPts val="300"/>
              </a:spcAft>
              <a:defRPr sz="1100" b="1">
                <a:solidFill>
                  <a:srgbClr val="0B1B33"/>
                </a:solidFill>
                <a:latin typeface="Segoe UI"/>
              </a:defRPr>
            </a:pPr>
            <a:r>
              <a:t>Marichi Mathur</a:t>
            </a:r>
          </a:p>
          <a:p>
            <a:pPr>
              <a:spcBef>
                <a:spcPts val="200"/>
              </a:spcBef>
              <a:defRPr sz="850">
                <a:solidFill>
                  <a:srgbClr val="404E62"/>
                </a:solidFill>
                <a:latin typeface="Segoe UI"/>
              </a:defRPr>
            </a:pPr>
            <a:r>
              <a:t>Senior Advisor — Strategic growth, enterprise leadership, and national defence institutional network expansion.</a:t>
            </a:r>
          </a:p>
        </p:txBody>
      </p:sp>
      <p:sp>
        <p:nvSpPr>
          <p:cNvPr id="31" name="Rounded Rectangle 30"/>
          <p:cNvSpPr/>
          <p:nvPr/>
        </p:nvSpPr>
        <p:spPr>
          <a:xfrm>
            <a:off x="731520" y="6035040"/>
            <a:ext cx="10728655" cy="411480"/>
          </a:xfrm>
          <a:prstGeom prst="roundRect">
            <a:avLst/>
          </a:prstGeom>
          <a:solidFill>
            <a:srgbClr val="FEFAF0"/>
          </a:solidFill>
          <a:ln w="1270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520" y="6089903"/>
            <a:ext cx="45720" cy="301752"/>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6126479"/>
            <a:ext cx="10454335" cy="228600"/>
          </a:xfrm>
          <a:prstGeom prst="rect">
            <a:avLst/>
          </a:prstGeom>
          <a:noFill/>
        </p:spPr>
        <p:txBody>
          <a:bodyPr wrap="square" lIns="0" tIns="0" rIns="0" bIns="0">
            <a:spAutoFit/>
          </a:bodyPr>
          <a:lstStyle/>
          <a:p>
            <a:r>
              <a:rPr b="1" sz="950">
                <a:solidFill>
                  <a:srgbClr val="B07D14"/>
                </a:solidFill>
                <a:latin typeface="Segoe UI"/>
              </a:rPr>
              <a:t>GOVERNANCE NOTE —  </a:t>
            </a:r>
            <a:r>
              <a:rPr sz="900">
                <a:solidFill>
                  <a:srgbClr val="0F172A"/>
                </a:solidFill>
                <a:latin typeface="Segoe UI"/>
              </a:rPr>
              <a:t>Advisory engagements are presented according to formal domain areas and institutional supporting documentation.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NATIONAL CREDIBILITY &amp; ELITE ENDORSEMENTS</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National Titans, AMUL &amp; Global Aviation Validation</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21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685800" y="1463039"/>
            <a:ext cx="5760720" cy="457200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eatbolt_national_traction.png"/>
          <p:cNvPicPr>
            <a:picLocks noChangeAspect="1"/>
          </p:cNvPicPr>
          <p:nvPr/>
        </p:nvPicPr>
        <p:blipFill>
          <a:blip r:embed="rId2"/>
          <a:stretch>
            <a:fillRect/>
          </a:stretch>
        </p:blipFill>
        <p:spPr>
          <a:xfrm>
            <a:off x="731520" y="1874519"/>
            <a:ext cx="5669280" cy="4023360"/>
          </a:xfrm>
          <a:prstGeom prst="rect">
            <a:avLst/>
          </a:prstGeom>
        </p:spPr>
      </p:pic>
      <p:sp>
        <p:nvSpPr>
          <p:cNvPr id="12" name="TextBox 11"/>
          <p:cNvSpPr txBox="1"/>
          <p:nvPr/>
        </p:nvSpPr>
        <p:spPr>
          <a:xfrm>
            <a:off x="731520" y="1508760"/>
            <a:ext cx="5669280" cy="320040"/>
          </a:xfrm>
          <a:prstGeom prst="rect">
            <a:avLst/>
          </a:prstGeom>
          <a:noFill/>
        </p:spPr>
        <p:txBody>
          <a:bodyPr wrap="none" lIns="0" tIns="0" rIns="0" bIns="0">
            <a:spAutoFit/>
          </a:bodyPr>
          <a:lstStyle/>
          <a:p>
            <a:pPr algn="ctr">
              <a:defRPr sz="850" b="1">
                <a:solidFill>
                  <a:srgbClr val="B07D14"/>
                </a:solidFill>
                <a:latin typeface="Consolas"/>
              </a:defRPr>
            </a:pPr>
            <a:r>
              <a:t>EVIDENCE FILE: SHRI RATAN TATA CONSULTATION  •  AMUL LETTER  •  EMIRATES CATERING</a:t>
            </a:r>
          </a:p>
        </p:txBody>
      </p:sp>
      <p:sp>
        <p:nvSpPr>
          <p:cNvPr id="13" name="Rounded Rectangle 12"/>
          <p:cNvSpPr/>
          <p:nvPr/>
        </p:nvSpPr>
        <p:spPr>
          <a:xfrm>
            <a:off x="6656832" y="1508760"/>
            <a:ext cx="4800600"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729984" y="1508760"/>
            <a:ext cx="4654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3136" y="1618488"/>
            <a:ext cx="4507992" cy="877824"/>
          </a:xfrm>
          <a:prstGeom prst="rect">
            <a:avLst/>
          </a:prstGeom>
          <a:noFill/>
        </p:spPr>
        <p:txBody>
          <a:bodyPr wrap="square" lIns="0" tIns="0" rIns="0" bIns="0">
            <a:spAutoFit/>
          </a:bodyPr>
          <a:lstStyle/>
          <a:p>
            <a:pPr>
              <a:spcAft>
                <a:spcPts val="200"/>
              </a:spcAft>
              <a:defRPr sz="800" b="1">
                <a:solidFill>
                  <a:srgbClr val="B07D14"/>
                </a:solidFill>
                <a:latin typeface="Consolas"/>
              </a:defRPr>
            </a:pPr>
            <a:r>
              <a:t>PATRIARCHAL ENDORSEMENT</a:t>
            </a:r>
          </a:p>
          <a:p>
            <a:pPr>
              <a:spcAft>
                <a:spcPts val="300"/>
              </a:spcAft>
              <a:defRPr sz="1100" b="1">
                <a:solidFill>
                  <a:srgbClr val="0B1B33"/>
                </a:solidFill>
                <a:latin typeface="Segoe UI"/>
              </a:defRPr>
            </a:pPr>
            <a:r>
              <a:t>Shri Ratan N. Tata Direct Consultation</a:t>
            </a:r>
          </a:p>
          <a:p>
            <a:pPr>
              <a:spcBef>
                <a:spcPts val="200"/>
              </a:spcBef>
              <a:defRPr sz="850">
                <a:solidFill>
                  <a:srgbClr val="404E62"/>
                </a:solidFill>
                <a:latin typeface="Segoe UI"/>
              </a:defRPr>
            </a:pPr>
            <a:r>
              <a:t>Personal strategic consultation with India's legendary industrial patriarch, reviewing Heatbolt's self-heating technology for sovereign defence resilience and national grassroots impact.</a:t>
            </a:r>
          </a:p>
        </p:txBody>
      </p:sp>
      <p:sp>
        <p:nvSpPr>
          <p:cNvPr id="16" name="Rounded Rectangle 15"/>
          <p:cNvSpPr/>
          <p:nvPr/>
        </p:nvSpPr>
        <p:spPr>
          <a:xfrm>
            <a:off x="6656832" y="2660904"/>
            <a:ext cx="4800600"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29984" y="2660904"/>
            <a:ext cx="4654296" cy="32004"/>
          </a:xfrm>
          <a:prstGeom prst="rect">
            <a:avLst/>
          </a:prstGeom>
          <a:solidFill>
            <a:srgbClr val="2D4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3136" y="2770632"/>
            <a:ext cx="4507992" cy="877824"/>
          </a:xfrm>
          <a:prstGeom prst="rect">
            <a:avLst/>
          </a:prstGeom>
          <a:noFill/>
        </p:spPr>
        <p:txBody>
          <a:bodyPr wrap="square" lIns="0" tIns="0" rIns="0" bIns="0">
            <a:spAutoFit/>
          </a:bodyPr>
          <a:lstStyle/>
          <a:p>
            <a:pPr>
              <a:spcAft>
                <a:spcPts val="200"/>
              </a:spcAft>
              <a:defRPr sz="800" b="1">
                <a:solidFill>
                  <a:srgbClr val="2D4A22"/>
                </a:solidFill>
                <a:latin typeface="Consolas"/>
              </a:defRPr>
            </a:pPr>
            <a:r>
              <a:t>NATIONAL COOPERATIVE GIANT</a:t>
            </a:r>
          </a:p>
          <a:p>
            <a:pPr>
              <a:spcAft>
                <a:spcPts val="300"/>
              </a:spcAft>
              <a:defRPr sz="1100" b="1">
                <a:solidFill>
                  <a:srgbClr val="0B1B33"/>
                </a:solidFill>
                <a:latin typeface="Segoe UI"/>
              </a:defRPr>
            </a:pPr>
            <a:r>
              <a:t>AMUL (GCMMF Ltd) Official Collaboration Request</a:t>
            </a:r>
          </a:p>
          <a:p>
            <a:pPr>
              <a:spcBef>
                <a:spcPts val="200"/>
              </a:spcBef>
              <a:defRPr sz="850">
                <a:solidFill>
                  <a:srgbClr val="404E62"/>
                </a:solidFill>
                <a:latin typeface="Segoe UI"/>
              </a:defRPr>
            </a:pPr>
            <a:r>
              <a:t>Official written communication from the Purchase Division: 'We know the potential of the concept, which can bring revolution in FMCG sector, we are interested for collaboration...' — India's largest food cooperative.</a:t>
            </a:r>
          </a:p>
        </p:txBody>
      </p:sp>
      <p:sp>
        <p:nvSpPr>
          <p:cNvPr id="19" name="Rounded Rectangle 18"/>
          <p:cNvSpPr/>
          <p:nvPr/>
        </p:nvSpPr>
        <p:spPr>
          <a:xfrm>
            <a:off x="6656832" y="3813048"/>
            <a:ext cx="4800600"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29984" y="3813048"/>
            <a:ext cx="4654296" cy="3200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3922776"/>
            <a:ext cx="4507992" cy="877824"/>
          </a:xfrm>
          <a:prstGeom prst="rect">
            <a:avLst/>
          </a:prstGeom>
          <a:noFill/>
        </p:spPr>
        <p:txBody>
          <a:bodyPr wrap="square" lIns="0" tIns="0" rIns="0" bIns="0">
            <a:spAutoFit/>
          </a:bodyPr>
          <a:lstStyle/>
          <a:p>
            <a:pPr>
              <a:spcAft>
                <a:spcPts val="200"/>
              </a:spcAft>
              <a:defRPr sz="800" b="1">
                <a:solidFill>
                  <a:srgbClr val="0B1B33"/>
                </a:solidFill>
                <a:latin typeface="Consolas"/>
              </a:defRPr>
            </a:pPr>
            <a:r>
              <a:t>GLOBAL AVIATION SUPPLY</a:t>
            </a:r>
          </a:p>
          <a:p>
            <a:pPr>
              <a:spcAft>
                <a:spcPts val="300"/>
              </a:spcAft>
              <a:defRPr sz="1100" b="1">
                <a:solidFill>
                  <a:srgbClr val="0B1B33"/>
                </a:solidFill>
                <a:latin typeface="Segoe UI"/>
              </a:defRPr>
            </a:pPr>
            <a:r>
              <a:t>Emirates Flight Catering Onboarding</a:t>
            </a:r>
          </a:p>
          <a:p>
            <a:pPr>
              <a:spcBef>
                <a:spcPts val="200"/>
              </a:spcBef>
              <a:defRPr sz="850">
                <a:solidFill>
                  <a:srgbClr val="404E62"/>
                </a:solidFill>
                <a:latin typeface="Segoe UI"/>
              </a:defRPr>
            </a:pPr>
            <a:r>
              <a:t>Formal international airline vendor qualification and commercial onboarding for in-flight self-heating meals and expeditionary food solutions.</a:t>
            </a:r>
          </a:p>
        </p:txBody>
      </p:sp>
      <p:sp>
        <p:nvSpPr>
          <p:cNvPr id="22" name="Rounded Rectangle 21"/>
          <p:cNvSpPr/>
          <p:nvPr/>
        </p:nvSpPr>
        <p:spPr>
          <a:xfrm>
            <a:off x="6656832" y="4965192"/>
            <a:ext cx="4800600"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9984" y="4965192"/>
            <a:ext cx="46542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03136" y="5074920"/>
            <a:ext cx="4507992" cy="877824"/>
          </a:xfrm>
          <a:prstGeom prst="rect">
            <a:avLst/>
          </a:prstGeom>
          <a:noFill/>
        </p:spPr>
        <p:txBody>
          <a:bodyPr wrap="square" lIns="0" tIns="0" rIns="0" bIns="0">
            <a:spAutoFit/>
          </a:bodyPr>
          <a:lstStyle/>
          <a:p>
            <a:pPr>
              <a:spcAft>
                <a:spcPts val="200"/>
              </a:spcAft>
              <a:defRPr sz="800" b="1">
                <a:solidFill>
                  <a:srgbClr val="B07D14"/>
                </a:solidFill>
                <a:latin typeface="Consolas"/>
              </a:defRPr>
            </a:pPr>
            <a:r>
              <a:t>SURGING MARKET PULL</a:t>
            </a:r>
          </a:p>
          <a:p>
            <a:pPr>
              <a:spcAft>
                <a:spcPts val="300"/>
              </a:spcAft>
              <a:defRPr sz="1100" b="1">
                <a:solidFill>
                  <a:srgbClr val="0B1B33"/>
                </a:solidFill>
                <a:latin typeface="Segoe UI"/>
              </a:defRPr>
            </a:pPr>
            <a:r>
              <a:t>Surging Cross-Sector National Inbound Demand</a:t>
            </a:r>
          </a:p>
          <a:p>
            <a:pPr>
              <a:spcBef>
                <a:spcPts val="200"/>
              </a:spcBef>
              <a:defRPr sz="850">
                <a:solidFill>
                  <a:srgbClr val="404E62"/>
                </a:solidFill>
                <a:latin typeface="Segoe UI"/>
              </a:defRPr>
            </a:pPr>
            <a:r>
              <a:t>Active high-level engagements with Bikaji Foods CFO, Tier-1 defence suppliers, and major packaging summits (Techceleration 2023 / Startup India) projecting 20B+ annual unit volume.</a:t>
            </a:r>
          </a:p>
        </p:txBody>
      </p:sp>
      <p:sp>
        <p:nvSpPr>
          <p:cNvPr id="25" name="Rounded Rectangle 24"/>
          <p:cNvSpPr/>
          <p:nvPr/>
        </p:nvSpPr>
        <p:spPr>
          <a:xfrm>
            <a:off x="731520" y="6053328"/>
            <a:ext cx="10728655" cy="411480"/>
          </a:xfrm>
          <a:prstGeom prst="roundRect">
            <a:avLst/>
          </a:prstGeom>
          <a:solidFill>
            <a:srgbClr val="FEFAF0"/>
          </a:solidFill>
          <a:ln w="1270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6108192"/>
            <a:ext cx="45720" cy="301752"/>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6144768"/>
            <a:ext cx="10454335" cy="228600"/>
          </a:xfrm>
          <a:prstGeom prst="rect">
            <a:avLst/>
          </a:prstGeom>
          <a:noFill/>
        </p:spPr>
        <p:txBody>
          <a:bodyPr wrap="square" lIns="0" tIns="0" rIns="0" bIns="0">
            <a:spAutoFit/>
          </a:bodyPr>
          <a:lstStyle/>
          <a:p>
            <a:r>
              <a:rPr b="1" sz="950">
                <a:solidFill>
                  <a:srgbClr val="B07D14"/>
                </a:solidFill>
                <a:latin typeface="Segoe UI"/>
              </a:rPr>
              <a:t>VERIFIED INDUSTRY ADOPTION —  </a:t>
            </a:r>
            <a:r>
              <a:rPr sz="900">
                <a:solidFill>
                  <a:srgbClr val="0F172A"/>
                </a:solidFill>
                <a:latin typeface="Segoe UI"/>
              </a:rPr>
              <a:t>Documented traction proves Heatbolt has crossed the credibility threshold: backed by India's foremost industrial leaders, national FMCG cooperatives, and international aviation supply chains.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ENDORSEMENTS &amp; MARKET PULL</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The Ecosystem Is Already Responding</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22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3429000" cy="3017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4672" y="1645920"/>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1755648"/>
            <a:ext cx="3136392" cy="2816351"/>
          </a:xfrm>
          <a:prstGeom prst="rect">
            <a:avLst/>
          </a:prstGeom>
          <a:noFill/>
        </p:spPr>
        <p:txBody>
          <a:bodyPr wrap="square" lIns="0" tIns="0" rIns="0" bIns="0">
            <a:spAutoFit/>
          </a:bodyPr>
          <a:lstStyle/>
          <a:p>
            <a:pPr>
              <a:spcAft>
                <a:spcPts val="200"/>
              </a:spcAft>
              <a:defRPr sz="800" b="1">
                <a:solidFill>
                  <a:srgbClr val="B07D14"/>
                </a:solidFill>
                <a:latin typeface="Consolas"/>
              </a:defRPr>
            </a:pPr>
            <a:r>
              <a:t>DEFENCE VALIDATION</a:t>
            </a:r>
          </a:p>
          <a:p>
            <a:pPr>
              <a:spcAft>
                <a:spcPts val="300"/>
              </a:spcAft>
              <a:defRPr sz="1300" b="1">
                <a:solidFill>
                  <a:srgbClr val="0B1B33"/>
                </a:solidFill>
                <a:latin typeface="Segoe UI"/>
              </a:defRPr>
            </a:pPr>
            <a:r>
              <a:t>Institutional Defence Pull</a:t>
            </a:r>
          </a:p>
          <a:p>
            <a:pPr>
              <a:spcBef>
                <a:spcPts val="200"/>
              </a:spcBef>
              <a:defRPr sz="1000">
                <a:solidFill>
                  <a:srgbClr val="404E62"/>
                </a:solidFill>
                <a:latin typeface="Segoe UI"/>
              </a:defRPr>
            </a:pPr>
            <a:r>
              <a:t>Active engagement across Indian Armed Forces command hubs, DRDO ecosystem partners, and emergency response teams for high-altitude cold trials.</a:t>
            </a:r>
          </a:p>
        </p:txBody>
      </p:sp>
      <p:sp>
        <p:nvSpPr>
          <p:cNvPr id="13" name="Rounded Rectangle 12"/>
          <p:cNvSpPr/>
          <p:nvPr/>
        </p:nvSpPr>
        <p:spPr>
          <a:xfrm>
            <a:off x="4379976" y="1645920"/>
            <a:ext cx="3429000" cy="3017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8" y="1645920"/>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755648"/>
            <a:ext cx="3136392" cy="2816351"/>
          </a:xfrm>
          <a:prstGeom prst="rect">
            <a:avLst/>
          </a:prstGeom>
          <a:noFill/>
        </p:spPr>
        <p:txBody>
          <a:bodyPr wrap="square" lIns="0" tIns="0" rIns="0" bIns="0">
            <a:spAutoFit/>
          </a:bodyPr>
          <a:lstStyle/>
          <a:p>
            <a:pPr>
              <a:spcAft>
                <a:spcPts val="200"/>
              </a:spcAft>
              <a:defRPr sz="800" b="1">
                <a:solidFill>
                  <a:srgbClr val="B07D14"/>
                </a:solidFill>
                <a:latin typeface="Consolas"/>
              </a:defRPr>
            </a:pPr>
            <a:r>
              <a:t>FMCG ENGAGEMENT</a:t>
            </a:r>
          </a:p>
          <a:p>
            <a:pPr>
              <a:spcAft>
                <a:spcPts val="300"/>
              </a:spcAft>
              <a:defRPr sz="1300" b="1">
                <a:solidFill>
                  <a:srgbClr val="0B1B33"/>
                </a:solidFill>
                <a:latin typeface="Segoe UI"/>
              </a:defRPr>
            </a:pPr>
            <a:r>
              <a:t>Global FMCG Traction</a:t>
            </a:r>
          </a:p>
          <a:p>
            <a:pPr>
              <a:spcBef>
                <a:spcPts val="200"/>
              </a:spcBef>
              <a:defRPr sz="1000">
                <a:solidFill>
                  <a:srgbClr val="404E62"/>
                </a:solidFill>
                <a:latin typeface="Segoe UI"/>
              </a:defRPr>
            </a:pPr>
            <a:r>
              <a:t>Direct commercial, self-heating ration, and meal packaging evaluations initiated with Nestlé, Barilla, Mondelēz, PepsiCo, Unilever, and McDonald's.</a:t>
            </a:r>
          </a:p>
        </p:txBody>
      </p:sp>
      <p:sp>
        <p:nvSpPr>
          <p:cNvPr id="16" name="Rounded Rectangle 15"/>
          <p:cNvSpPr/>
          <p:nvPr/>
        </p:nvSpPr>
        <p:spPr>
          <a:xfrm>
            <a:off x="8028432" y="1645920"/>
            <a:ext cx="3429000" cy="3017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1584" y="1645920"/>
            <a:ext cx="3282696"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755648"/>
            <a:ext cx="3136392" cy="2816351"/>
          </a:xfrm>
          <a:prstGeom prst="rect">
            <a:avLst/>
          </a:prstGeom>
          <a:noFill/>
        </p:spPr>
        <p:txBody>
          <a:bodyPr wrap="square" lIns="0" tIns="0" rIns="0" bIns="0">
            <a:spAutoFit/>
          </a:bodyPr>
          <a:lstStyle/>
          <a:p>
            <a:pPr>
              <a:spcAft>
                <a:spcPts val="200"/>
              </a:spcAft>
              <a:defRPr sz="800" b="1">
                <a:solidFill>
                  <a:srgbClr val="B07D14"/>
                </a:solidFill>
                <a:latin typeface="Consolas"/>
              </a:defRPr>
            </a:pPr>
            <a:r>
              <a:t>SCALE TRACTION</a:t>
            </a:r>
          </a:p>
          <a:p>
            <a:pPr>
              <a:spcAft>
                <a:spcPts val="300"/>
              </a:spcAft>
              <a:defRPr sz="1300" b="1">
                <a:solidFill>
                  <a:srgbClr val="0B1B33"/>
                </a:solidFill>
                <a:latin typeface="Segoe UI"/>
              </a:defRPr>
            </a:pPr>
            <a:r>
              <a:t>Commercial Momentum</a:t>
            </a:r>
          </a:p>
          <a:p>
            <a:pPr>
              <a:spcBef>
                <a:spcPts val="200"/>
              </a:spcBef>
              <a:defRPr sz="1000">
                <a:solidFill>
                  <a:srgbClr val="404E62"/>
                </a:solidFill>
                <a:latin typeface="Segoe UI"/>
              </a:defRPr>
            </a:pPr>
            <a:r>
              <a:t>Showcased via Startup India and Invest India platforms; over 60,000+ stakeholder touchpoints and 20B+ annual unit volume potential projected.</a:t>
            </a:r>
          </a:p>
        </p:txBody>
      </p:sp>
      <p:sp>
        <p:nvSpPr>
          <p:cNvPr id="19" name="Rounded Rectangle 18"/>
          <p:cNvSpPr/>
          <p:nvPr/>
        </p:nvSpPr>
        <p:spPr>
          <a:xfrm>
            <a:off x="731520" y="4937760"/>
            <a:ext cx="10728655" cy="1143000"/>
          </a:xfrm>
          <a:prstGeom prst="roundRect">
            <a:avLst/>
          </a:prstGeom>
          <a:solidFill>
            <a:srgbClr val="FEFAF0"/>
          </a:solidFill>
          <a:ln w="1270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992624"/>
            <a:ext cx="45720" cy="1033271"/>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5029200"/>
            <a:ext cx="10454335" cy="960120"/>
          </a:xfrm>
          <a:prstGeom prst="rect">
            <a:avLst/>
          </a:prstGeom>
          <a:noFill/>
        </p:spPr>
        <p:txBody>
          <a:bodyPr wrap="square" lIns="0" tIns="0" rIns="0" bIns="0">
            <a:spAutoFit/>
          </a:bodyPr>
          <a:lstStyle/>
          <a:p>
            <a:r>
              <a:rPr b="1" sz="950">
                <a:solidFill>
                  <a:srgbClr val="B07D14"/>
                </a:solidFill>
                <a:latin typeface="Segoe UI"/>
              </a:rPr>
              <a:t>PROVEN DEMAND INDICATORS —  </a:t>
            </a:r>
            <a:r>
              <a:rPr sz="900">
                <a:solidFill>
                  <a:srgbClr val="0F172A"/>
                </a:solidFill>
                <a:latin typeface="Segoe UI"/>
              </a:rPr>
              <a:t>Heatbolt is transitioning rapidly from breakthrough laboratory formulation to mission-critical defence field evaluation and high-volume industrial packaging. Tier-1 multinational food conglomerates and defence forces have validated the immense market gap for portable, flameless, water-activated thermal energy.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54864"/>
            <a:ext cx="2011680" cy="3200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7472"/>
            <a:ext cx="8686800" cy="256032"/>
          </a:xfrm>
          <a:prstGeom prst="rect">
            <a:avLst/>
          </a:prstGeom>
          <a:noFill/>
        </p:spPr>
        <p:txBody>
          <a:bodyPr wrap="none" lIns="0" tIns="0" rIns="0" bIns="0">
            <a:spAutoFit/>
          </a:bodyPr>
          <a:lstStyle/>
          <a:p>
            <a:pPr>
              <a:defRPr sz="950" b="1">
                <a:solidFill>
                  <a:srgbClr val="B07D14"/>
                </a:solidFill>
                <a:latin typeface="Consolas"/>
              </a:defRPr>
            </a:pPr>
            <a:r>
              <a:t>//  STRATEGIC ROADMAP</a:t>
            </a:r>
          </a:p>
        </p:txBody>
      </p:sp>
      <p:sp>
        <p:nvSpPr>
          <p:cNvPr id="6" name="TextBox 5"/>
          <p:cNvSpPr txBox="1"/>
          <p:nvPr/>
        </p:nvSpPr>
        <p:spPr>
          <a:xfrm>
            <a:off x="731520" y="603504"/>
            <a:ext cx="10058400" cy="594360"/>
          </a:xfrm>
          <a:prstGeom prst="rect">
            <a:avLst/>
          </a:prstGeom>
          <a:noFill/>
        </p:spPr>
        <p:txBody>
          <a:bodyPr wrap="square" lIns="0" tIns="0" rIns="0" bIns="0">
            <a:spAutoFit/>
          </a:bodyPr>
          <a:lstStyle/>
          <a:p>
            <a:pPr>
              <a:defRPr sz="2100" b="1">
                <a:solidFill>
                  <a:srgbClr val="0B1B33"/>
                </a:solidFill>
                <a:latin typeface="Segoe UI"/>
              </a:defRPr>
            </a:pPr>
            <a:r>
              <a:t>Path to Operational Deployment</a:t>
            </a:r>
          </a:p>
        </p:txBody>
      </p:sp>
      <p:sp>
        <p:nvSpPr>
          <p:cNvPr id="7" name="Rectangle 6"/>
          <p:cNvSpPr/>
          <p:nvPr/>
        </p:nvSpPr>
        <p:spPr>
          <a:xfrm>
            <a:off x="731520" y="1243584"/>
            <a:ext cx="16459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347472"/>
            <a:ext cx="3687775" cy="256032"/>
          </a:xfrm>
          <a:prstGeom prst="rect">
            <a:avLst/>
          </a:prstGeom>
          <a:noFill/>
        </p:spPr>
        <p:txBody>
          <a:bodyPr wrap="none" lIns="0" tIns="0" rIns="0" bIns="0">
            <a:spAutoFit/>
          </a:bodyPr>
          <a:lstStyle/>
          <a:p>
            <a:pPr algn="r">
              <a:defRPr sz="850" b="1">
                <a:solidFill>
                  <a:srgbClr val="8291A5"/>
                </a:solidFill>
                <a:latin typeface="Consolas"/>
              </a:defRPr>
            </a:pPr>
            <a:r>
              <a:t>DEFENCE STRATEGIC BRIEFING  |  23 / 24</a:t>
            </a:r>
          </a:p>
        </p:txBody>
      </p:sp>
      <p:sp>
        <p:nvSpPr>
          <p:cNvPr id="9" name="TextBox 8"/>
          <p:cNvSpPr txBox="1"/>
          <p:nvPr/>
        </p:nvSpPr>
        <p:spPr>
          <a:xfrm>
            <a:off x="731520" y="6510528"/>
            <a:ext cx="10728655" cy="228600"/>
          </a:xfrm>
          <a:prstGeom prst="rect">
            <a:avLst/>
          </a:prstGeom>
          <a:noFill/>
        </p:spPr>
        <p:txBody>
          <a:bodyPr wrap="none" lIns="0" tIns="0" rIns="0" bIns="0">
            <a:spAutoFit/>
          </a:bodyPr>
          <a:lstStyle/>
          <a:p>
            <a:pPr>
              <a:defRPr sz="750">
                <a:solidFill>
                  <a:srgbClr val="8291A5"/>
                </a:solidFill>
                <a:latin typeface="Consolas"/>
              </a:defRPr>
            </a:pPr>
            <a:r>
              <a:t>ATMANIRBHAR DEFENCE TECH  •  HEATBOLT SOVEREIGN THERMAL PLATFORM  •  RESTRICTED BRIEFING</a:t>
            </a:r>
          </a:p>
        </p:txBody>
      </p:sp>
      <p:sp>
        <p:nvSpPr>
          <p:cNvPr id="10" name="Rounded Rectangle 9"/>
          <p:cNvSpPr/>
          <p:nvPr/>
        </p:nvSpPr>
        <p:spPr>
          <a:xfrm>
            <a:off x="731520" y="1645920"/>
            <a:ext cx="2514600" cy="438912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28800"/>
            <a:ext cx="2185416" cy="3931920"/>
          </a:xfrm>
          <a:prstGeom prst="rect">
            <a:avLst/>
          </a:prstGeom>
          <a:noFill/>
        </p:spPr>
        <p:txBody>
          <a:bodyPr wrap="square" lIns="0" tIns="0" rIns="0" bIns="0">
            <a:spAutoFit/>
          </a:bodyPr>
          <a:lstStyle/>
          <a:p>
            <a:pPr>
              <a:spcAft>
                <a:spcPts val="400"/>
              </a:spcAft>
              <a:defRPr sz="1100" b="1">
                <a:solidFill>
                  <a:srgbClr val="B07D14"/>
                </a:solidFill>
                <a:latin typeface="Consolas"/>
              </a:defRPr>
            </a:pPr>
            <a:r>
              <a:t>PHASE 01</a:t>
            </a:r>
          </a:p>
          <a:p>
            <a:pPr>
              <a:spcAft>
                <a:spcPts val="1200"/>
              </a:spcAft>
              <a:defRPr sz="1500" b="1">
                <a:solidFill>
                  <a:srgbClr val="0B1B33"/>
                </a:solidFill>
                <a:latin typeface="Segoe UI"/>
              </a:defRPr>
            </a:pPr>
            <a:r>
              <a:t>Field Trials</a:t>
            </a:r>
          </a:p>
          <a:p>
            <a:pPr>
              <a:spcAft>
                <a:spcPts val="400"/>
              </a:spcAft>
              <a:defRPr sz="850" b="1">
                <a:solidFill>
                  <a:srgbClr val="B07D14"/>
                </a:solidFill>
                <a:latin typeface="Consolas"/>
              </a:defRPr>
            </a:pPr>
            <a:r>
              <a:t>OPERATIONAL TARGET:</a:t>
            </a:r>
          </a:p>
          <a:p>
            <a:pPr>
              <a:spcAft>
                <a:spcPts val="1200"/>
              </a:spcAft>
              <a:defRPr sz="1100" b="1">
                <a:solidFill>
                  <a:srgbClr val="0B1B33"/>
                </a:solidFill>
                <a:latin typeface="Segoe UI"/>
              </a:defRPr>
            </a:pPr>
            <a:r>
              <a:t>Sub-Zero Stress Testing</a:t>
            </a:r>
          </a:p>
          <a:p>
            <a:pPr>
              <a:spcAft>
                <a:spcPts val="400"/>
              </a:spcAft>
              <a:defRPr sz="850" b="1">
                <a:solidFill>
                  <a:srgbClr val="B07D14"/>
                </a:solidFill>
                <a:latin typeface="Consolas"/>
              </a:defRPr>
            </a:pPr>
            <a:r>
              <a:t>MILESTONES:</a:t>
            </a:r>
          </a:p>
          <a:p>
            <a:pPr>
              <a:defRPr sz="950">
                <a:solidFill>
                  <a:srgbClr val="404E62"/>
                </a:solidFill>
                <a:latin typeface="Segoe UI"/>
              </a:defRPr>
            </a:pPr>
            <a:r>
              <a:t>Rigorous sub-zero &amp; high-altitude environmental stress testing with designated frontline infantry units.</a:t>
            </a:r>
          </a:p>
        </p:txBody>
      </p:sp>
      <p:sp>
        <p:nvSpPr>
          <p:cNvPr id="13" name="Rounded Rectangle 12"/>
          <p:cNvSpPr/>
          <p:nvPr/>
        </p:nvSpPr>
        <p:spPr>
          <a:xfrm>
            <a:off x="3465576" y="1645920"/>
            <a:ext cx="2514600" cy="438912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57016"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0168" y="1828800"/>
            <a:ext cx="2185416" cy="3931920"/>
          </a:xfrm>
          <a:prstGeom prst="rect">
            <a:avLst/>
          </a:prstGeom>
          <a:noFill/>
        </p:spPr>
        <p:txBody>
          <a:bodyPr wrap="square" lIns="0" tIns="0" rIns="0" bIns="0">
            <a:spAutoFit/>
          </a:bodyPr>
          <a:lstStyle/>
          <a:p>
            <a:pPr>
              <a:spcAft>
                <a:spcPts val="400"/>
              </a:spcAft>
              <a:defRPr sz="1100" b="1">
                <a:solidFill>
                  <a:srgbClr val="B07D14"/>
                </a:solidFill>
                <a:latin typeface="Consolas"/>
              </a:defRPr>
            </a:pPr>
            <a:r>
              <a:t>PHASE 02</a:t>
            </a:r>
          </a:p>
          <a:p>
            <a:pPr>
              <a:spcAft>
                <a:spcPts val="1200"/>
              </a:spcAft>
              <a:defRPr sz="1500" b="1">
                <a:solidFill>
                  <a:srgbClr val="0B1B33"/>
                </a:solidFill>
                <a:latin typeface="Segoe UI"/>
              </a:defRPr>
            </a:pPr>
            <a:r>
              <a:t>Mil-Spec Certification</a:t>
            </a:r>
          </a:p>
          <a:p>
            <a:pPr>
              <a:spcAft>
                <a:spcPts val="400"/>
              </a:spcAft>
              <a:defRPr sz="850" b="1">
                <a:solidFill>
                  <a:srgbClr val="B07D14"/>
                </a:solidFill>
                <a:latin typeface="Consolas"/>
              </a:defRPr>
            </a:pPr>
            <a:r>
              <a:t>OPERATIONAL TARGET:</a:t>
            </a:r>
          </a:p>
          <a:p>
            <a:pPr>
              <a:spcAft>
                <a:spcPts val="1200"/>
              </a:spcAft>
              <a:defRPr sz="1100" b="1">
                <a:solidFill>
                  <a:srgbClr val="0B1B33"/>
                </a:solidFill>
                <a:latin typeface="Segoe UI"/>
              </a:defRPr>
            </a:pPr>
            <a:r>
              <a:t>Standards Qualification</a:t>
            </a:r>
          </a:p>
          <a:p>
            <a:pPr>
              <a:spcAft>
                <a:spcPts val="400"/>
              </a:spcAft>
              <a:defRPr sz="850" b="1">
                <a:solidFill>
                  <a:srgbClr val="B07D14"/>
                </a:solidFill>
                <a:latin typeface="Consolas"/>
              </a:defRPr>
            </a:pPr>
            <a:r>
              <a:t>MILESTONES:</a:t>
            </a:r>
          </a:p>
          <a:p>
            <a:pPr>
              <a:defRPr sz="950">
                <a:solidFill>
                  <a:srgbClr val="404E62"/>
                </a:solidFill>
                <a:latin typeface="Segoe UI"/>
              </a:defRPr>
            </a:pPr>
            <a:r>
              <a:t>Thermal output standardization, shelf-life validation (3+ yrs), and hazardous transport compliance.</a:t>
            </a:r>
          </a:p>
        </p:txBody>
      </p:sp>
      <p:sp>
        <p:nvSpPr>
          <p:cNvPr id="16" name="Rounded Rectangle 15"/>
          <p:cNvSpPr/>
          <p:nvPr/>
        </p:nvSpPr>
        <p:spPr>
          <a:xfrm>
            <a:off x="6199632" y="1645920"/>
            <a:ext cx="2514600" cy="438912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91072"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28800"/>
            <a:ext cx="2185416" cy="3931920"/>
          </a:xfrm>
          <a:prstGeom prst="rect">
            <a:avLst/>
          </a:prstGeom>
          <a:noFill/>
        </p:spPr>
        <p:txBody>
          <a:bodyPr wrap="square" lIns="0" tIns="0" rIns="0" bIns="0">
            <a:spAutoFit/>
          </a:bodyPr>
          <a:lstStyle/>
          <a:p>
            <a:pPr>
              <a:spcAft>
                <a:spcPts val="400"/>
              </a:spcAft>
              <a:defRPr sz="1100" b="1">
                <a:solidFill>
                  <a:srgbClr val="B07D14"/>
                </a:solidFill>
                <a:latin typeface="Consolas"/>
              </a:defRPr>
            </a:pPr>
            <a:r>
              <a:t>PHASE 03</a:t>
            </a:r>
          </a:p>
          <a:p>
            <a:pPr>
              <a:spcAft>
                <a:spcPts val="1200"/>
              </a:spcAft>
              <a:defRPr sz="1500" b="1">
                <a:solidFill>
                  <a:srgbClr val="0B1B33"/>
                </a:solidFill>
                <a:latin typeface="Segoe UI"/>
              </a:defRPr>
            </a:pPr>
            <a:r>
              <a:t>Volume Production</a:t>
            </a:r>
          </a:p>
          <a:p>
            <a:pPr>
              <a:spcAft>
                <a:spcPts val="400"/>
              </a:spcAft>
              <a:defRPr sz="850" b="1">
                <a:solidFill>
                  <a:srgbClr val="B07D14"/>
                </a:solidFill>
                <a:latin typeface="Consolas"/>
              </a:defRPr>
            </a:pPr>
            <a:r>
              <a:t>OPERATIONAL TARGET:</a:t>
            </a:r>
          </a:p>
          <a:p>
            <a:pPr>
              <a:spcAft>
                <a:spcPts val="1200"/>
              </a:spcAft>
              <a:defRPr sz="1100" b="1">
                <a:solidFill>
                  <a:srgbClr val="0B1B33"/>
                </a:solidFill>
                <a:latin typeface="Segoe UI"/>
              </a:defRPr>
            </a:pPr>
            <a:r>
              <a:t>Automated Packaging</a:t>
            </a:r>
          </a:p>
          <a:p>
            <a:pPr>
              <a:spcAft>
                <a:spcPts val="400"/>
              </a:spcAft>
              <a:defRPr sz="850" b="1">
                <a:solidFill>
                  <a:srgbClr val="B07D14"/>
                </a:solidFill>
                <a:latin typeface="Consolas"/>
              </a:defRPr>
            </a:pPr>
            <a:r>
              <a:t>MILESTONES:</a:t>
            </a:r>
          </a:p>
          <a:p>
            <a:pPr>
              <a:defRPr sz="950">
                <a:solidFill>
                  <a:srgbClr val="404E62"/>
                </a:solidFill>
                <a:latin typeface="Segoe UI"/>
              </a:defRPr>
            </a:pPr>
            <a:r>
              <a:t>Automated pouch filling and QC scaling with Tier-1 manufacturing partners for 10M+ units monthly.</a:t>
            </a:r>
          </a:p>
        </p:txBody>
      </p:sp>
      <p:sp>
        <p:nvSpPr>
          <p:cNvPr id="19" name="Rounded Rectangle 18"/>
          <p:cNvSpPr/>
          <p:nvPr/>
        </p:nvSpPr>
        <p:spPr>
          <a:xfrm>
            <a:off x="8933688" y="1645920"/>
            <a:ext cx="2514600" cy="4389120"/>
          </a:xfrm>
          <a:prstGeom prst="roundRect">
            <a:avLst/>
          </a:prstGeom>
          <a:solidFill>
            <a:srgbClr val="FFFFFF"/>
          </a:solidFill>
          <a:ln w="19050">
            <a:solidFill>
              <a:srgbClr val="D9A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25128" y="1645920"/>
            <a:ext cx="2331720" cy="36576"/>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1828800"/>
            <a:ext cx="2185416" cy="3931920"/>
          </a:xfrm>
          <a:prstGeom prst="rect">
            <a:avLst/>
          </a:prstGeom>
          <a:noFill/>
        </p:spPr>
        <p:txBody>
          <a:bodyPr wrap="square" lIns="0" tIns="0" rIns="0" bIns="0">
            <a:spAutoFit/>
          </a:bodyPr>
          <a:lstStyle/>
          <a:p>
            <a:pPr>
              <a:spcAft>
                <a:spcPts val="400"/>
              </a:spcAft>
              <a:defRPr sz="1100" b="1">
                <a:solidFill>
                  <a:srgbClr val="B07D14"/>
                </a:solidFill>
                <a:latin typeface="Consolas"/>
              </a:defRPr>
            </a:pPr>
            <a:r>
              <a:t>PHASE 04</a:t>
            </a:r>
          </a:p>
          <a:p>
            <a:pPr>
              <a:spcAft>
                <a:spcPts val="1200"/>
              </a:spcAft>
              <a:defRPr sz="1500" b="1">
                <a:solidFill>
                  <a:srgbClr val="0B1B33"/>
                </a:solidFill>
                <a:latin typeface="Segoe UI"/>
              </a:defRPr>
            </a:pPr>
            <a:r>
              <a:t>Force Integration</a:t>
            </a:r>
          </a:p>
          <a:p>
            <a:pPr>
              <a:spcAft>
                <a:spcPts val="400"/>
              </a:spcAft>
              <a:defRPr sz="850" b="1">
                <a:solidFill>
                  <a:srgbClr val="B07D14"/>
                </a:solidFill>
                <a:latin typeface="Consolas"/>
              </a:defRPr>
            </a:pPr>
            <a:r>
              <a:t>OPERATIONAL TARGET:</a:t>
            </a:r>
          </a:p>
          <a:p>
            <a:pPr>
              <a:spcAft>
                <a:spcPts val="1200"/>
              </a:spcAft>
              <a:defRPr sz="1100" b="1">
                <a:solidFill>
                  <a:srgbClr val="0B1B33"/>
                </a:solidFill>
                <a:latin typeface="Segoe UI"/>
              </a:defRPr>
            </a:pPr>
            <a:r>
              <a:t>Standard Issue Deployment</a:t>
            </a:r>
          </a:p>
          <a:p>
            <a:pPr>
              <a:spcAft>
                <a:spcPts val="400"/>
              </a:spcAft>
              <a:defRPr sz="850" b="1">
                <a:solidFill>
                  <a:srgbClr val="B07D14"/>
                </a:solidFill>
                <a:latin typeface="Consolas"/>
              </a:defRPr>
            </a:pPr>
            <a:r>
              <a:t>MILESTONES:</a:t>
            </a:r>
          </a:p>
          <a:p>
            <a:pPr>
              <a:defRPr sz="950">
                <a:solidFill>
                  <a:srgbClr val="404E62"/>
                </a:solidFill>
                <a:latin typeface="Segoe UI"/>
              </a:defRPr>
            </a:pPr>
            <a:r>
              <a:t>Standard issue inclusion into ration kits, extreme climate survival packs, and mobile field clinics.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539496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731520"/>
            <a:ext cx="365760" cy="54864"/>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731520"/>
            <a:ext cx="54864" cy="365760"/>
          </a:xfrm>
          <a:prstGeom prst="rect">
            <a:avLst/>
          </a:prstGeom>
          <a:solidFill>
            <a:srgbClr val="B07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1097280"/>
            <a:ext cx="4754880" cy="347472"/>
          </a:xfrm>
          <a:prstGeom prst="rect">
            <a:avLst/>
          </a:prstGeom>
          <a:solidFill>
            <a:srgbClr val="FEFAF0"/>
          </a:solidFill>
          <a:ln w="12700">
            <a:solidFill>
              <a:srgbClr val="B07D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152144"/>
            <a:ext cx="4754880" cy="274320"/>
          </a:xfrm>
          <a:prstGeom prst="rect">
            <a:avLst/>
          </a:prstGeom>
          <a:noFill/>
        </p:spPr>
        <p:txBody>
          <a:bodyPr wrap="none" lIns="0" tIns="0" rIns="0" bIns="0">
            <a:spAutoFit/>
          </a:bodyPr>
          <a:lstStyle/>
          <a:p>
            <a:pPr algn="ctr">
              <a:defRPr sz="950" b="1">
                <a:solidFill>
                  <a:srgbClr val="B07D14"/>
                </a:solidFill>
                <a:latin typeface="Consolas"/>
              </a:defRPr>
            </a:pPr>
            <a:r>
              <a:t>JOIN THE MISSION  //  SOVEREIGN DEFENCE ENGAGEMENT</a:t>
            </a:r>
          </a:p>
        </p:txBody>
      </p:sp>
      <p:sp>
        <p:nvSpPr>
          <p:cNvPr id="8" name="TextBox 7"/>
          <p:cNvSpPr txBox="1"/>
          <p:nvPr/>
        </p:nvSpPr>
        <p:spPr>
          <a:xfrm>
            <a:off x="1188720" y="1691640"/>
            <a:ext cx="9601200" cy="1097280"/>
          </a:xfrm>
          <a:prstGeom prst="rect">
            <a:avLst/>
          </a:prstGeom>
          <a:noFill/>
        </p:spPr>
        <p:txBody>
          <a:bodyPr wrap="none" lIns="0" tIns="0" rIns="0" bIns="0">
            <a:spAutoFit/>
          </a:bodyPr>
          <a:lstStyle/>
          <a:p>
            <a:pPr>
              <a:defRPr sz="5600" b="1">
                <a:solidFill>
                  <a:srgbClr val="0B1B33"/>
                </a:solidFill>
                <a:latin typeface="Segoe UI"/>
              </a:defRPr>
            </a:pPr>
            <a:r>
              <a:t>HEATBOLT</a:t>
            </a:r>
          </a:p>
        </p:txBody>
      </p:sp>
      <p:sp>
        <p:nvSpPr>
          <p:cNvPr id="9" name="TextBox 8"/>
          <p:cNvSpPr txBox="1"/>
          <p:nvPr/>
        </p:nvSpPr>
        <p:spPr>
          <a:xfrm>
            <a:off x="1188720" y="2788920"/>
            <a:ext cx="9601200" cy="457200"/>
          </a:xfrm>
          <a:prstGeom prst="rect">
            <a:avLst/>
          </a:prstGeom>
          <a:noFill/>
        </p:spPr>
        <p:txBody>
          <a:bodyPr wrap="none" lIns="0" tIns="0" rIns="0" bIns="0">
            <a:spAutoFit/>
          </a:bodyPr>
          <a:lstStyle/>
          <a:p>
            <a:pPr>
              <a:defRPr sz="1700" b="1">
                <a:solidFill>
                  <a:srgbClr val="B07D14"/>
                </a:solidFill>
                <a:latin typeface="Segoe UI"/>
              </a:defRPr>
            </a:pPr>
            <a:r>
              <a:t>Partnering to Equip the Frontline Soldier with Sovereign Thermal Independence</a:t>
            </a:r>
          </a:p>
        </p:txBody>
      </p:sp>
      <p:sp>
        <p:nvSpPr>
          <p:cNvPr id="10" name="Rectangle 9"/>
          <p:cNvSpPr/>
          <p:nvPr/>
        </p:nvSpPr>
        <p:spPr>
          <a:xfrm>
            <a:off x="1188720" y="3337560"/>
            <a:ext cx="2743200" cy="36576"/>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520440"/>
            <a:ext cx="9601200" cy="1097280"/>
          </a:xfrm>
          <a:prstGeom prst="rect">
            <a:avLst/>
          </a:prstGeom>
          <a:noFill/>
        </p:spPr>
        <p:txBody>
          <a:bodyPr wrap="square" lIns="0" tIns="0" rIns="0" bIns="0">
            <a:spAutoFit/>
          </a:bodyPr>
          <a:lstStyle/>
          <a:p>
            <a:pPr>
              <a:defRPr sz="1900" b="1">
                <a:solidFill>
                  <a:srgbClr val="0B1B33"/>
                </a:solidFill>
                <a:latin typeface="Segoe UI"/>
              </a:defRPr>
            </a:pPr>
            <a:r>
              <a:t>“The future of frontline combat endurance and extreme survival is not just portable food and water — it is sovereign portable heat.”</a:t>
            </a:r>
          </a:p>
        </p:txBody>
      </p:sp>
      <p:sp>
        <p:nvSpPr>
          <p:cNvPr id="12" name="TextBox 11"/>
          <p:cNvSpPr txBox="1"/>
          <p:nvPr/>
        </p:nvSpPr>
        <p:spPr>
          <a:xfrm>
            <a:off x="1188720" y="4846320"/>
            <a:ext cx="5486400" cy="1005840"/>
          </a:xfrm>
          <a:prstGeom prst="rect">
            <a:avLst/>
          </a:prstGeom>
          <a:noFill/>
        </p:spPr>
        <p:txBody>
          <a:bodyPr wrap="none" lIns="0" tIns="0" rIns="0" bIns="0">
            <a:spAutoFit/>
          </a:bodyPr>
          <a:lstStyle/>
          <a:p>
            <a:pPr>
              <a:spcAft>
                <a:spcPts val="200"/>
              </a:spcAft>
              <a:defRPr sz="1100" b="1">
                <a:solidFill>
                  <a:srgbClr val="0B1B33"/>
                </a:solidFill>
                <a:latin typeface="Segoe UI"/>
              </a:defRPr>
            </a:pPr>
            <a:r>
              <a:t>DR. KUMARPAL PORWAL — FOUNDER &amp; MD</a:t>
            </a:r>
          </a:p>
          <a:p>
            <a:pPr>
              <a:defRPr sz="950">
                <a:solidFill>
                  <a:srgbClr val="404E62"/>
                </a:solidFill>
                <a:latin typeface="Consolas"/>
              </a:defRPr>
            </a:pPr>
            <a:r>
              <a:t>+91 73533 19757  |  +91 88672 94189</a:t>
            </a:r>
            <a:br/>
            <a:r>
              <a:t>founder.heatbolt@gmail.com  |  Bangalore, India</a:t>
            </a:r>
          </a:p>
        </p:txBody>
      </p:sp>
      <p:sp>
        <p:nvSpPr>
          <p:cNvPr id="13" name="TextBox 12"/>
          <p:cNvSpPr txBox="1"/>
          <p:nvPr/>
        </p:nvSpPr>
        <p:spPr>
          <a:xfrm>
            <a:off x="6583680" y="4846320"/>
            <a:ext cx="4389120" cy="1005840"/>
          </a:xfrm>
          <a:prstGeom prst="rect">
            <a:avLst/>
          </a:prstGeom>
          <a:noFill/>
        </p:spPr>
        <p:txBody>
          <a:bodyPr wrap="none" lIns="0" tIns="0" rIns="0" bIns="0">
            <a:spAutoFit/>
          </a:bodyPr>
          <a:lstStyle/>
          <a:p>
            <a:pPr algn="r">
              <a:spcAft>
                <a:spcPts val="400"/>
              </a:spcAft>
              <a:defRPr sz="950" b="1">
                <a:solidFill>
                  <a:srgbClr val="B07D14"/>
                </a:solidFill>
                <a:latin typeface="Consolas"/>
              </a:defRPr>
            </a:pPr>
            <a:r>
              <a:t>DEFENCE &amp; STRATEGIC ENGAGEMENT</a:t>
            </a:r>
          </a:p>
          <a:p>
            <a:pPr algn="r">
              <a:defRPr sz="900">
                <a:solidFill>
                  <a:srgbClr val="182B49"/>
                </a:solidFill>
                <a:latin typeface="Consolas"/>
              </a:defRPr>
            </a:pPr>
            <a:r>
              <a:t>MIL-SPEC TRIALS (NORTHERN COMMAND / DRDO / iDEX)</a:t>
            </a:r>
            <a:br/>
            <a:r>
              <a:t>TECHNOLOGY LICENSING &amp; IP DEFENCE INTEGRATION</a:t>
            </a:r>
            <a:br/>
            <a:r>
              <a:t>NATIONAL STRATEGIC INDUSTRIAL ALLIANCES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