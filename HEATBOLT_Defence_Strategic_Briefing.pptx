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731520"/>
            <a:ext cx="10728655" cy="5394960"/>
          </a:xfrm>
          <a:prstGeom prst="rect">
            <a:avLst/>
          </a:prstGeom>
          <a:noFill/>
          <a:ln w="12700">
            <a:solidFill>
              <a:srgbClr val="2633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88720" y="1188720"/>
            <a:ext cx="4114800" cy="347472"/>
          </a:xfrm>
          <a:prstGeom prst="rect">
            <a:avLst/>
          </a:prstGeom>
          <a:solidFill>
            <a:srgbClr val="1A160E"/>
          </a:solidFill>
          <a:ln w="12700">
            <a:solidFill>
              <a:srgbClr val="E6B9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243584"/>
            <a:ext cx="41148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900" b="1">
                <a:solidFill>
                  <a:srgbClr val="E6B944"/>
                </a:solidFill>
                <a:latin typeface="Consolas"/>
              </a:defRPr>
            </a:pPr>
            <a:r>
              <a:t>DEFENCE STRATEGIC BRIEFING  //  CLASSIFIED CAPABILITY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1828800"/>
            <a:ext cx="9601200" cy="12801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6800" b="1">
                <a:solidFill>
                  <a:srgbClr val="E6B944"/>
                </a:solidFill>
                <a:latin typeface="Segoe UI"/>
              </a:defRPr>
            </a:pPr>
            <a:r>
              <a:t>HEATBOLT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3154680"/>
            <a:ext cx="9601200" cy="5486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800" b="1">
                <a:solidFill>
                  <a:srgbClr val="F8FAFC"/>
                </a:solidFill>
                <a:latin typeface="Segoe UI"/>
              </a:defRPr>
            </a:pPr>
            <a:r>
              <a:t>PORTABLE THERMAL INFRASTRUCTURE FOR EXTREME ENVIRONMENTS</a:t>
            </a:r>
          </a:p>
        </p:txBody>
      </p:sp>
      <p:sp>
        <p:nvSpPr>
          <p:cNvPr id="8" name="Rectangle 7"/>
          <p:cNvSpPr/>
          <p:nvPr/>
        </p:nvSpPr>
        <p:spPr>
          <a:xfrm>
            <a:off x="1188720" y="3794760"/>
            <a:ext cx="2743200" cy="36576"/>
          </a:xfrm>
          <a:prstGeom prst="rect">
            <a:avLst/>
          </a:prstGeom>
          <a:solidFill>
            <a:srgbClr val="E6B9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3977639"/>
            <a:ext cx="960120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9CA9BD"/>
                </a:solidFill>
                <a:latin typeface="Segoe UI"/>
              </a:defRPr>
            </a:pPr>
            <a:r>
              <a:t>A portable thermal platform engineered to deliver heat and steam on demand without mains electricity, LPG, or open flame — built for the environments where infrastructure cannot follow.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5303520"/>
            <a:ext cx="5486400" cy="5486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onsolas"/>
              </a:defRPr>
            </a:pPr>
            <a:r>
              <a:t>DR. KUMARPAL PORWAL — FOUNDER &amp; MD</a:t>
            </a:r>
            <a:br/>
            <a:r>
              <a:t>Bangalore, India  •  Strategic Defence Assessment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5303520"/>
            <a:ext cx="4389120" cy="5486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>
                <a:solidFill>
                  <a:srgbClr val="B48C28"/>
                </a:solidFill>
                <a:latin typeface="Consolas"/>
              </a:defRPr>
            </a:pPr>
            <a:r>
              <a:t>OPERATIONAL READINESS BRIEFING</a:t>
            </a:r>
            <a:br/>
            <a:r>
              <a:t>High-Altitude &amp; Winter Warfare Support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6B9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914400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 b="1">
                <a:solidFill>
                  <a:srgbClr val="E6B944"/>
                </a:solidFill>
                <a:latin typeface="Consolas"/>
              </a:defRPr>
            </a:pPr>
            <a:r>
              <a:t>//  THE ONE-LINE PROPOSITION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"/>
            <a:ext cx="100584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  <a:latin typeface="Segoe UI"/>
              </a:defRPr>
            </a:pPr>
            <a:r>
              <a:t>Thermal Infrastructure at the Point of Need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61872"/>
            <a:ext cx="1645920" cy="36576"/>
          </a:xfrm>
          <a:prstGeom prst="rect">
            <a:avLst/>
          </a:prstGeom>
          <a:solidFill>
            <a:srgbClr val="E6B9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0" y="365760"/>
            <a:ext cx="3047695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850">
                <a:solidFill>
                  <a:srgbClr val="64748B"/>
                </a:solidFill>
                <a:latin typeface="Consolas"/>
              </a:defRPr>
            </a:pPr>
            <a:r>
              <a:t>DEFENCE STRATEGIC BRIEFING  |  02 / 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510528"/>
            <a:ext cx="10728655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750">
                <a:solidFill>
                  <a:srgbClr val="64748B"/>
                </a:solidFill>
                <a:latin typeface="Consolas"/>
              </a:defRPr>
            </a:pPr>
            <a:r>
              <a:t>HEATBOLT THERMAL PLATFORM  •  RESTRICTED OPERATIONAL ASSESSMENT  •  CONFIDENTIAL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508760"/>
            <a:ext cx="10728655" cy="1280160"/>
          </a:xfrm>
          <a:prstGeom prst="roundRect">
            <a:avLst/>
          </a:prstGeom>
          <a:solidFill>
            <a:srgbClr val="111929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1645920"/>
            <a:ext cx="1014984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950" b="1">
                <a:solidFill>
                  <a:srgbClr val="E6B944"/>
                </a:solidFill>
                <a:latin typeface="Consolas"/>
              </a:defRPr>
            </a:pPr>
            <a:r>
              <a:t>// STRATEGIC OBJECTIVE</a:t>
            </a:r>
          </a:p>
          <a:p>
            <a:pPr>
              <a:defRPr sz="1900" b="1">
                <a:solidFill>
                  <a:srgbClr val="F8FAFC"/>
                </a:solidFill>
                <a:latin typeface="Segoe UI"/>
              </a:defRPr>
            </a:pPr>
            <a:r>
              <a:t>Move thermal infrastructure from the base to the soldier.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971800"/>
            <a:ext cx="1072865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9CA9BD"/>
                </a:solidFill>
                <a:latin typeface="Segoe UI"/>
              </a:defRPr>
            </a:pPr>
            <a:r>
              <a:t>Heatbolt is developing a portable, water-activated thermal platform providing heat and steam without dependence on fixed infrastructure — designed for soldier warmth, hot food and beverages, high-altitude operations, emergency medical support, field shelters, and beyond.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251960"/>
            <a:ext cx="1344168" cy="256032"/>
          </a:xfrm>
          <a:prstGeom prst="roundRect">
            <a:avLst/>
          </a:prstGeom>
          <a:solidFill>
            <a:srgbClr val="1A2436"/>
          </a:solidFill>
          <a:ln w="9525">
            <a:solidFill>
              <a:srgbClr val="2633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288536"/>
            <a:ext cx="1344168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800">
                <a:solidFill>
                  <a:srgbClr val="E6B944"/>
                </a:solidFill>
                <a:latin typeface="Consolas"/>
              </a:defRPr>
            </a:pPr>
            <a:r>
              <a:t>Soldier Warmth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185416" y="4251960"/>
            <a:ext cx="1810512" cy="256032"/>
          </a:xfrm>
          <a:prstGeom prst="roundRect">
            <a:avLst/>
          </a:prstGeom>
          <a:solidFill>
            <a:srgbClr val="1A2436"/>
          </a:solidFill>
          <a:ln w="9525">
            <a:solidFill>
              <a:srgbClr val="2633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185416" y="4288536"/>
            <a:ext cx="1810512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800">
                <a:solidFill>
                  <a:srgbClr val="E6B944"/>
                </a:solidFill>
                <a:latin typeface="Consolas"/>
              </a:defRPr>
            </a:pPr>
            <a:r>
              <a:t>Hot Food &amp; Beverages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05656" y="4251960"/>
            <a:ext cx="1577340" cy="256032"/>
          </a:xfrm>
          <a:prstGeom prst="roundRect">
            <a:avLst/>
          </a:prstGeom>
          <a:solidFill>
            <a:srgbClr val="1A2436"/>
          </a:solidFill>
          <a:ln w="9525">
            <a:solidFill>
              <a:srgbClr val="2633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05656" y="4288536"/>
            <a:ext cx="157734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800">
                <a:solidFill>
                  <a:srgbClr val="E6B944"/>
                </a:solidFill>
                <a:latin typeface="Consolas"/>
              </a:defRPr>
            </a:pPr>
            <a:r>
              <a:t>High-Altitude Ops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792724" y="4251960"/>
            <a:ext cx="1888236" cy="256032"/>
          </a:xfrm>
          <a:prstGeom prst="roundRect">
            <a:avLst/>
          </a:prstGeom>
          <a:solidFill>
            <a:srgbClr val="1A2436"/>
          </a:solidFill>
          <a:ln w="9525">
            <a:solidFill>
              <a:srgbClr val="2633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92724" y="4288536"/>
            <a:ext cx="1888236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800">
                <a:solidFill>
                  <a:srgbClr val="E6B944"/>
                </a:solidFill>
                <a:latin typeface="Consolas"/>
              </a:defRPr>
            </a:pPr>
            <a:r>
              <a:t>Snow &amp; Ice Management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90688" y="4251960"/>
            <a:ext cx="1577340" cy="256032"/>
          </a:xfrm>
          <a:prstGeom prst="roundRect">
            <a:avLst/>
          </a:prstGeom>
          <a:solidFill>
            <a:srgbClr val="1A2436"/>
          </a:solidFill>
          <a:ln w="9525">
            <a:solidFill>
              <a:srgbClr val="2633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90688" y="4288536"/>
            <a:ext cx="157734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800">
                <a:solidFill>
                  <a:srgbClr val="E6B944"/>
                </a:solidFill>
                <a:latin typeface="Consolas"/>
              </a:defRPr>
            </a:pPr>
            <a:r>
              <a:t>Emergency Medical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477756" y="4251960"/>
            <a:ext cx="1344168" cy="256032"/>
          </a:xfrm>
          <a:prstGeom prst="roundRect">
            <a:avLst/>
          </a:prstGeom>
          <a:solidFill>
            <a:srgbClr val="1A2436"/>
          </a:solidFill>
          <a:ln w="9525">
            <a:solidFill>
              <a:srgbClr val="2633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477756" y="4288536"/>
            <a:ext cx="1344168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800">
                <a:solidFill>
                  <a:srgbClr val="E6B944"/>
                </a:solidFill>
                <a:latin typeface="Consolas"/>
              </a:defRPr>
            </a:pPr>
            <a:r>
              <a:t>Field Shelters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4581144"/>
            <a:ext cx="1810512" cy="256032"/>
          </a:xfrm>
          <a:prstGeom prst="roundRect">
            <a:avLst/>
          </a:prstGeom>
          <a:solidFill>
            <a:srgbClr val="1A2436"/>
          </a:solidFill>
          <a:ln w="9525">
            <a:solidFill>
              <a:srgbClr val="2633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4617720"/>
            <a:ext cx="1810512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800">
                <a:solidFill>
                  <a:srgbClr val="E6B944"/>
                </a:solidFill>
                <a:latin typeface="Consolas"/>
              </a:defRPr>
            </a:pPr>
            <a:r>
              <a:t>Hygiene &amp; Sanitation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651760" y="4581144"/>
            <a:ext cx="1888236" cy="256032"/>
          </a:xfrm>
          <a:prstGeom prst="roundRect">
            <a:avLst/>
          </a:prstGeom>
          <a:solidFill>
            <a:srgbClr val="1A2436"/>
          </a:solidFill>
          <a:ln w="9525">
            <a:solidFill>
              <a:srgbClr val="2633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651760" y="4617720"/>
            <a:ext cx="1888236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800">
                <a:solidFill>
                  <a:srgbClr val="E6B944"/>
                </a:solidFill>
                <a:latin typeface="Consolas"/>
              </a:defRPr>
            </a:pPr>
            <a:r>
              <a:t>Equipment Maintenance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649724" y="4581144"/>
            <a:ext cx="2043684" cy="256032"/>
          </a:xfrm>
          <a:prstGeom prst="roundRect">
            <a:avLst/>
          </a:prstGeom>
          <a:solidFill>
            <a:srgbClr val="1A2436"/>
          </a:solidFill>
          <a:ln w="9525">
            <a:solidFill>
              <a:srgbClr val="2633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49724" y="4617720"/>
            <a:ext cx="2043684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800">
                <a:solidFill>
                  <a:srgbClr val="E6B944"/>
                </a:solidFill>
                <a:latin typeface="Consolas"/>
              </a:defRPr>
            </a:pPr>
            <a:r>
              <a:t>Aviation / UAV Concepts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803136" y="4581144"/>
            <a:ext cx="1421892" cy="256032"/>
          </a:xfrm>
          <a:prstGeom prst="roundRect">
            <a:avLst/>
          </a:prstGeom>
          <a:solidFill>
            <a:srgbClr val="1A2436"/>
          </a:solidFill>
          <a:ln w="9525">
            <a:solidFill>
              <a:srgbClr val="2633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03136" y="4617720"/>
            <a:ext cx="1421892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800">
                <a:solidFill>
                  <a:srgbClr val="E6B944"/>
                </a:solidFill>
                <a:latin typeface="Consolas"/>
              </a:defRPr>
            </a:pPr>
            <a:r>
              <a:t>Search &amp; Rescue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31520" y="5257800"/>
            <a:ext cx="10728655" cy="868680"/>
          </a:xfrm>
          <a:prstGeom prst="roundRect">
            <a:avLst/>
          </a:prstGeom>
          <a:solidFill>
            <a:srgbClr val="16130E"/>
          </a:solidFill>
          <a:ln w="12700">
            <a:solidFill>
              <a:srgbClr val="644B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31520" y="5312664"/>
            <a:ext cx="45720" cy="758952"/>
          </a:xfrm>
          <a:prstGeom prst="rect">
            <a:avLst/>
          </a:prstGeom>
          <a:solidFill>
            <a:srgbClr val="E6B9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96112" y="5349240"/>
            <a:ext cx="10454335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950">
                <a:solidFill>
                  <a:srgbClr val="E6B944"/>
                </a:solidFill>
                <a:latin typeface="Segoe UI"/>
              </a:rPr>
              <a:t>OPERATIONAL DOCTRINE —  </a:t>
            </a:r>
            <a:r>
              <a:rPr sz="900">
                <a:solidFill>
                  <a:srgbClr val="9CA9BD"/>
                </a:solidFill>
                <a:latin typeface="Segoe UI"/>
              </a:rPr>
              <a:t>Every soldier should have access to dependable thermal capability — wherever the mission goes. Thermal sovereignty directly determines frontline endurance, physical combat effectiveness, and casualty survival rates in sub-zero theatres.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6B9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914400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 b="1">
                <a:solidFill>
                  <a:srgbClr val="E6B944"/>
                </a:solidFill>
                <a:latin typeface="Consolas"/>
              </a:defRPr>
            </a:pPr>
            <a:r>
              <a:t>//  SECTION 01 // OPERATIONAL CONTEXT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"/>
            <a:ext cx="100584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  <a:latin typeface="Segoe UI"/>
              </a:defRPr>
            </a:pPr>
            <a:r>
              <a:t>Extreme Environments Create a Thermal Infrastructure Gap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61872"/>
            <a:ext cx="1645920" cy="36576"/>
          </a:xfrm>
          <a:prstGeom prst="rect">
            <a:avLst/>
          </a:prstGeom>
          <a:solidFill>
            <a:srgbClr val="E6B9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0" y="365760"/>
            <a:ext cx="3047695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850">
                <a:solidFill>
                  <a:srgbClr val="64748B"/>
                </a:solidFill>
                <a:latin typeface="Consolas"/>
              </a:defRPr>
            </a:pPr>
            <a:r>
              <a:t>DEFENCE STRATEGIC BRIEFING  |  03 / 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510528"/>
            <a:ext cx="10728655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750">
                <a:solidFill>
                  <a:srgbClr val="64748B"/>
                </a:solidFill>
                <a:latin typeface="Consolas"/>
              </a:defRPr>
            </a:pPr>
            <a:r>
              <a:t>HEATBOLT THERMAL PLATFORM  •  RESTRICTED OPERATIONAL ASSESSMENT  •  CONFIDENTIAL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645920"/>
            <a:ext cx="10728655" cy="4389120"/>
          </a:xfrm>
          <a:prstGeom prst="roundRect">
            <a:avLst/>
          </a:prstGeom>
          <a:solidFill>
            <a:srgbClr val="111929"/>
          </a:solidFill>
          <a:ln w="12700">
            <a:solidFill>
              <a:srgbClr val="2633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2103120"/>
            <a:ext cx="9784080" cy="3474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E6B944"/>
                </a:solidFill>
                <a:latin typeface="Consolas"/>
              </a:defRPr>
            </a:pPr>
            <a:r>
              <a:t>THE INFRASTRUCTURE DISCONNECT</a:t>
            </a:r>
          </a:p>
          <a:p>
            <a:pPr>
              <a:spcAft>
                <a:spcPts val="1600"/>
              </a:spcAft>
              <a:defRPr sz="2200" b="1">
                <a:solidFill>
                  <a:srgbClr val="F8FAFC"/>
                </a:solidFill>
                <a:latin typeface="Segoe UI"/>
              </a:defRPr>
            </a:pPr>
            <a:r>
              <a:t>A soldier in high-altitude, remote, glacial, winter or infrastructure-constrained terrain needs thermal energy for far more than personal warmth.</a:t>
            </a:r>
          </a:p>
          <a:p>
            <a:pPr>
              <a:defRPr sz="1200">
                <a:solidFill>
                  <a:srgbClr val="9CA9BD"/>
                </a:solidFill>
                <a:latin typeface="Segoe UI"/>
              </a:defRPr>
            </a:pPr>
            <a:r>
              <a:t>Modern warfare doctrines assume continuous electric grids, kerosene resupply lines, and bulky generator sets. When forward infantry units deploy to forward operating bases, high-altitude passes, and glacial patrols, infrastructure collapses to zero.</a:t>
            </a:r>
            <a:br/>
            <a:br/>
            <a:r>
              <a:t>Without portable, grid-independent thermal infrastructure, hypothermia escalates, rations freeze, medical treatment degrades, and weapon interfaces seize.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6B9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914400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 b="1">
                <a:solidFill>
                  <a:srgbClr val="E6B944"/>
                </a:solidFill>
                <a:latin typeface="Consolas"/>
              </a:defRPr>
            </a:pPr>
            <a:r>
              <a:t>//  THE OPERATIONAL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"/>
            <a:ext cx="100584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  <a:latin typeface="Segoe UI"/>
              </a:defRPr>
            </a:pPr>
            <a:r>
              <a:t>Eight Thermal Requirements. Zero Infrastructure.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61872"/>
            <a:ext cx="1645920" cy="36576"/>
          </a:xfrm>
          <a:prstGeom prst="rect">
            <a:avLst/>
          </a:prstGeom>
          <a:solidFill>
            <a:srgbClr val="E6B9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0" y="365760"/>
            <a:ext cx="3047695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850">
                <a:solidFill>
                  <a:srgbClr val="64748B"/>
                </a:solidFill>
                <a:latin typeface="Consolas"/>
              </a:defRPr>
            </a:pPr>
            <a:r>
              <a:t>DEFENCE STRATEGIC BRIEFING  |  04 / 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510528"/>
            <a:ext cx="10728655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750">
                <a:solidFill>
                  <a:srgbClr val="64748B"/>
                </a:solidFill>
                <a:latin typeface="Consolas"/>
              </a:defRPr>
            </a:pPr>
            <a:r>
              <a:t>HEATBOLT THERMAL PLATFORM  •  RESTRICTED OPERATIONAL ASSESSMENT  •  CONFIDENTIAL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554480"/>
            <a:ext cx="2514600" cy="2011680"/>
          </a:xfrm>
          <a:prstGeom prst="roundRect">
            <a:avLst/>
          </a:prstGeom>
          <a:solidFill>
            <a:srgbClr val="111929"/>
          </a:solidFill>
          <a:ln w="12700">
            <a:solidFill>
              <a:srgbClr val="2633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04672" y="1554480"/>
            <a:ext cx="2368296" cy="32004"/>
          </a:xfrm>
          <a:prstGeom prst="rect">
            <a:avLst/>
          </a:prstGeom>
          <a:solidFill>
            <a:srgbClr val="E6B9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7824" y="1664207"/>
            <a:ext cx="2221992" cy="18105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800" b="1">
                <a:solidFill>
                  <a:srgbClr val="E6B944"/>
                </a:solidFill>
                <a:latin typeface="Consolas"/>
              </a:defRPr>
            </a:pPr>
            <a:r>
              <a:t>DEMAND #01</a:t>
            </a:r>
          </a:p>
          <a:p>
            <a:pPr>
              <a:spcAft>
                <a:spcPts val="300"/>
              </a:spcAft>
              <a:defRPr sz="1150" b="1">
                <a:solidFill>
                  <a:srgbClr val="F8FAFC"/>
                </a:solidFill>
                <a:latin typeface="Segoe UI"/>
              </a:defRPr>
            </a:pPr>
            <a:r>
              <a:t>01 Personnel</a:t>
            </a:r>
          </a:p>
          <a:p>
            <a:pPr>
              <a:spcBef>
                <a:spcPts val="200"/>
              </a:spcBef>
              <a:defRPr sz="900">
                <a:solidFill>
                  <a:srgbClr val="9CA9BD"/>
                </a:solidFill>
                <a:latin typeface="Segoe UI"/>
              </a:defRPr>
            </a:pPr>
            <a:r>
              <a:t>Warmth, comfort, survival and cold-weather protection against severe hypothermia.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65576" y="1554480"/>
            <a:ext cx="2514600" cy="2011680"/>
          </a:xfrm>
          <a:prstGeom prst="roundRect">
            <a:avLst/>
          </a:prstGeom>
          <a:solidFill>
            <a:srgbClr val="111929"/>
          </a:solidFill>
          <a:ln w="12700">
            <a:solidFill>
              <a:srgbClr val="2633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538728" y="1554480"/>
            <a:ext cx="2368296" cy="32004"/>
          </a:xfrm>
          <a:prstGeom prst="rect">
            <a:avLst/>
          </a:prstGeom>
          <a:solidFill>
            <a:srgbClr val="E6B9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11880" y="1664207"/>
            <a:ext cx="2221992" cy="18105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800" b="1">
                <a:solidFill>
                  <a:srgbClr val="E6B944"/>
                </a:solidFill>
                <a:latin typeface="Consolas"/>
              </a:defRPr>
            </a:pPr>
            <a:r>
              <a:t>DEMAND #02</a:t>
            </a:r>
          </a:p>
          <a:p>
            <a:pPr>
              <a:spcAft>
                <a:spcPts val="300"/>
              </a:spcAft>
              <a:defRPr sz="1150" b="1">
                <a:solidFill>
                  <a:srgbClr val="F8FAFC"/>
                </a:solidFill>
                <a:latin typeface="Segoe UI"/>
              </a:defRPr>
            </a:pPr>
            <a:r>
              <a:t>02 Food &amp; Rations</a:t>
            </a:r>
          </a:p>
          <a:p>
            <a:pPr>
              <a:spcBef>
                <a:spcPts val="200"/>
              </a:spcBef>
              <a:defRPr sz="900">
                <a:solidFill>
                  <a:srgbClr val="9CA9BD"/>
                </a:solidFill>
                <a:latin typeface="Segoe UI"/>
              </a:defRPr>
            </a:pPr>
            <a:r>
              <a:t>Heating RTE / RTC meals, hot beverages, and nutritional hydration on patrol.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99632" y="1554480"/>
            <a:ext cx="2514600" cy="2011680"/>
          </a:xfrm>
          <a:prstGeom prst="roundRect">
            <a:avLst/>
          </a:prstGeom>
          <a:solidFill>
            <a:srgbClr val="111929"/>
          </a:solidFill>
          <a:ln w="12700">
            <a:solidFill>
              <a:srgbClr val="2633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72784" y="1554480"/>
            <a:ext cx="2368296" cy="32004"/>
          </a:xfrm>
          <a:prstGeom prst="rect">
            <a:avLst/>
          </a:prstGeom>
          <a:solidFill>
            <a:srgbClr val="E6B9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45936" y="1664207"/>
            <a:ext cx="2221992" cy="18105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800" b="1">
                <a:solidFill>
                  <a:srgbClr val="E6B944"/>
                </a:solidFill>
                <a:latin typeface="Consolas"/>
              </a:defRPr>
            </a:pPr>
            <a:r>
              <a:t>DEMAND #03</a:t>
            </a:r>
          </a:p>
          <a:p>
            <a:pPr>
              <a:spcAft>
                <a:spcPts val="300"/>
              </a:spcAft>
              <a:defRPr sz="1150" b="1">
                <a:solidFill>
                  <a:srgbClr val="F8FAFC"/>
                </a:solidFill>
                <a:latin typeface="Segoe UI"/>
              </a:defRPr>
            </a:pPr>
            <a:r>
              <a:t>03 Water Utility</a:t>
            </a:r>
          </a:p>
          <a:p>
            <a:pPr>
              <a:spcBef>
                <a:spcPts val="200"/>
              </a:spcBef>
              <a:defRPr sz="900">
                <a:solidFill>
                  <a:srgbClr val="9CA9BD"/>
                </a:solidFill>
                <a:latin typeface="Segoe UI"/>
              </a:defRPr>
            </a:pPr>
            <a:r>
              <a:t>Hot water generation, steam utility, and melting snowpack for drinking.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33688" y="1554480"/>
            <a:ext cx="2514600" cy="2011680"/>
          </a:xfrm>
          <a:prstGeom prst="roundRect">
            <a:avLst/>
          </a:prstGeom>
          <a:solidFill>
            <a:srgbClr val="111929"/>
          </a:solidFill>
          <a:ln w="12700">
            <a:solidFill>
              <a:srgbClr val="2633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006840" y="1554480"/>
            <a:ext cx="2368296" cy="32004"/>
          </a:xfrm>
          <a:prstGeom prst="rect">
            <a:avLst/>
          </a:prstGeom>
          <a:solidFill>
            <a:srgbClr val="E6B9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79992" y="1664207"/>
            <a:ext cx="2221992" cy="18105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800" b="1">
                <a:solidFill>
                  <a:srgbClr val="E6B944"/>
                </a:solidFill>
                <a:latin typeface="Consolas"/>
              </a:defRPr>
            </a:pPr>
            <a:r>
              <a:t>DEMAND #04</a:t>
            </a:r>
          </a:p>
          <a:p>
            <a:pPr>
              <a:spcAft>
                <a:spcPts val="300"/>
              </a:spcAft>
              <a:defRPr sz="1150" b="1">
                <a:solidFill>
                  <a:srgbClr val="F8FAFC"/>
                </a:solidFill>
                <a:latin typeface="Segoe UI"/>
              </a:defRPr>
            </a:pPr>
            <a:r>
              <a:t>04 Field Medical</a:t>
            </a:r>
          </a:p>
          <a:p>
            <a:pPr>
              <a:spcBef>
                <a:spcPts val="200"/>
              </a:spcBef>
              <a:defRPr sz="900">
                <a:solidFill>
                  <a:srgbClr val="9CA9BD"/>
                </a:solidFill>
                <a:latin typeface="Segoe UI"/>
              </a:defRPr>
            </a:pPr>
            <a:r>
              <a:t>Temperature-sensitive casualty support, shock prevention, and emergency workflows.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3840480"/>
            <a:ext cx="2514600" cy="2011680"/>
          </a:xfrm>
          <a:prstGeom prst="roundRect">
            <a:avLst/>
          </a:prstGeom>
          <a:solidFill>
            <a:srgbClr val="111929"/>
          </a:solidFill>
          <a:ln w="12700">
            <a:solidFill>
              <a:srgbClr val="2633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4672" y="3840480"/>
            <a:ext cx="2368296" cy="32004"/>
          </a:xfrm>
          <a:prstGeom prst="rect">
            <a:avLst/>
          </a:prstGeom>
          <a:solidFill>
            <a:srgbClr val="E6B9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77824" y="3950208"/>
            <a:ext cx="2221992" cy="18105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800" b="1">
                <a:solidFill>
                  <a:srgbClr val="E6B944"/>
                </a:solidFill>
                <a:latin typeface="Consolas"/>
              </a:defRPr>
            </a:pPr>
            <a:r>
              <a:t>DEMAND #05</a:t>
            </a:r>
          </a:p>
          <a:p>
            <a:pPr>
              <a:spcAft>
                <a:spcPts val="300"/>
              </a:spcAft>
              <a:defRPr sz="1150" b="1">
                <a:solidFill>
                  <a:srgbClr val="F8FAFC"/>
                </a:solidFill>
                <a:latin typeface="Segoe UI"/>
              </a:defRPr>
            </a:pPr>
            <a:r>
              <a:t>05 Equipment</a:t>
            </a:r>
          </a:p>
          <a:p>
            <a:pPr>
              <a:spcBef>
                <a:spcPts val="200"/>
              </a:spcBef>
              <a:defRPr sz="900">
                <a:solidFill>
                  <a:srgbClr val="9CA9BD"/>
                </a:solidFill>
                <a:latin typeface="Segoe UI"/>
              </a:defRPr>
            </a:pPr>
            <a:r>
              <a:t>Drying gear, unfreezing weapon breaches, optics thawing, and vehicle readiness.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465576" y="3840480"/>
            <a:ext cx="2514600" cy="2011680"/>
          </a:xfrm>
          <a:prstGeom prst="roundRect">
            <a:avLst/>
          </a:prstGeom>
          <a:solidFill>
            <a:srgbClr val="111929"/>
          </a:solidFill>
          <a:ln w="12700">
            <a:solidFill>
              <a:srgbClr val="2633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38728" y="3840480"/>
            <a:ext cx="2368296" cy="32004"/>
          </a:xfrm>
          <a:prstGeom prst="rect">
            <a:avLst/>
          </a:prstGeom>
          <a:solidFill>
            <a:srgbClr val="E6B9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11880" y="3950208"/>
            <a:ext cx="2221992" cy="18105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800" b="1">
                <a:solidFill>
                  <a:srgbClr val="E6B944"/>
                </a:solidFill>
                <a:latin typeface="Consolas"/>
              </a:defRPr>
            </a:pPr>
            <a:r>
              <a:t>DEMAND #06</a:t>
            </a:r>
          </a:p>
          <a:p>
            <a:pPr>
              <a:spcAft>
                <a:spcPts val="300"/>
              </a:spcAft>
              <a:defRPr sz="1150" b="1">
                <a:solidFill>
                  <a:srgbClr val="F8FAFC"/>
                </a:solidFill>
                <a:latin typeface="Segoe UI"/>
              </a:defRPr>
            </a:pPr>
            <a:r>
              <a:t>06 Shelter</a:t>
            </a:r>
          </a:p>
          <a:p>
            <a:pPr>
              <a:spcBef>
                <a:spcPts val="200"/>
              </a:spcBef>
              <a:defRPr sz="900">
                <a:solidFill>
                  <a:srgbClr val="9CA9BD"/>
                </a:solidFill>
                <a:latin typeface="Segoe UI"/>
              </a:defRPr>
            </a:pPr>
            <a:r>
              <a:t>Temporary heating of bivouac shelters, tents, and forward observation posts.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99632" y="3840480"/>
            <a:ext cx="2514600" cy="2011680"/>
          </a:xfrm>
          <a:prstGeom prst="roundRect">
            <a:avLst/>
          </a:prstGeom>
          <a:solidFill>
            <a:srgbClr val="111929"/>
          </a:solidFill>
          <a:ln w="12700">
            <a:solidFill>
              <a:srgbClr val="2633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72784" y="3840480"/>
            <a:ext cx="2368296" cy="32004"/>
          </a:xfrm>
          <a:prstGeom prst="rect">
            <a:avLst/>
          </a:prstGeom>
          <a:solidFill>
            <a:srgbClr val="E6B9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45936" y="3950208"/>
            <a:ext cx="2221992" cy="18105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800" b="1">
                <a:solidFill>
                  <a:srgbClr val="E6B944"/>
                </a:solidFill>
                <a:latin typeface="Consolas"/>
              </a:defRPr>
            </a:pPr>
            <a:r>
              <a:t>DEMAND #07</a:t>
            </a:r>
          </a:p>
          <a:p>
            <a:pPr>
              <a:spcAft>
                <a:spcPts val="300"/>
              </a:spcAft>
              <a:defRPr sz="1150" b="1">
                <a:solidFill>
                  <a:srgbClr val="F8FAFC"/>
                </a:solidFill>
                <a:latin typeface="Segoe UI"/>
              </a:defRPr>
            </a:pPr>
            <a:r>
              <a:t>07 Tactical Mobility</a:t>
            </a:r>
          </a:p>
          <a:p>
            <a:pPr>
              <a:spcBef>
                <a:spcPts val="200"/>
              </a:spcBef>
              <a:defRPr sz="900">
                <a:solidFill>
                  <a:srgbClr val="9CA9BD"/>
                </a:solidFill>
                <a:latin typeface="Segoe UI"/>
              </a:defRPr>
            </a:pPr>
            <a:r>
              <a:t>Cold-weather pre-heating for vehicle blocks, UAV batteries, and aviation optics.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933688" y="3840480"/>
            <a:ext cx="2514600" cy="2011680"/>
          </a:xfrm>
          <a:prstGeom prst="roundRect">
            <a:avLst/>
          </a:prstGeom>
          <a:solidFill>
            <a:srgbClr val="111929"/>
          </a:solidFill>
          <a:ln w="12700">
            <a:solidFill>
              <a:srgbClr val="2633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006840" y="3840480"/>
            <a:ext cx="2368296" cy="32004"/>
          </a:xfrm>
          <a:prstGeom prst="rect">
            <a:avLst/>
          </a:prstGeom>
          <a:solidFill>
            <a:srgbClr val="E6B9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79992" y="3950208"/>
            <a:ext cx="2221992" cy="18105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800" b="1">
                <a:solidFill>
                  <a:srgbClr val="E6B944"/>
                </a:solidFill>
                <a:latin typeface="Consolas"/>
              </a:defRPr>
            </a:pPr>
            <a:r>
              <a:t>DEMAND #08</a:t>
            </a:r>
          </a:p>
          <a:p>
            <a:pPr>
              <a:spcAft>
                <a:spcPts val="300"/>
              </a:spcAft>
              <a:defRPr sz="1150" b="1">
                <a:solidFill>
                  <a:srgbClr val="F8FAFC"/>
                </a:solidFill>
                <a:latin typeface="Segoe UI"/>
              </a:defRPr>
            </a:pPr>
            <a:r>
              <a:t>08 Emergency Response</a:t>
            </a:r>
          </a:p>
          <a:p>
            <a:pPr>
              <a:spcBef>
                <a:spcPts val="200"/>
              </a:spcBef>
              <a:defRPr sz="900">
                <a:solidFill>
                  <a:srgbClr val="9CA9BD"/>
                </a:solidFill>
                <a:latin typeface="Segoe UI"/>
              </a:defRPr>
            </a:pPr>
            <a:r>
              <a:t>Search &amp; rescue operations, avalanche survivor recovery, and disaster relief.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6B9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914400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 b="1">
                <a:solidFill>
                  <a:srgbClr val="E6B944"/>
                </a:solidFill>
                <a:latin typeface="Consolas"/>
              </a:defRPr>
            </a:pPr>
            <a:r>
              <a:t>//  THE TACTICAL CONUNDRUM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"/>
            <a:ext cx="100584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  <a:latin typeface="Segoe UI"/>
              </a:defRPr>
            </a:pPr>
            <a:r>
              <a:t>The Challenge of Useful Heat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61872"/>
            <a:ext cx="1645920" cy="36576"/>
          </a:xfrm>
          <a:prstGeom prst="rect">
            <a:avLst/>
          </a:prstGeom>
          <a:solidFill>
            <a:srgbClr val="E6B9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0" y="365760"/>
            <a:ext cx="3047695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850">
                <a:solidFill>
                  <a:srgbClr val="64748B"/>
                </a:solidFill>
                <a:latin typeface="Consolas"/>
              </a:defRPr>
            </a:pPr>
            <a:r>
              <a:t>DEFENCE STRATEGIC BRIEFING  |  05 / 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510528"/>
            <a:ext cx="10728655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750">
                <a:solidFill>
                  <a:srgbClr val="64748B"/>
                </a:solidFill>
                <a:latin typeface="Consolas"/>
              </a:defRPr>
            </a:pPr>
            <a:r>
              <a:t>HEATBOLT THERMAL PLATFORM  •  RESTRICTED OPERATIONAL ASSESSMENT  •  CONFIDENTIAL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554480"/>
            <a:ext cx="10728655" cy="2011680"/>
          </a:xfrm>
          <a:prstGeom prst="roundRect">
            <a:avLst/>
          </a:prstGeom>
          <a:solidFill>
            <a:srgbClr val="111929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1737360"/>
            <a:ext cx="9966960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950" b="1">
                <a:solidFill>
                  <a:srgbClr val="E6B944"/>
                </a:solidFill>
                <a:latin typeface="Consolas"/>
              </a:defRPr>
            </a:pPr>
            <a:r>
              <a:t>THE FUNDAMENTAL THERMAL PARADOX</a:t>
            </a:r>
          </a:p>
          <a:p>
            <a:pPr>
              <a:defRPr sz="2000" b="1">
                <a:solidFill>
                  <a:srgbClr val="F8FAFC"/>
                </a:solidFill>
                <a:latin typeface="Segoe UI"/>
              </a:defRPr>
            </a:pPr>
            <a:r>
              <a:t>“The challenge is not simply producing heat.</a:t>
            </a:r>
            <a:br/>
            <a:r>
              <a:t>It is producing USEFUL HEAT where conventional infrastructure cannot easily follow.”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886200"/>
            <a:ext cx="1266444" cy="256032"/>
          </a:xfrm>
          <a:prstGeom prst="roundRect">
            <a:avLst/>
          </a:prstGeom>
          <a:solidFill>
            <a:srgbClr val="1A2436"/>
          </a:solidFill>
          <a:ln w="9525">
            <a:solidFill>
              <a:srgbClr val="2633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3922776"/>
            <a:ext cx="1266444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800">
                <a:solidFill>
                  <a:srgbClr val="E6B944"/>
                </a:solidFill>
                <a:latin typeface="Consolas"/>
              </a:defRPr>
            </a:pPr>
            <a:r>
              <a:t>Sub-Zero Cold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107691" y="3886200"/>
            <a:ext cx="1344168" cy="256032"/>
          </a:xfrm>
          <a:prstGeom prst="roundRect">
            <a:avLst/>
          </a:prstGeom>
          <a:solidFill>
            <a:srgbClr val="1A2436"/>
          </a:solidFill>
          <a:ln w="9525">
            <a:solidFill>
              <a:srgbClr val="2633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107691" y="3922776"/>
            <a:ext cx="1344168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800">
                <a:solidFill>
                  <a:srgbClr val="E6B944"/>
                </a:solidFill>
                <a:latin typeface="Consolas"/>
              </a:defRPr>
            </a:pPr>
            <a:r>
              <a:t>Remote Terrain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61588" y="3886200"/>
            <a:ext cx="1810512" cy="256032"/>
          </a:xfrm>
          <a:prstGeom prst="roundRect">
            <a:avLst/>
          </a:prstGeom>
          <a:solidFill>
            <a:srgbClr val="1A2436"/>
          </a:solidFill>
          <a:ln w="9525">
            <a:solidFill>
              <a:srgbClr val="2633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1588" y="3922776"/>
            <a:ext cx="1810512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800">
                <a:solidFill>
                  <a:srgbClr val="E6B944"/>
                </a:solidFill>
                <a:latin typeface="Consolas"/>
              </a:defRPr>
            </a:pPr>
            <a:r>
              <a:t>Time-Critical Triage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1828" y="3886200"/>
            <a:ext cx="2121408" cy="256032"/>
          </a:xfrm>
          <a:prstGeom prst="roundRect">
            <a:avLst/>
          </a:prstGeom>
          <a:solidFill>
            <a:srgbClr val="1A2436"/>
          </a:solidFill>
          <a:ln w="9525">
            <a:solidFill>
              <a:srgbClr val="2633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1828" y="3922776"/>
            <a:ext cx="2121408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800">
                <a:solidFill>
                  <a:srgbClr val="E6B944"/>
                </a:solidFill>
                <a:latin typeface="Consolas"/>
              </a:defRPr>
            </a:pPr>
            <a:r>
              <a:t>Logistically Constrained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12964" y="3886200"/>
            <a:ext cx="1810512" cy="256032"/>
          </a:xfrm>
          <a:prstGeom prst="roundRect">
            <a:avLst/>
          </a:prstGeom>
          <a:solidFill>
            <a:srgbClr val="1A2436"/>
          </a:solidFill>
          <a:ln w="9525">
            <a:solidFill>
              <a:srgbClr val="2633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12964" y="3922776"/>
            <a:ext cx="1810512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800">
                <a:solidFill>
                  <a:srgbClr val="E6B944"/>
                </a:solidFill>
                <a:latin typeface="Consolas"/>
              </a:defRPr>
            </a:pPr>
            <a:r>
              <a:t>Physically Demanding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33204" y="3886200"/>
            <a:ext cx="1732788" cy="256032"/>
          </a:xfrm>
          <a:prstGeom prst="roundRect">
            <a:avLst/>
          </a:prstGeom>
          <a:solidFill>
            <a:srgbClr val="1A2436"/>
          </a:solidFill>
          <a:ln w="9525">
            <a:solidFill>
              <a:srgbClr val="2633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33204" y="3922776"/>
            <a:ext cx="1732788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800">
                <a:solidFill>
                  <a:srgbClr val="E6B944"/>
                </a:solidFill>
                <a:latin typeface="Consolas"/>
              </a:defRPr>
            </a:pPr>
            <a:r>
              <a:t>Zero Infrastructure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4572000"/>
            <a:ext cx="10728655" cy="1554480"/>
          </a:xfrm>
          <a:prstGeom prst="roundRect">
            <a:avLst/>
          </a:prstGeom>
          <a:solidFill>
            <a:srgbClr val="111929"/>
          </a:solidFill>
          <a:ln w="12700">
            <a:solidFill>
              <a:srgbClr val="2633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40" y="4754880"/>
            <a:ext cx="1014984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900" b="1">
                <a:solidFill>
                  <a:srgbClr val="E6B944"/>
                </a:solidFill>
                <a:latin typeface="Consolas"/>
              </a:defRPr>
            </a:pPr>
            <a:r>
              <a:t>THE SOLDIER AS THE BENCHMARK FOR EXTREME ENGINEERING</a:t>
            </a:r>
          </a:p>
          <a:p>
            <a:pPr>
              <a:defRPr sz="1100">
                <a:solidFill>
                  <a:srgbClr val="9CA9BD"/>
                </a:solidFill>
                <a:latin typeface="Segoe UI"/>
              </a:defRPr>
            </a:pPr>
            <a:r>
              <a:t>The frontline soldier operating in glacial altitude represents the ultimate operating stress test. If a thermal platform performs reliably under high-altitude, wind-chill, and sub-zero conditions, every adjacent commercial, industrial, and humanitarian application becomes a natural expansion — not an unvalidated risk.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6B9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914400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 b="1">
                <a:solidFill>
                  <a:srgbClr val="E6B944"/>
                </a:solidFill>
                <a:latin typeface="Consolas"/>
              </a:defRPr>
            </a:pPr>
            <a:r>
              <a:t>//  SECTION 02 // PLATFORM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"/>
            <a:ext cx="100584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  <a:latin typeface="Segoe UI"/>
              </a:defRPr>
            </a:pPr>
            <a:r>
              <a:t>Portable Thermal Infrastructure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61872"/>
            <a:ext cx="1645920" cy="36576"/>
          </a:xfrm>
          <a:prstGeom prst="rect">
            <a:avLst/>
          </a:prstGeom>
          <a:solidFill>
            <a:srgbClr val="E6B9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0" y="365760"/>
            <a:ext cx="3047695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850">
                <a:solidFill>
                  <a:srgbClr val="64748B"/>
                </a:solidFill>
                <a:latin typeface="Consolas"/>
              </a:defRPr>
            </a:pPr>
            <a:r>
              <a:t>DEFENCE STRATEGIC BRIEFING  |  06 / 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510528"/>
            <a:ext cx="10728655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750">
                <a:solidFill>
                  <a:srgbClr val="64748B"/>
                </a:solidFill>
                <a:latin typeface="Consolas"/>
              </a:defRPr>
            </a:pPr>
            <a:r>
              <a:t>HEATBOLT THERMAL PLATFORM  •  RESTRICTED OPERATIONAL ASSESSMENT  •  CONFIDENTIAL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645920"/>
            <a:ext cx="10728655" cy="4389120"/>
          </a:xfrm>
          <a:prstGeom prst="roundRect">
            <a:avLst/>
          </a:prstGeom>
          <a:solidFill>
            <a:srgbClr val="111929"/>
          </a:solidFill>
          <a:ln w="12700">
            <a:solidFill>
              <a:srgbClr val="2633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2103120"/>
            <a:ext cx="9784080" cy="3474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E6B944"/>
                </a:solidFill>
                <a:latin typeface="Consolas"/>
              </a:defRPr>
            </a:pPr>
            <a:r>
              <a:t>PROPRIETARY REACTION ENGINEERING</a:t>
            </a:r>
          </a:p>
          <a:p>
            <a:pPr>
              <a:spcAft>
                <a:spcPts val="1600"/>
              </a:spcAft>
              <a:defRPr sz="2200" b="1">
                <a:solidFill>
                  <a:srgbClr val="F8FAFC"/>
                </a:solidFill>
                <a:latin typeface="Segoe UI"/>
              </a:defRPr>
            </a:pPr>
            <a:r>
              <a:t>A proprietary water-activated exothermic system — engineered specifically for environments where infrastructure is zero.</a:t>
            </a:r>
          </a:p>
          <a:p>
            <a:pPr>
              <a:defRPr sz="1200">
                <a:solidFill>
                  <a:srgbClr val="9CA9BD"/>
                </a:solidFill>
                <a:latin typeface="Segoe UI"/>
              </a:defRPr>
            </a:pPr>
            <a:r>
              <a:t>Heatbolt replaces heavy diesel fuel bladders, vulnerable generators, and dangerous flame stoves with a solid-state, highly stable mineral formulation.</a:t>
            </a:r>
            <a:br/>
            <a:br/>
            <a:r>
              <a:t>Activated by mere droplets of ambient water, river runoff, or melted snow, Heatbolt converts chemical potential directly into controlled thermodynamic heat and dry steam in seconds.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6B9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914400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 b="1">
                <a:solidFill>
                  <a:srgbClr val="E6B944"/>
                </a:solidFill>
                <a:latin typeface="Consolas"/>
              </a:defRPr>
            </a:pPr>
            <a:r>
              <a:t>//  THE HEATBOLT ANSWER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"/>
            <a:ext cx="100584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  <a:latin typeface="Segoe UI"/>
              </a:defRPr>
            </a:pPr>
            <a:r>
              <a:t>Water In. Heat Out. Anywhere.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61872"/>
            <a:ext cx="1645920" cy="36576"/>
          </a:xfrm>
          <a:prstGeom prst="rect">
            <a:avLst/>
          </a:prstGeom>
          <a:solidFill>
            <a:srgbClr val="E6B9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0" y="365760"/>
            <a:ext cx="3047695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850">
                <a:solidFill>
                  <a:srgbClr val="64748B"/>
                </a:solidFill>
                <a:latin typeface="Consolas"/>
              </a:defRPr>
            </a:pPr>
            <a:r>
              <a:t>DEFENCE STRATEGIC BRIEFING  |  07 / 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510528"/>
            <a:ext cx="10728655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750">
                <a:solidFill>
                  <a:srgbClr val="64748B"/>
                </a:solidFill>
                <a:latin typeface="Consolas"/>
              </a:defRPr>
            </a:pPr>
            <a:r>
              <a:t>HEATBOLT THERMAL PLATFORM  •  RESTRICTED OPERATIONAL ASSESSMENT  •  CONFIDENTIAL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600200"/>
            <a:ext cx="2514600" cy="2926080"/>
          </a:xfrm>
          <a:prstGeom prst="roundRect">
            <a:avLst/>
          </a:prstGeom>
          <a:solidFill>
            <a:srgbClr val="111929"/>
          </a:solidFill>
          <a:ln w="12700">
            <a:solidFill>
              <a:srgbClr val="2633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783080"/>
            <a:ext cx="2148840" cy="6400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3600" b="1">
                <a:solidFill>
                  <a:srgbClr val="E6B944"/>
                </a:solidFill>
                <a:latin typeface="Consolas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606040"/>
            <a:ext cx="2148840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8FAFC"/>
                </a:solidFill>
                <a:latin typeface="Segoe UI"/>
              </a:defRPr>
            </a:pPr>
            <a:r>
              <a:t>ACTIVATE</a:t>
            </a:r>
          </a:p>
          <a:p>
            <a:pPr>
              <a:defRPr sz="1000">
                <a:solidFill>
                  <a:srgbClr val="9CA9BD"/>
                </a:solidFill>
                <a:latin typeface="Segoe UI"/>
              </a:defRPr>
            </a:pPr>
            <a:r>
              <a:t>Water or melted snow is introduced into the hermetic thermal pouch chamber.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65576" y="1600200"/>
            <a:ext cx="2514600" cy="2926080"/>
          </a:xfrm>
          <a:prstGeom prst="roundRect">
            <a:avLst/>
          </a:prstGeom>
          <a:solidFill>
            <a:srgbClr val="111929"/>
          </a:solidFill>
          <a:ln w="12700">
            <a:solidFill>
              <a:srgbClr val="2633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48456" y="1783080"/>
            <a:ext cx="2148840" cy="6400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3600" b="1">
                <a:solidFill>
                  <a:srgbClr val="E6B944"/>
                </a:solidFill>
                <a:latin typeface="Consolas"/>
              </a:defRPr>
            </a:pPr>
            <a: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48456" y="2606040"/>
            <a:ext cx="2148840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8FAFC"/>
                </a:solidFill>
                <a:latin typeface="Segoe UI"/>
              </a:defRPr>
            </a:pPr>
            <a:r>
              <a:t>REACT</a:t>
            </a:r>
          </a:p>
          <a:p>
            <a:pPr>
              <a:defRPr sz="1000">
                <a:solidFill>
                  <a:srgbClr val="9CA9BD"/>
                </a:solidFill>
                <a:latin typeface="Segoe UI"/>
              </a:defRPr>
            </a:pPr>
            <a:r>
              <a:t>Proprietary mineral formulation triggers an instant, controlled exothermic reaction.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99632" y="1600200"/>
            <a:ext cx="2514600" cy="2926080"/>
          </a:xfrm>
          <a:prstGeom prst="roundRect">
            <a:avLst/>
          </a:prstGeom>
          <a:solidFill>
            <a:srgbClr val="111929"/>
          </a:solidFill>
          <a:ln w="12700">
            <a:solidFill>
              <a:srgbClr val="2633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82512" y="1783080"/>
            <a:ext cx="2148840" cy="6400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3600" b="1">
                <a:solidFill>
                  <a:srgbClr val="E6B944"/>
                </a:solidFill>
                <a:latin typeface="Consolas"/>
              </a:defRPr>
            </a:pPr>
            <a: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82512" y="2606040"/>
            <a:ext cx="2148840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8FAFC"/>
                </a:solidFill>
                <a:latin typeface="Segoe UI"/>
              </a:defRPr>
            </a:pPr>
            <a:r>
              <a:t>TRANSFER</a:t>
            </a:r>
          </a:p>
          <a:p>
            <a:pPr>
              <a:defRPr sz="1000">
                <a:solidFill>
                  <a:srgbClr val="9CA9BD"/>
                </a:solidFill>
                <a:latin typeface="Segoe UI"/>
              </a:defRPr>
            </a:pPr>
            <a:r>
              <a:t>Thermal energy and pure steam conduct precisely into the payload without contamination.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33688" y="1600200"/>
            <a:ext cx="2514600" cy="2926080"/>
          </a:xfrm>
          <a:prstGeom prst="roundRect">
            <a:avLst/>
          </a:prstGeom>
          <a:solidFill>
            <a:srgbClr val="111929"/>
          </a:solidFill>
          <a:ln w="12700">
            <a:solidFill>
              <a:srgbClr val="2633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16568" y="1783080"/>
            <a:ext cx="2148840" cy="6400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3600" b="1">
                <a:solidFill>
                  <a:srgbClr val="E6B944"/>
                </a:solidFill>
                <a:latin typeface="Consolas"/>
              </a:defRPr>
            </a:pPr>
            <a: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16568" y="2606040"/>
            <a:ext cx="2148840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8FAFC"/>
                </a:solidFill>
                <a:latin typeface="Segoe UI"/>
              </a:defRPr>
            </a:pPr>
            <a:r>
              <a:t>DEPLOY</a:t>
            </a:r>
          </a:p>
          <a:p>
            <a:pPr>
              <a:defRPr sz="1000">
                <a:solidFill>
                  <a:srgbClr val="9CA9BD"/>
                </a:solidFill>
                <a:latin typeface="Segoe UI"/>
              </a:defRPr>
            </a:pPr>
            <a:r>
              <a:t>Engineered into soldier pouches, ration packs, survival vests, and tactical equipment.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4892040"/>
            <a:ext cx="1499616" cy="256032"/>
          </a:xfrm>
          <a:prstGeom prst="roundRect">
            <a:avLst/>
          </a:prstGeom>
          <a:solidFill>
            <a:srgbClr val="1A2436"/>
          </a:solidFill>
          <a:ln w="9525">
            <a:solidFill>
              <a:srgbClr val="2633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4928616"/>
            <a:ext cx="1499616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800">
                <a:solidFill>
                  <a:srgbClr val="E6B944"/>
                </a:solidFill>
                <a:latin typeface="Consolas"/>
              </a:defRPr>
            </a:pPr>
            <a:r>
              <a:t>Zero Mains Power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340864" y="4892040"/>
            <a:ext cx="1732788" cy="256032"/>
          </a:xfrm>
          <a:prstGeom prst="roundRect">
            <a:avLst/>
          </a:prstGeom>
          <a:solidFill>
            <a:srgbClr val="1A2436"/>
          </a:solidFill>
          <a:ln w="9525">
            <a:solidFill>
              <a:srgbClr val="2633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340864" y="4928616"/>
            <a:ext cx="1732788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800">
                <a:solidFill>
                  <a:srgbClr val="E6B944"/>
                </a:solidFill>
                <a:latin typeface="Consolas"/>
              </a:defRPr>
            </a:pPr>
            <a:r>
              <a:t>Zero LPG / Gas Need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183380" y="4892040"/>
            <a:ext cx="1421892" cy="256032"/>
          </a:xfrm>
          <a:prstGeom prst="roundRect">
            <a:avLst/>
          </a:prstGeom>
          <a:solidFill>
            <a:srgbClr val="1A2436"/>
          </a:solidFill>
          <a:ln w="9525">
            <a:solidFill>
              <a:srgbClr val="2633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83380" y="4928616"/>
            <a:ext cx="1421892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800">
                <a:solidFill>
                  <a:srgbClr val="E6B944"/>
                </a:solidFill>
                <a:latin typeface="Consolas"/>
              </a:defRPr>
            </a:pPr>
            <a:r>
              <a:t>Zero Open Flame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715000" y="4892040"/>
            <a:ext cx="2043684" cy="256032"/>
          </a:xfrm>
          <a:prstGeom prst="roundRect">
            <a:avLst/>
          </a:prstGeom>
          <a:solidFill>
            <a:srgbClr val="1A2436"/>
          </a:solidFill>
          <a:ln w="9525">
            <a:solidFill>
              <a:srgbClr val="2633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715000" y="4928616"/>
            <a:ext cx="2043684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800">
                <a:solidFill>
                  <a:srgbClr val="E6B944"/>
                </a:solidFill>
                <a:latin typeface="Consolas"/>
              </a:defRPr>
            </a:pPr>
            <a:r>
              <a:t>Zero Acoustic Signature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868412" y="4892040"/>
            <a:ext cx="1655064" cy="256032"/>
          </a:xfrm>
          <a:prstGeom prst="roundRect">
            <a:avLst/>
          </a:prstGeom>
          <a:solidFill>
            <a:srgbClr val="1A2436"/>
          </a:solidFill>
          <a:ln w="9525">
            <a:solidFill>
              <a:srgbClr val="2633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868412" y="4928616"/>
            <a:ext cx="1655064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800">
                <a:solidFill>
                  <a:srgbClr val="E6B944"/>
                </a:solidFill>
                <a:latin typeface="Consolas"/>
              </a:defRPr>
            </a:pPr>
            <a:r>
              <a:t>Zero Toxic Residue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31520" y="5221224"/>
            <a:ext cx="1810512" cy="256032"/>
          </a:xfrm>
          <a:prstGeom prst="roundRect">
            <a:avLst/>
          </a:prstGeom>
          <a:solidFill>
            <a:srgbClr val="1A2436"/>
          </a:solidFill>
          <a:ln w="9525">
            <a:solidFill>
              <a:srgbClr val="2633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1520" y="5257800"/>
            <a:ext cx="1810512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800">
                <a:solidFill>
                  <a:srgbClr val="E6B944"/>
                </a:solidFill>
                <a:latin typeface="Consolas"/>
              </a:defRPr>
            </a:pPr>
            <a:r>
              <a:t>Modular Form Factors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31520" y="5486400"/>
            <a:ext cx="10728655" cy="731520"/>
          </a:xfrm>
          <a:prstGeom prst="roundRect">
            <a:avLst/>
          </a:prstGeom>
          <a:solidFill>
            <a:srgbClr val="16130E"/>
          </a:solidFill>
          <a:ln w="12700">
            <a:solidFill>
              <a:srgbClr val="644B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31520" y="5541264"/>
            <a:ext cx="45720" cy="621792"/>
          </a:xfrm>
          <a:prstGeom prst="rect">
            <a:avLst/>
          </a:prstGeom>
          <a:solidFill>
            <a:srgbClr val="E6B9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96112" y="5577840"/>
            <a:ext cx="1045433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950">
                <a:solidFill>
                  <a:srgbClr val="E6B944"/>
                </a:solidFill>
                <a:latin typeface="Segoe UI"/>
              </a:rPr>
              <a:t>TACTICAL ADVANTAGE —  </a:t>
            </a:r>
            <a:r>
              <a:rPr sz="900">
                <a:solidFill>
                  <a:srgbClr val="9CA9BD"/>
                </a:solidFill>
                <a:latin typeface="Segoe UI"/>
              </a:rPr>
              <a:t>Flameless exothermic reaction maintains total blackout conditions, creating zero visible light signature and zero acoustic profile during covert night operations.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6B9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914400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 b="1">
                <a:solidFill>
                  <a:srgbClr val="E6B944"/>
                </a:solidFill>
                <a:latin typeface="Consolas"/>
              </a:defRPr>
            </a:pPr>
            <a:r>
              <a:t>//  THE PLATFORM THESIS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"/>
            <a:ext cx="100584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  <a:latin typeface="Segoe UI"/>
              </a:defRPr>
            </a:pPr>
            <a:r>
              <a:t>Not a Heater. A Thermal Platform.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61872"/>
            <a:ext cx="1645920" cy="36576"/>
          </a:xfrm>
          <a:prstGeom prst="rect">
            <a:avLst/>
          </a:prstGeom>
          <a:solidFill>
            <a:srgbClr val="E6B9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0" y="365760"/>
            <a:ext cx="3047695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850">
                <a:solidFill>
                  <a:srgbClr val="64748B"/>
                </a:solidFill>
                <a:latin typeface="Consolas"/>
              </a:defRPr>
            </a:pPr>
            <a:r>
              <a:t>DEFENCE STRATEGIC BRIEFING  |  08 / 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510528"/>
            <a:ext cx="10728655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750">
                <a:solidFill>
                  <a:srgbClr val="64748B"/>
                </a:solidFill>
                <a:latin typeface="Consolas"/>
              </a:defRPr>
            </a:pPr>
            <a:r>
              <a:t>HEATBOLT THERMAL PLATFORM  •  RESTRICTED OPERATIONAL ASSESSMENT  •  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371600"/>
            <a:ext cx="10728655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200">
                <a:solidFill>
                  <a:srgbClr val="E6B944"/>
                </a:solidFill>
                <a:latin typeface="Segoe UI"/>
              </a:defRPr>
            </a:pPr>
            <a:r>
              <a:t>A conventional product solves one problem. A platform solves many — using one common technological core.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920240"/>
            <a:ext cx="2514600" cy="1874519"/>
          </a:xfrm>
          <a:prstGeom prst="roundRect">
            <a:avLst/>
          </a:prstGeom>
          <a:solidFill>
            <a:srgbClr val="111929"/>
          </a:solidFill>
          <a:ln w="12700">
            <a:solidFill>
              <a:srgbClr val="2633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4672" y="1920240"/>
            <a:ext cx="2368296" cy="32004"/>
          </a:xfrm>
          <a:prstGeom prst="rect">
            <a:avLst/>
          </a:prstGeom>
          <a:solidFill>
            <a:srgbClr val="E6B9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2029968"/>
            <a:ext cx="2221992" cy="167335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800" b="1">
                <a:solidFill>
                  <a:srgbClr val="E6B944"/>
                </a:solidFill>
                <a:latin typeface="Consolas"/>
              </a:defRPr>
            </a:pPr>
            <a:r>
              <a:t>DOMAIN #01</a:t>
            </a:r>
          </a:p>
          <a:p>
            <a:pPr>
              <a:spcAft>
                <a:spcPts val="300"/>
              </a:spcAft>
              <a:defRPr sz="1150" b="1">
                <a:solidFill>
                  <a:srgbClr val="F8FAFC"/>
                </a:solidFill>
                <a:latin typeface="Segoe UI"/>
              </a:defRPr>
            </a:pPr>
            <a:r>
              <a:t>Soldier Warming</a:t>
            </a:r>
          </a:p>
          <a:p>
            <a:pPr>
              <a:spcBef>
                <a:spcPts val="200"/>
              </a:spcBef>
              <a:defRPr sz="900">
                <a:solidFill>
                  <a:srgbClr val="9CA9BD"/>
                </a:solidFill>
                <a:latin typeface="Segoe UI"/>
              </a:defRPr>
            </a:pPr>
            <a:r>
              <a:t>Personal thermal protection at point of need; wearable heating elements.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65576" y="1920240"/>
            <a:ext cx="2514600" cy="1874519"/>
          </a:xfrm>
          <a:prstGeom prst="roundRect">
            <a:avLst/>
          </a:prstGeom>
          <a:solidFill>
            <a:srgbClr val="111929"/>
          </a:solidFill>
          <a:ln w="12700">
            <a:solidFill>
              <a:srgbClr val="2633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38728" y="1920240"/>
            <a:ext cx="2368296" cy="32004"/>
          </a:xfrm>
          <a:prstGeom prst="rect">
            <a:avLst/>
          </a:prstGeom>
          <a:solidFill>
            <a:srgbClr val="E6B9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11880" y="2029968"/>
            <a:ext cx="2221992" cy="167335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800" b="1">
                <a:solidFill>
                  <a:srgbClr val="E6B944"/>
                </a:solidFill>
                <a:latin typeface="Consolas"/>
              </a:defRPr>
            </a:pPr>
            <a:r>
              <a:t>DOMAIN #02</a:t>
            </a:r>
          </a:p>
          <a:p>
            <a:pPr>
              <a:spcAft>
                <a:spcPts val="300"/>
              </a:spcAft>
              <a:defRPr sz="1150" b="1">
                <a:solidFill>
                  <a:srgbClr val="F8FAFC"/>
                </a:solidFill>
                <a:latin typeface="Segoe UI"/>
              </a:defRPr>
            </a:pPr>
            <a:r>
              <a:t>Ration Heating</a:t>
            </a:r>
          </a:p>
          <a:p>
            <a:pPr>
              <a:spcBef>
                <a:spcPts val="200"/>
              </a:spcBef>
              <a:defRPr sz="900">
                <a:solidFill>
                  <a:srgbClr val="9CA9BD"/>
                </a:solidFill>
                <a:latin typeface="Segoe UI"/>
              </a:defRPr>
            </a:pPr>
            <a:r>
              <a:t>Hot meals and beverages without field kitchens, flame, or combustion smoke.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99632" y="1920240"/>
            <a:ext cx="2514600" cy="1874519"/>
          </a:xfrm>
          <a:prstGeom prst="roundRect">
            <a:avLst/>
          </a:prstGeom>
          <a:solidFill>
            <a:srgbClr val="111929"/>
          </a:solidFill>
          <a:ln w="12700">
            <a:solidFill>
              <a:srgbClr val="2633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72784" y="1920240"/>
            <a:ext cx="2368296" cy="32004"/>
          </a:xfrm>
          <a:prstGeom prst="rect">
            <a:avLst/>
          </a:prstGeom>
          <a:solidFill>
            <a:srgbClr val="E6B9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45936" y="2029968"/>
            <a:ext cx="2221992" cy="167335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800" b="1">
                <a:solidFill>
                  <a:srgbClr val="E6B944"/>
                </a:solidFill>
                <a:latin typeface="Consolas"/>
              </a:defRPr>
            </a:pPr>
            <a:r>
              <a:t>DOMAIN #03</a:t>
            </a:r>
          </a:p>
          <a:p>
            <a:pPr>
              <a:spcAft>
                <a:spcPts val="300"/>
              </a:spcAft>
              <a:defRPr sz="1150" b="1">
                <a:solidFill>
                  <a:srgbClr val="F8FAFC"/>
                </a:solidFill>
                <a:latin typeface="Segoe UI"/>
              </a:defRPr>
            </a:pPr>
            <a:r>
              <a:t>Hot Water / Steam</a:t>
            </a:r>
          </a:p>
          <a:p>
            <a:pPr>
              <a:spcBef>
                <a:spcPts val="200"/>
              </a:spcBef>
              <a:defRPr sz="900">
                <a:solidFill>
                  <a:srgbClr val="9CA9BD"/>
                </a:solidFill>
                <a:latin typeface="Segoe UI"/>
              </a:defRPr>
            </a:pPr>
            <a:r>
              <a:t>Field utility hot water generation, snow-to-water conversion, sanitation.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33688" y="1920240"/>
            <a:ext cx="2514600" cy="1874519"/>
          </a:xfrm>
          <a:prstGeom prst="roundRect">
            <a:avLst/>
          </a:prstGeom>
          <a:solidFill>
            <a:srgbClr val="111929"/>
          </a:solidFill>
          <a:ln w="12700">
            <a:solidFill>
              <a:srgbClr val="2633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006840" y="1920240"/>
            <a:ext cx="2368296" cy="32004"/>
          </a:xfrm>
          <a:prstGeom prst="rect">
            <a:avLst/>
          </a:prstGeom>
          <a:solidFill>
            <a:srgbClr val="E6B9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79992" y="2029968"/>
            <a:ext cx="2221992" cy="167335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800" b="1">
                <a:solidFill>
                  <a:srgbClr val="E6B944"/>
                </a:solidFill>
                <a:latin typeface="Consolas"/>
              </a:defRPr>
            </a:pPr>
            <a:r>
              <a:t>DOMAIN #04</a:t>
            </a:r>
          </a:p>
          <a:p>
            <a:pPr>
              <a:spcAft>
                <a:spcPts val="300"/>
              </a:spcAft>
              <a:defRPr sz="1150" b="1">
                <a:solidFill>
                  <a:srgbClr val="F8FAFC"/>
                </a:solidFill>
                <a:latin typeface="Segoe UI"/>
              </a:defRPr>
            </a:pPr>
            <a:r>
              <a:t>Temporary Heating</a:t>
            </a:r>
          </a:p>
          <a:p>
            <a:pPr>
              <a:spcBef>
                <a:spcPts val="200"/>
              </a:spcBef>
              <a:defRPr sz="900">
                <a:solidFill>
                  <a:srgbClr val="9CA9BD"/>
                </a:solidFill>
                <a:latin typeface="Segoe UI"/>
              </a:defRPr>
            </a:pPr>
            <a:r>
              <a:t>Bivouac shelters, observation posts, forward operational living pods.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4050791"/>
            <a:ext cx="2514600" cy="1874519"/>
          </a:xfrm>
          <a:prstGeom prst="roundRect">
            <a:avLst/>
          </a:prstGeom>
          <a:solidFill>
            <a:srgbClr val="111929"/>
          </a:solidFill>
          <a:ln w="12700">
            <a:solidFill>
              <a:srgbClr val="2633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4672" y="4050791"/>
            <a:ext cx="2368296" cy="32004"/>
          </a:xfrm>
          <a:prstGeom prst="rect">
            <a:avLst/>
          </a:prstGeom>
          <a:solidFill>
            <a:srgbClr val="E6B9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77824" y="4160520"/>
            <a:ext cx="2221992" cy="167335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800" b="1">
                <a:solidFill>
                  <a:srgbClr val="E6B944"/>
                </a:solidFill>
                <a:latin typeface="Consolas"/>
              </a:defRPr>
            </a:pPr>
            <a:r>
              <a:t>DOMAIN #05</a:t>
            </a:r>
          </a:p>
          <a:p>
            <a:pPr>
              <a:spcAft>
                <a:spcPts val="300"/>
              </a:spcAft>
              <a:defRPr sz="1150" b="1">
                <a:solidFill>
                  <a:srgbClr val="F8FAFC"/>
                </a:solidFill>
                <a:latin typeface="Segoe UI"/>
              </a:defRPr>
            </a:pPr>
            <a:r>
              <a:t>Field Medical</a:t>
            </a:r>
          </a:p>
          <a:p>
            <a:pPr>
              <a:spcBef>
                <a:spcPts val="200"/>
              </a:spcBef>
              <a:defRPr sz="900">
                <a:solidFill>
                  <a:srgbClr val="9CA9BD"/>
                </a:solidFill>
                <a:latin typeface="Segoe UI"/>
              </a:defRPr>
            </a:pPr>
            <a:r>
              <a:t>Thermal workflows for casualty care, hypothermia treatment, IV warming.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465576" y="4050791"/>
            <a:ext cx="2514600" cy="1874519"/>
          </a:xfrm>
          <a:prstGeom prst="roundRect">
            <a:avLst/>
          </a:prstGeom>
          <a:solidFill>
            <a:srgbClr val="111929"/>
          </a:solidFill>
          <a:ln w="12700">
            <a:solidFill>
              <a:srgbClr val="2633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538728" y="4050791"/>
            <a:ext cx="2368296" cy="32004"/>
          </a:xfrm>
          <a:prstGeom prst="rect">
            <a:avLst/>
          </a:prstGeom>
          <a:solidFill>
            <a:srgbClr val="E6B9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11880" y="4160520"/>
            <a:ext cx="2221992" cy="167335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800" b="1">
                <a:solidFill>
                  <a:srgbClr val="E6B944"/>
                </a:solidFill>
                <a:latin typeface="Consolas"/>
              </a:defRPr>
            </a:pPr>
            <a:r>
              <a:t>DOMAIN #06</a:t>
            </a:r>
          </a:p>
          <a:p>
            <a:pPr>
              <a:spcAft>
                <a:spcPts val="300"/>
              </a:spcAft>
              <a:defRPr sz="1150" b="1">
                <a:solidFill>
                  <a:srgbClr val="F8FAFC"/>
                </a:solidFill>
                <a:latin typeface="Segoe UI"/>
              </a:defRPr>
            </a:pPr>
            <a:r>
              <a:t>Equipment Drying</a:t>
            </a:r>
          </a:p>
          <a:p>
            <a:pPr>
              <a:spcBef>
                <a:spcPts val="200"/>
              </a:spcBef>
              <a:defRPr sz="900">
                <a:solidFill>
                  <a:srgbClr val="9CA9BD"/>
                </a:solidFill>
                <a:latin typeface="Segoe UI"/>
              </a:defRPr>
            </a:pPr>
            <a:r>
              <a:t>Tactical gear drying, weapon de-icing, moisture mitigation in freezing zones.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99632" y="4050791"/>
            <a:ext cx="2514600" cy="1874519"/>
          </a:xfrm>
          <a:prstGeom prst="roundRect">
            <a:avLst/>
          </a:prstGeom>
          <a:solidFill>
            <a:srgbClr val="111929"/>
          </a:solidFill>
          <a:ln w="12700">
            <a:solidFill>
              <a:srgbClr val="2633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72784" y="4050791"/>
            <a:ext cx="2368296" cy="32004"/>
          </a:xfrm>
          <a:prstGeom prst="rect">
            <a:avLst/>
          </a:prstGeom>
          <a:solidFill>
            <a:srgbClr val="E6B9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45936" y="4160520"/>
            <a:ext cx="2221992" cy="167335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800" b="1">
                <a:solidFill>
                  <a:srgbClr val="E6B944"/>
                </a:solidFill>
                <a:latin typeface="Consolas"/>
              </a:defRPr>
            </a:pPr>
            <a:r>
              <a:t>DOMAIN #07</a:t>
            </a:r>
          </a:p>
          <a:p>
            <a:pPr>
              <a:spcAft>
                <a:spcPts val="300"/>
              </a:spcAft>
              <a:defRPr sz="1150" b="1">
                <a:solidFill>
                  <a:srgbClr val="F8FAFC"/>
                </a:solidFill>
                <a:latin typeface="Segoe UI"/>
              </a:defRPr>
            </a:pPr>
            <a:r>
              <a:t>Cold-Weather Mobility</a:t>
            </a:r>
          </a:p>
          <a:p>
            <a:pPr>
              <a:spcBef>
                <a:spcPts val="200"/>
              </a:spcBef>
              <a:defRPr sz="900">
                <a:solidFill>
                  <a:srgbClr val="9CA9BD"/>
                </a:solidFill>
                <a:latin typeface="Segoe UI"/>
              </a:defRPr>
            </a:pPr>
            <a:r>
              <a:t>Battery pre-heating, UAV sub-systems, vehicle component readiness.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933688" y="4050791"/>
            <a:ext cx="2514600" cy="1874519"/>
          </a:xfrm>
          <a:prstGeom prst="roundRect">
            <a:avLst/>
          </a:prstGeom>
          <a:solidFill>
            <a:srgbClr val="111929"/>
          </a:solidFill>
          <a:ln w="12700">
            <a:solidFill>
              <a:srgbClr val="2633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006840" y="4050791"/>
            <a:ext cx="2368296" cy="32004"/>
          </a:xfrm>
          <a:prstGeom prst="rect">
            <a:avLst/>
          </a:prstGeom>
          <a:solidFill>
            <a:srgbClr val="E6B9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079992" y="4160520"/>
            <a:ext cx="2221992" cy="167335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800" b="1">
                <a:solidFill>
                  <a:srgbClr val="E6B944"/>
                </a:solidFill>
                <a:latin typeface="Consolas"/>
              </a:defRPr>
            </a:pPr>
            <a:r>
              <a:t>DOMAIN #08</a:t>
            </a:r>
          </a:p>
          <a:p>
            <a:pPr>
              <a:spcAft>
                <a:spcPts val="300"/>
              </a:spcAft>
              <a:defRPr sz="1150" b="1">
                <a:solidFill>
                  <a:srgbClr val="F8FAFC"/>
                </a:solidFill>
                <a:latin typeface="Segoe UI"/>
              </a:defRPr>
            </a:pPr>
            <a:r>
              <a:t>Emergency SAR</a:t>
            </a:r>
          </a:p>
          <a:p>
            <a:pPr>
              <a:spcBef>
                <a:spcPts val="200"/>
              </a:spcBef>
              <a:defRPr sz="900">
                <a:solidFill>
                  <a:srgbClr val="9CA9BD"/>
                </a:solidFill>
                <a:latin typeface="Segoe UI"/>
              </a:defRPr>
            </a:pPr>
            <a:r>
              <a:t>Disaster response, avalanche search &amp; rescue, humanitarian mission thermal kits.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6B9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914400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 b="1">
                <a:solidFill>
                  <a:srgbClr val="E6B944"/>
                </a:solidFill>
                <a:latin typeface="Consolas"/>
              </a:defRPr>
            </a:pPr>
            <a:r>
              <a:t>//  PERFORMANCE ENVELOPE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"/>
            <a:ext cx="100584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  <a:latin typeface="Segoe UI"/>
              </a:defRPr>
            </a:pPr>
            <a:r>
              <a:t>Selected Figures from Current Development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61872"/>
            <a:ext cx="1645920" cy="36576"/>
          </a:xfrm>
          <a:prstGeom prst="rect">
            <a:avLst/>
          </a:prstGeom>
          <a:solidFill>
            <a:srgbClr val="E6B9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0" y="365760"/>
            <a:ext cx="3047695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850">
                <a:solidFill>
                  <a:srgbClr val="64748B"/>
                </a:solidFill>
                <a:latin typeface="Consolas"/>
              </a:defRPr>
            </a:pPr>
            <a:r>
              <a:t>DEFENCE STRATEGIC BRIEFING  |  09 / 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510528"/>
            <a:ext cx="10728655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750">
                <a:solidFill>
                  <a:srgbClr val="64748B"/>
                </a:solidFill>
                <a:latin typeface="Consolas"/>
              </a:defRPr>
            </a:pPr>
            <a:r>
              <a:t>HEATBOLT THERMAL PLATFORM  •  RESTRICTED OPERATIONAL ASSESSMENT  •  CONFIDENTIAL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645920"/>
            <a:ext cx="2514600" cy="3108960"/>
          </a:xfrm>
          <a:prstGeom prst="roundRect">
            <a:avLst/>
          </a:prstGeom>
          <a:solidFill>
            <a:srgbClr val="111929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" y="1645920"/>
            <a:ext cx="2331720" cy="36576"/>
          </a:xfrm>
          <a:prstGeom prst="rect">
            <a:avLst/>
          </a:prstGeom>
          <a:solidFill>
            <a:srgbClr val="E6B9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011680"/>
            <a:ext cx="2240280" cy="2377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1200"/>
              </a:spcAft>
              <a:defRPr sz="3600" b="1">
                <a:solidFill>
                  <a:srgbClr val="E6B944"/>
                </a:solidFill>
                <a:latin typeface="Segoe UI"/>
              </a:defRPr>
            </a:pPr>
            <a:r>
              <a:t>100°C</a:t>
            </a:r>
          </a:p>
          <a:p>
            <a:pPr algn="ctr">
              <a:spcAft>
                <a:spcPts val="800"/>
              </a:spcAft>
              <a:defRPr sz="1200" b="1">
                <a:solidFill>
                  <a:srgbClr val="F8FAFC"/>
                </a:solidFill>
                <a:latin typeface="Segoe UI"/>
              </a:defRPr>
            </a:pPr>
            <a:r>
              <a:t>Peak Thermal Output</a:t>
            </a:r>
          </a:p>
          <a:p>
            <a:pPr algn="ctr">
              <a:defRPr sz="950">
                <a:solidFill>
                  <a:srgbClr val="9CA9BD"/>
                </a:solidFill>
                <a:latin typeface="Segoe UI"/>
              </a:defRPr>
            </a:pPr>
            <a:r>
              <a:t>Selected high-performance configurations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65576" y="1645920"/>
            <a:ext cx="2514600" cy="3108960"/>
          </a:xfrm>
          <a:prstGeom prst="roundRect">
            <a:avLst/>
          </a:prstGeom>
          <a:solidFill>
            <a:srgbClr val="111929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557016" y="1645920"/>
            <a:ext cx="2331720" cy="36576"/>
          </a:xfrm>
          <a:prstGeom prst="rect">
            <a:avLst/>
          </a:prstGeom>
          <a:solidFill>
            <a:srgbClr val="E6B9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02736" y="2011680"/>
            <a:ext cx="2240280" cy="2377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1200"/>
              </a:spcAft>
              <a:defRPr sz="3600" b="1">
                <a:solidFill>
                  <a:srgbClr val="E6B944"/>
                </a:solidFill>
                <a:latin typeface="Segoe UI"/>
              </a:defRPr>
            </a:pPr>
            <a:r>
              <a:t>&lt; 30s</a:t>
            </a:r>
          </a:p>
          <a:p>
            <a:pPr algn="ctr">
              <a:spcAft>
                <a:spcPts val="800"/>
              </a:spcAft>
              <a:defRPr sz="1200" b="1">
                <a:solidFill>
                  <a:srgbClr val="F8FAFC"/>
                </a:solidFill>
                <a:latin typeface="Segoe UI"/>
              </a:defRPr>
            </a:pPr>
            <a:r>
              <a:t>Activation Latency</a:t>
            </a:r>
          </a:p>
          <a:p>
            <a:pPr algn="ctr">
              <a:defRPr sz="950">
                <a:solidFill>
                  <a:srgbClr val="9CA9BD"/>
                </a:solidFill>
                <a:latin typeface="Segoe UI"/>
              </a:defRPr>
            </a:pPr>
            <a:r>
              <a:t>Approximate rapid-response trigger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99632" y="1645920"/>
            <a:ext cx="2514600" cy="3108960"/>
          </a:xfrm>
          <a:prstGeom prst="roundRect">
            <a:avLst/>
          </a:prstGeom>
          <a:solidFill>
            <a:srgbClr val="111929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91072" y="1645920"/>
            <a:ext cx="2331720" cy="36576"/>
          </a:xfrm>
          <a:prstGeom prst="rect">
            <a:avLst/>
          </a:prstGeom>
          <a:solidFill>
            <a:srgbClr val="E6B9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36792" y="2011680"/>
            <a:ext cx="2240280" cy="2377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1200"/>
              </a:spcAft>
              <a:defRPr sz="3600" b="1">
                <a:solidFill>
                  <a:srgbClr val="E6B944"/>
                </a:solidFill>
                <a:latin typeface="Segoe UI"/>
              </a:defRPr>
            </a:pPr>
            <a:r>
              <a:t>45 min</a:t>
            </a:r>
          </a:p>
          <a:p>
            <a:pPr algn="ctr">
              <a:spcAft>
                <a:spcPts val="800"/>
              </a:spcAft>
              <a:defRPr sz="1200" b="1">
                <a:solidFill>
                  <a:srgbClr val="F8FAFC"/>
                </a:solidFill>
                <a:latin typeface="Segoe UI"/>
              </a:defRPr>
            </a:pPr>
            <a:r>
              <a:t>Active Thermal Duration</a:t>
            </a:r>
          </a:p>
          <a:p>
            <a:pPr algn="ctr">
              <a:defRPr sz="950">
                <a:solidFill>
                  <a:srgbClr val="9CA9BD"/>
                </a:solidFill>
                <a:latin typeface="Segoe UI"/>
              </a:defRPr>
            </a:pPr>
            <a:r>
              <a:t>Standard military operational envelope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33688" y="1645920"/>
            <a:ext cx="2514600" cy="3108960"/>
          </a:xfrm>
          <a:prstGeom prst="roundRect">
            <a:avLst/>
          </a:prstGeom>
          <a:solidFill>
            <a:srgbClr val="111929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025128" y="1645920"/>
            <a:ext cx="2331720" cy="36576"/>
          </a:xfrm>
          <a:prstGeom prst="rect">
            <a:avLst/>
          </a:prstGeom>
          <a:solidFill>
            <a:srgbClr val="E6B9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70848" y="2011680"/>
            <a:ext cx="2240280" cy="2377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1200"/>
              </a:spcAft>
              <a:defRPr sz="3600" b="1">
                <a:solidFill>
                  <a:srgbClr val="E6B944"/>
                </a:solidFill>
                <a:latin typeface="Segoe UI"/>
              </a:defRPr>
            </a:pPr>
            <a:r>
              <a:t>60°C / 3h</a:t>
            </a:r>
          </a:p>
          <a:p>
            <a:pPr algn="ctr">
              <a:spcAft>
                <a:spcPts val="800"/>
              </a:spcAft>
              <a:defRPr sz="1200" b="1">
                <a:solidFill>
                  <a:srgbClr val="F8FAFC"/>
                </a:solidFill>
                <a:latin typeface="Segoe UI"/>
              </a:defRPr>
            </a:pPr>
            <a:r>
              <a:t>Extended Warmth Profile</a:t>
            </a:r>
          </a:p>
          <a:p>
            <a:pPr algn="ctr">
              <a:defRPr sz="950">
                <a:solidFill>
                  <a:srgbClr val="9CA9BD"/>
                </a:solidFill>
                <a:latin typeface="Segoe UI"/>
              </a:defRPr>
            </a:pPr>
            <a:r>
              <a:t>Casualty transport &amp; survival configuration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5120640"/>
            <a:ext cx="10728655" cy="1051560"/>
          </a:xfrm>
          <a:prstGeom prst="roundRect">
            <a:avLst/>
          </a:prstGeom>
          <a:solidFill>
            <a:srgbClr val="16130E"/>
          </a:solidFill>
          <a:ln w="12700">
            <a:solidFill>
              <a:srgbClr val="644B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1520" y="5175503"/>
            <a:ext cx="45720" cy="941831"/>
          </a:xfrm>
          <a:prstGeom prst="rect">
            <a:avLst/>
          </a:prstGeom>
          <a:solidFill>
            <a:srgbClr val="E6B9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96112" y="5212079"/>
            <a:ext cx="1045433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950">
                <a:solidFill>
                  <a:srgbClr val="E6B944"/>
                </a:solidFill>
                <a:latin typeface="Segoe UI"/>
              </a:rPr>
              <a:t>QUALIFICATION MANDATE —  </a:t>
            </a:r>
            <a:r>
              <a:rPr sz="900">
                <a:solidFill>
                  <a:srgbClr val="9CA9BD"/>
                </a:solidFill>
                <a:latin typeface="Segoe UI"/>
              </a:rPr>
              <a:t>Performance figures reflect developmental laboratory envelopes. Output kinetics vary with formulation density, water volume, packaging geometry, payload thermal conductivity, ambient sub-zero temperature, and wind chill. Every Defence application undergoes rigorous mil-spec qualification.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6B9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914400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 b="1">
                <a:solidFill>
                  <a:srgbClr val="E6B944"/>
                </a:solidFill>
                <a:latin typeface="Consolas"/>
              </a:defRPr>
            </a:pPr>
            <a:r>
              <a:t>//  SECTION 03 // MISSION CAPABILITIES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"/>
            <a:ext cx="100584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  <a:latin typeface="Segoe UI"/>
              </a:defRPr>
            </a:pPr>
            <a:r>
              <a:t>From Product to Soldier Capability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61872"/>
            <a:ext cx="1645920" cy="36576"/>
          </a:xfrm>
          <a:prstGeom prst="rect">
            <a:avLst/>
          </a:prstGeom>
          <a:solidFill>
            <a:srgbClr val="E6B9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0" y="365760"/>
            <a:ext cx="3047695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850">
                <a:solidFill>
                  <a:srgbClr val="64748B"/>
                </a:solidFill>
                <a:latin typeface="Consolas"/>
              </a:defRPr>
            </a:pPr>
            <a:r>
              <a:t>DEFENCE STRATEGIC BRIEFING  |  10 / 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510528"/>
            <a:ext cx="10728655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750">
                <a:solidFill>
                  <a:srgbClr val="64748B"/>
                </a:solidFill>
                <a:latin typeface="Consolas"/>
              </a:defRPr>
            </a:pPr>
            <a:r>
              <a:t>HEATBOLT THERMAL PLATFORM  •  RESTRICTED OPERATIONAL ASSESSMENT  •  CONFIDENTIAL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645920"/>
            <a:ext cx="10728655" cy="4389120"/>
          </a:xfrm>
          <a:prstGeom prst="roundRect">
            <a:avLst/>
          </a:prstGeom>
          <a:solidFill>
            <a:srgbClr val="111929"/>
          </a:solidFill>
          <a:ln w="12700">
            <a:solidFill>
              <a:srgbClr val="2633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2103120"/>
            <a:ext cx="9784080" cy="3474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E6B944"/>
                </a:solidFill>
                <a:latin typeface="Consolas"/>
              </a:defRPr>
            </a:pPr>
            <a:r>
              <a:t>MISSION-ALIGNED DEFENCE SOLUTIONS</a:t>
            </a:r>
          </a:p>
          <a:p>
            <a:pPr>
              <a:spcAft>
                <a:spcPts val="1600"/>
              </a:spcAft>
              <a:defRPr sz="2200" b="1">
                <a:solidFill>
                  <a:srgbClr val="F8FAFC"/>
                </a:solidFill>
                <a:latin typeface="Segoe UI"/>
              </a:defRPr>
            </a:pPr>
            <a:r>
              <a:t>Ten mission-aligned use cases — each engineered toward rigorous military qualification, not mere laboratory demonstration.</a:t>
            </a:r>
          </a:p>
          <a:p>
            <a:pPr>
              <a:defRPr sz="1200">
                <a:solidFill>
                  <a:srgbClr val="9CA9BD"/>
                </a:solidFill>
                <a:latin typeface="Segoe UI"/>
              </a:defRPr>
            </a:pPr>
            <a:r>
              <a:t>Heatbolt translates fundamental chemical thermodynamics into practical soldier-centric kits.</a:t>
            </a:r>
            <a:br/>
            <a:br/>
            <a:r>
              <a:t>From extreme glacial combat at -40°C on the Siachen glacier to rapid forward triage casualty evacuation, Heatbolt creates modular capability that integrates directly into existing defence procurement specifications.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6B9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914400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 b="1">
                <a:solidFill>
                  <a:srgbClr val="E6B944"/>
                </a:solidFill>
                <a:latin typeface="Consolas"/>
              </a:defRPr>
            </a:pPr>
            <a:r>
              <a:t>//  MISSION USE CASES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"/>
            <a:ext cx="100584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  <a:latin typeface="Segoe UI"/>
              </a:defRPr>
            </a:pPr>
            <a:r>
              <a:t>Ten Use Cases. One Core Platform.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61872"/>
            <a:ext cx="1645920" cy="36576"/>
          </a:xfrm>
          <a:prstGeom prst="rect">
            <a:avLst/>
          </a:prstGeom>
          <a:solidFill>
            <a:srgbClr val="E6B9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0" y="365760"/>
            <a:ext cx="3047695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850">
                <a:solidFill>
                  <a:srgbClr val="64748B"/>
                </a:solidFill>
                <a:latin typeface="Consolas"/>
              </a:defRPr>
            </a:pPr>
            <a:r>
              <a:t>DEFENCE STRATEGIC BRIEFING  |  11 / 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510528"/>
            <a:ext cx="10728655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750">
                <a:solidFill>
                  <a:srgbClr val="64748B"/>
                </a:solidFill>
                <a:latin typeface="Consolas"/>
              </a:defRPr>
            </a:pPr>
            <a:r>
              <a:t>HEATBOLT THERMAL PLATFORM  •  RESTRICTED OPERATIONAL ASSESSMENT  •  CONFIDENTIAL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645920"/>
            <a:ext cx="2011680" cy="1920240"/>
          </a:xfrm>
          <a:prstGeom prst="roundRect">
            <a:avLst/>
          </a:prstGeom>
          <a:solidFill>
            <a:srgbClr val="111929"/>
          </a:solidFill>
          <a:ln w="12700">
            <a:solidFill>
              <a:srgbClr val="2633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04672" y="1645920"/>
            <a:ext cx="1865376" cy="32004"/>
          </a:xfrm>
          <a:prstGeom prst="rect">
            <a:avLst/>
          </a:prstGeom>
          <a:solidFill>
            <a:srgbClr val="E6B9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7824" y="1755648"/>
            <a:ext cx="1719072" cy="17190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800" b="1">
                <a:solidFill>
                  <a:srgbClr val="E6B944"/>
                </a:solidFill>
                <a:latin typeface="Consolas"/>
              </a:defRPr>
            </a:pPr>
            <a:r>
              <a:t>USE CASE 01</a:t>
            </a:r>
          </a:p>
          <a:p>
            <a:pPr>
              <a:spcAft>
                <a:spcPts val="300"/>
              </a:spcAft>
              <a:defRPr sz="1050" b="1">
                <a:solidFill>
                  <a:srgbClr val="F8FAFC"/>
                </a:solidFill>
                <a:latin typeface="Segoe UI"/>
              </a:defRPr>
            </a:pPr>
            <a:r>
              <a:t>UC-01 Personal Thermal</a:t>
            </a:r>
          </a:p>
          <a:p>
            <a:pPr>
              <a:spcBef>
                <a:spcPts val="200"/>
              </a:spcBef>
              <a:defRPr sz="850">
                <a:solidFill>
                  <a:srgbClr val="9CA9BD"/>
                </a:solidFill>
                <a:latin typeface="Segoe UI"/>
              </a:defRPr>
            </a:pPr>
            <a:r>
              <a:t>Body warmers, survival packs, heated gloves/jackets for prolonged sub-zero sentry watch.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07792" y="1645920"/>
            <a:ext cx="2011680" cy="1920240"/>
          </a:xfrm>
          <a:prstGeom prst="roundRect">
            <a:avLst/>
          </a:prstGeom>
          <a:solidFill>
            <a:srgbClr val="111929"/>
          </a:solidFill>
          <a:ln w="12700">
            <a:solidFill>
              <a:srgbClr val="2633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980944" y="1645920"/>
            <a:ext cx="1865376" cy="32004"/>
          </a:xfrm>
          <a:prstGeom prst="rect">
            <a:avLst/>
          </a:prstGeom>
          <a:solidFill>
            <a:srgbClr val="E6B9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54096" y="1755648"/>
            <a:ext cx="1719072" cy="17190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800" b="1">
                <a:solidFill>
                  <a:srgbClr val="E6B944"/>
                </a:solidFill>
                <a:latin typeface="Consolas"/>
              </a:defRPr>
            </a:pPr>
            <a:r>
              <a:t>USE CASE 02</a:t>
            </a:r>
          </a:p>
          <a:p>
            <a:pPr>
              <a:spcAft>
                <a:spcPts val="300"/>
              </a:spcAft>
              <a:defRPr sz="1050" b="1">
                <a:solidFill>
                  <a:srgbClr val="F8FAFC"/>
                </a:solidFill>
                <a:latin typeface="Segoe UI"/>
              </a:defRPr>
            </a:pPr>
            <a:r>
              <a:t>UC-02 Field Food &amp; Beverages</a:t>
            </a:r>
          </a:p>
          <a:p>
            <a:pPr>
              <a:spcBef>
                <a:spcPts val="200"/>
              </a:spcBef>
              <a:defRPr sz="850">
                <a:solidFill>
                  <a:srgbClr val="9CA9BD"/>
                </a:solidFill>
                <a:latin typeface="Segoe UI"/>
              </a:defRPr>
            </a:pPr>
            <a:r>
              <a:t>Flameless self-heating of combat rations (RTE/RTC meals), tea, coffee, and clean hot water.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84064" y="1645920"/>
            <a:ext cx="2011680" cy="1920240"/>
          </a:xfrm>
          <a:prstGeom prst="roundRect">
            <a:avLst/>
          </a:prstGeom>
          <a:solidFill>
            <a:srgbClr val="111929"/>
          </a:solidFill>
          <a:ln w="12700">
            <a:solidFill>
              <a:srgbClr val="2633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157216" y="1645920"/>
            <a:ext cx="1865376" cy="32004"/>
          </a:xfrm>
          <a:prstGeom prst="rect">
            <a:avLst/>
          </a:prstGeom>
          <a:solidFill>
            <a:srgbClr val="E6B9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30368" y="1755648"/>
            <a:ext cx="1719072" cy="17190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800" b="1">
                <a:solidFill>
                  <a:srgbClr val="E6B944"/>
                </a:solidFill>
                <a:latin typeface="Consolas"/>
              </a:defRPr>
            </a:pPr>
            <a:r>
              <a:t>USE CASE 03</a:t>
            </a:r>
          </a:p>
          <a:p>
            <a:pPr>
              <a:spcAft>
                <a:spcPts val="300"/>
              </a:spcAft>
              <a:defRPr sz="1050" b="1">
                <a:solidFill>
                  <a:srgbClr val="F8FAFC"/>
                </a:solidFill>
                <a:latin typeface="Segoe UI"/>
              </a:defRPr>
            </a:pPr>
            <a:r>
              <a:t>UC-03 High-Altitude Glacial</a:t>
            </a:r>
          </a:p>
          <a:p>
            <a:pPr>
              <a:spcBef>
                <a:spcPts val="200"/>
              </a:spcBef>
              <a:defRPr sz="850">
                <a:solidFill>
                  <a:srgbClr val="9CA9BD"/>
                </a:solidFill>
                <a:latin typeface="Segoe UI"/>
              </a:defRPr>
            </a:pPr>
            <a:r>
              <a:t>Warming, hot hydration, shelter heating, gear drying, and continuous snow melting.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260336" y="1645920"/>
            <a:ext cx="2011680" cy="1920240"/>
          </a:xfrm>
          <a:prstGeom prst="roundRect">
            <a:avLst/>
          </a:prstGeom>
          <a:solidFill>
            <a:srgbClr val="111929"/>
          </a:solidFill>
          <a:ln w="12700">
            <a:solidFill>
              <a:srgbClr val="2633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333488" y="1645920"/>
            <a:ext cx="1865376" cy="32004"/>
          </a:xfrm>
          <a:prstGeom prst="rect">
            <a:avLst/>
          </a:prstGeom>
          <a:solidFill>
            <a:srgbClr val="E6B9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06640" y="1755648"/>
            <a:ext cx="1719072" cy="17190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800" b="1">
                <a:solidFill>
                  <a:srgbClr val="E6B944"/>
                </a:solidFill>
                <a:latin typeface="Consolas"/>
              </a:defRPr>
            </a:pPr>
            <a:r>
              <a:t>USE CASE 04</a:t>
            </a:r>
          </a:p>
          <a:p>
            <a:pPr>
              <a:spcAft>
                <a:spcPts val="300"/>
              </a:spcAft>
              <a:defRPr sz="1050" b="1">
                <a:solidFill>
                  <a:srgbClr val="F8FAFC"/>
                </a:solidFill>
                <a:latin typeface="Segoe UI"/>
              </a:defRPr>
            </a:pPr>
            <a:r>
              <a:t>UC-04 Ice &amp; Snow Management</a:t>
            </a:r>
          </a:p>
          <a:p>
            <a:pPr>
              <a:spcBef>
                <a:spcPts val="200"/>
              </a:spcBef>
              <a:defRPr sz="850">
                <a:solidFill>
                  <a:srgbClr val="9CA9BD"/>
                </a:solidFill>
                <a:latin typeface="Segoe UI"/>
              </a:defRPr>
            </a:pPr>
            <a:r>
              <a:t>Localised melting, clearing frozen weapon mounts, optics, and locked access-points.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436608" y="1645920"/>
            <a:ext cx="2011680" cy="1920240"/>
          </a:xfrm>
          <a:prstGeom prst="roundRect">
            <a:avLst/>
          </a:prstGeom>
          <a:solidFill>
            <a:srgbClr val="111929"/>
          </a:solidFill>
          <a:ln w="12700">
            <a:solidFill>
              <a:srgbClr val="2633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509760" y="1645920"/>
            <a:ext cx="1865376" cy="32004"/>
          </a:xfrm>
          <a:prstGeom prst="rect">
            <a:avLst/>
          </a:prstGeom>
          <a:solidFill>
            <a:srgbClr val="E6B9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582912" y="1755648"/>
            <a:ext cx="1719072" cy="17190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800" b="1">
                <a:solidFill>
                  <a:srgbClr val="E6B944"/>
                </a:solidFill>
                <a:latin typeface="Consolas"/>
              </a:defRPr>
            </a:pPr>
            <a:r>
              <a:t>USE CASE 05</a:t>
            </a:r>
          </a:p>
          <a:p>
            <a:pPr>
              <a:spcAft>
                <a:spcPts val="300"/>
              </a:spcAft>
              <a:defRPr sz="1050" b="1">
                <a:solidFill>
                  <a:srgbClr val="F8FAFC"/>
                </a:solidFill>
                <a:latin typeface="Segoe UI"/>
              </a:defRPr>
            </a:pPr>
            <a:r>
              <a:t>UC-05 Field Medical Support</a:t>
            </a:r>
          </a:p>
          <a:p>
            <a:pPr>
              <a:spcBef>
                <a:spcPts val="200"/>
              </a:spcBef>
              <a:defRPr sz="850">
                <a:solidFill>
                  <a:srgbClr val="9CA9BD"/>
                </a:solidFill>
                <a:latin typeface="Segoe UI"/>
              </a:defRPr>
            </a:pPr>
            <a:r>
              <a:t>Casualty transport hypothermia prevention, warm IV fluids, and field sterilisation.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3840480"/>
            <a:ext cx="2011680" cy="1920240"/>
          </a:xfrm>
          <a:prstGeom prst="roundRect">
            <a:avLst/>
          </a:prstGeom>
          <a:solidFill>
            <a:srgbClr val="111929"/>
          </a:solidFill>
          <a:ln w="12700">
            <a:solidFill>
              <a:srgbClr val="2633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04672" y="3840480"/>
            <a:ext cx="1865376" cy="32004"/>
          </a:xfrm>
          <a:prstGeom prst="rect">
            <a:avLst/>
          </a:prstGeom>
          <a:solidFill>
            <a:srgbClr val="E6B9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77824" y="3950208"/>
            <a:ext cx="1719072" cy="17190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800" b="1">
                <a:solidFill>
                  <a:srgbClr val="E6B944"/>
                </a:solidFill>
                <a:latin typeface="Consolas"/>
              </a:defRPr>
            </a:pPr>
            <a:r>
              <a:t>USE CASE 06</a:t>
            </a:r>
          </a:p>
          <a:p>
            <a:pPr>
              <a:spcAft>
                <a:spcPts val="300"/>
              </a:spcAft>
              <a:defRPr sz="1050" b="1">
                <a:solidFill>
                  <a:srgbClr val="F8FAFC"/>
                </a:solidFill>
                <a:latin typeface="Segoe UI"/>
              </a:defRPr>
            </a:pPr>
            <a:r>
              <a:t>UC-06 Temporary Shelters</a:t>
            </a:r>
          </a:p>
          <a:p>
            <a:pPr>
              <a:spcBef>
                <a:spcPts val="200"/>
              </a:spcBef>
              <a:defRPr sz="850">
                <a:solidFill>
                  <a:srgbClr val="9CA9BD"/>
                </a:solidFill>
                <a:latin typeface="Segoe UI"/>
              </a:defRPr>
            </a:pPr>
            <a:r>
              <a:t>Rapid emergency heating for tactical bivouacs, alpine shelters, and forward command posts.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907792" y="3840480"/>
            <a:ext cx="2011680" cy="1920240"/>
          </a:xfrm>
          <a:prstGeom prst="roundRect">
            <a:avLst/>
          </a:prstGeom>
          <a:solidFill>
            <a:srgbClr val="111929"/>
          </a:solidFill>
          <a:ln w="12700">
            <a:solidFill>
              <a:srgbClr val="2633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980944" y="3840480"/>
            <a:ext cx="1865376" cy="32004"/>
          </a:xfrm>
          <a:prstGeom prst="rect">
            <a:avLst/>
          </a:prstGeom>
          <a:solidFill>
            <a:srgbClr val="E6B9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054096" y="3950208"/>
            <a:ext cx="1719072" cy="17190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800" b="1">
                <a:solidFill>
                  <a:srgbClr val="E6B944"/>
                </a:solidFill>
                <a:latin typeface="Consolas"/>
              </a:defRPr>
            </a:pPr>
            <a:r>
              <a:t>USE CASE 07</a:t>
            </a:r>
          </a:p>
          <a:p>
            <a:pPr>
              <a:spcAft>
                <a:spcPts val="300"/>
              </a:spcAft>
              <a:defRPr sz="1050" b="1">
                <a:solidFill>
                  <a:srgbClr val="F8FAFC"/>
                </a:solidFill>
                <a:latin typeface="Segoe UI"/>
              </a:defRPr>
            </a:pPr>
            <a:r>
              <a:t>UC-07 Hygiene &amp; Sanitation</a:t>
            </a:r>
          </a:p>
          <a:p>
            <a:pPr>
              <a:spcBef>
                <a:spcPts val="200"/>
              </a:spcBef>
              <a:defRPr sz="850">
                <a:solidFill>
                  <a:srgbClr val="9CA9BD"/>
                </a:solidFill>
                <a:latin typeface="Segoe UI"/>
              </a:defRPr>
            </a:pPr>
            <a:r>
              <a:t>On-demand hot water, steam generation, field laundry, and decontamination stations.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84064" y="3840480"/>
            <a:ext cx="2011680" cy="1920240"/>
          </a:xfrm>
          <a:prstGeom prst="roundRect">
            <a:avLst/>
          </a:prstGeom>
          <a:solidFill>
            <a:srgbClr val="111929"/>
          </a:solidFill>
          <a:ln w="12700">
            <a:solidFill>
              <a:srgbClr val="2633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157216" y="3840480"/>
            <a:ext cx="1865376" cy="32004"/>
          </a:xfrm>
          <a:prstGeom prst="rect">
            <a:avLst/>
          </a:prstGeom>
          <a:solidFill>
            <a:srgbClr val="E6B9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230368" y="3950208"/>
            <a:ext cx="1719072" cy="17190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800" b="1">
                <a:solidFill>
                  <a:srgbClr val="E6B944"/>
                </a:solidFill>
                <a:latin typeface="Consolas"/>
              </a:defRPr>
            </a:pPr>
            <a:r>
              <a:t>USE CASE 08</a:t>
            </a:r>
          </a:p>
          <a:p>
            <a:pPr>
              <a:spcAft>
                <a:spcPts val="300"/>
              </a:spcAft>
              <a:defRPr sz="1050" b="1">
                <a:solidFill>
                  <a:srgbClr val="F8FAFC"/>
                </a:solidFill>
                <a:latin typeface="Segoe UI"/>
              </a:defRPr>
            </a:pPr>
            <a:r>
              <a:t>UC-08 Equipment Maintenance</a:t>
            </a:r>
          </a:p>
          <a:p>
            <a:pPr>
              <a:spcBef>
                <a:spcPts val="200"/>
              </a:spcBef>
              <a:defRPr sz="850">
                <a:solidFill>
                  <a:srgbClr val="9CA9BD"/>
                </a:solidFill>
                <a:latin typeface="Segoe UI"/>
              </a:defRPr>
            </a:pPr>
            <a:r>
              <a:t>Weapon bore drying, vehicle engine block thawing, and frozen linkage recovery.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260336" y="3840480"/>
            <a:ext cx="2011680" cy="1920240"/>
          </a:xfrm>
          <a:prstGeom prst="roundRect">
            <a:avLst/>
          </a:prstGeom>
          <a:solidFill>
            <a:srgbClr val="111929"/>
          </a:solidFill>
          <a:ln w="12700">
            <a:solidFill>
              <a:srgbClr val="2633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333488" y="3840480"/>
            <a:ext cx="1865376" cy="32004"/>
          </a:xfrm>
          <a:prstGeom prst="rect">
            <a:avLst/>
          </a:prstGeom>
          <a:solidFill>
            <a:srgbClr val="E6B9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406640" y="3950208"/>
            <a:ext cx="1719072" cy="17190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800" b="1">
                <a:solidFill>
                  <a:srgbClr val="E6B944"/>
                </a:solidFill>
                <a:latin typeface="Consolas"/>
              </a:defRPr>
            </a:pPr>
            <a:r>
              <a:t>USE CASE 09</a:t>
            </a:r>
          </a:p>
          <a:p>
            <a:pPr>
              <a:spcAft>
                <a:spcPts val="300"/>
              </a:spcAft>
              <a:defRPr sz="1050" b="1">
                <a:solidFill>
                  <a:srgbClr val="F8FAFC"/>
                </a:solidFill>
                <a:latin typeface="Segoe UI"/>
              </a:defRPr>
            </a:pPr>
            <a:r>
              <a:t>UC-09 Aviation &amp; UAV Systems</a:t>
            </a:r>
          </a:p>
          <a:p>
            <a:pPr>
              <a:spcBef>
                <a:spcPts val="200"/>
              </a:spcBef>
              <a:defRPr sz="850">
                <a:solidFill>
                  <a:srgbClr val="9CA9BD"/>
                </a:solidFill>
                <a:latin typeface="Segoe UI"/>
              </a:defRPr>
            </a:pPr>
            <a:r>
              <a:t>Pre-flight surface de-icing and cold-weather UAV battery pre-heating support.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436608" y="3840480"/>
            <a:ext cx="2011680" cy="1920240"/>
          </a:xfrm>
          <a:prstGeom prst="roundRect">
            <a:avLst/>
          </a:prstGeom>
          <a:solidFill>
            <a:srgbClr val="111929"/>
          </a:solidFill>
          <a:ln w="12700">
            <a:solidFill>
              <a:srgbClr val="2633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509760" y="3840480"/>
            <a:ext cx="1865376" cy="32004"/>
          </a:xfrm>
          <a:prstGeom prst="rect">
            <a:avLst/>
          </a:prstGeom>
          <a:solidFill>
            <a:srgbClr val="E6B9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582912" y="3950208"/>
            <a:ext cx="1719072" cy="17190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800" b="1">
                <a:solidFill>
                  <a:srgbClr val="E6B944"/>
                </a:solidFill>
                <a:latin typeface="Consolas"/>
              </a:defRPr>
            </a:pPr>
            <a:r>
              <a:t>USE CASE 10</a:t>
            </a:r>
          </a:p>
          <a:p>
            <a:pPr>
              <a:spcAft>
                <a:spcPts val="300"/>
              </a:spcAft>
              <a:defRPr sz="1050" b="1">
                <a:solidFill>
                  <a:srgbClr val="F8FAFC"/>
                </a:solidFill>
                <a:latin typeface="Segoe UI"/>
              </a:defRPr>
            </a:pPr>
            <a:r>
              <a:t>UC-10 Search &amp; Rescue (SAR)</a:t>
            </a:r>
          </a:p>
          <a:p>
            <a:pPr>
              <a:spcBef>
                <a:spcPts val="200"/>
              </a:spcBef>
              <a:defRPr sz="850">
                <a:solidFill>
                  <a:srgbClr val="9CA9BD"/>
                </a:solidFill>
                <a:latin typeface="Segoe UI"/>
              </a:defRPr>
            </a:pPr>
            <a:r>
              <a:t>High-altitude disaster recovery, avalanche rescue thermal bags, and multi-agency response.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6B9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914400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 b="1">
                <a:solidFill>
                  <a:srgbClr val="E6B944"/>
                </a:solidFill>
                <a:latin typeface="Consolas"/>
              </a:defRPr>
            </a:pPr>
            <a:r>
              <a:t>//  THE SOLDIER-FIRST VISION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"/>
            <a:ext cx="100584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  <a:latin typeface="Segoe UI"/>
              </a:defRPr>
            </a:pPr>
            <a:r>
              <a:t>A Family of Mission-Ready Kits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61872"/>
            <a:ext cx="1645920" cy="36576"/>
          </a:xfrm>
          <a:prstGeom prst="rect">
            <a:avLst/>
          </a:prstGeom>
          <a:solidFill>
            <a:srgbClr val="E6B9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0" y="365760"/>
            <a:ext cx="3047695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850">
                <a:solidFill>
                  <a:srgbClr val="64748B"/>
                </a:solidFill>
                <a:latin typeface="Consolas"/>
              </a:defRPr>
            </a:pPr>
            <a:r>
              <a:t>DEFENCE STRATEGIC BRIEFING  |  12 / 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510528"/>
            <a:ext cx="10728655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750">
                <a:solidFill>
                  <a:srgbClr val="64748B"/>
                </a:solidFill>
                <a:latin typeface="Consolas"/>
              </a:defRPr>
            </a:pPr>
            <a:r>
              <a:t>HEATBOLT THERMAL PLATFORM  •  RESTRICTED OPERATIONAL ASSESSMENT  •  CONFIDENTIAL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645920"/>
            <a:ext cx="2514600" cy="4206240"/>
          </a:xfrm>
          <a:prstGeom prst="roundRect">
            <a:avLst/>
          </a:prstGeom>
          <a:solidFill>
            <a:srgbClr val="111929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" y="1645920"/>
            <a:ext cx="2331720" cy="36576"/>
          </a:xfrm>
          <a:prstGeom prst="rect">
            <a:avLst/>
          </a:prstGeom>
          <a:solidFill>
            <a:srgbClr val="E6B9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1828800"/>
            <a:ext cx="2185416" cy="374903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E6B944"/>
                </a:solidFill>
                <a:latin typeface="Consolas"/>
              </a:defRPr>
            </a:pPr>
            <a:r>
              <a:t>KIT 01</a:t>
            </a:r>
          </a:p>
          <a:p>
            <a:pPr>
              <a:spcAft>
                <a:spcPts val="1000"/>
              </a:spcAft>
              <a:defRPr sz="1400" b="1">
                <a:solidFill>
                  <a:srgbClr val="F8FAFC"/>
                </a:solidFill>
                <a:latin typeface="Segoe UI"/>
              </a:defRPr>
            </a:pPr>
            <a:r>
              <a:t>Soldier Survival Kit</a:t>
            </a:r>
          </a:p>
          <a:p>
            <a:pPr>
              <a:spcAft>
                <a:spcPts val="400"/>
              </a:spcAft>
              <a:defRPr sz="850" b="1">
                <a:solidFill>
                  <a:srgbClr val="B48C28"/>
                </a:solidFill>
                <a:latin typeface="Consolas"/>
              </a:defRPr>
            </a:pPr>
            <a:r>
              <a:t>CORE CAPABILITIES:</a:t>
            </a:r>
          </a:p>
          <a:p>
            <a:pPr>
              <a:spcAft>
                <a:spcPts val="1200"/>
              </a:spcAft>
              <a:defRPr sz="950">
                <a:solidFill>
                  <a:srgbClr val="F8FAFC"/>
                </a:solidFill>
                <a:latin typeface="Segoe UI"/>
              </a:defRPr>
            </a:pPr>
            <a:r>
              <a:t>Portable thermal activation • Emergency body warming • Food &amp; beverage heating • Clean hot water</a:t>
            </a:r>
          </a:p>
          <a:p>
            <a:pPr>
              <a:spcAft>
                <a:spcPts val="400"/>
              </a:spcAft>
              <a:defRPr sz="850" b="1">
                <a:solidFill>
                  <a:srgbClr val="B48C28"/>
                </a:solidFill>
                <a:latin typeface="Consolas"/>
              </a:defRPr>
            </a:pPr>
            <a:r>
              <a:t>MISSION PROFILE:</a:t>
            </a:r>
          </a:p>
          <a:p>
            <a:pPr>
              <a:defRPr sz="900">
                <a:solidFill>
                  <a:srgbClr val="9CA9BD"/>
                </a:solidFill>
                <a:latin typeface="Segoe UI"/>
              </a:defRPr>
            </a:pPr>
            <a:r>
              <a:t>Immediate survival loadout for extreme weather patrols and covert reconnaissance detachments.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65576" y="1645920"/>
            <a:ext cx="2514600" cy="4206240"/>
          </a:xfrm>
          <a:prstGeom prst="roundRect">
            <a:avLst/>
          </a:prstGeom>
          <a:solidFill>
            <a:srgbClr val="111929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557016" y="1645920"/>
            <a:ext cx="2331720" cy="36576"/>
          </a:xfrm>
          <a:prstGeom prst="rect">
            <a:avLst/>
          </a:prstGeom>
          <a:solidFill>
            <a:srgbClr val="E6B9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30168" y="1828800"/>
            <a:ext cx="2185416" cy="374903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E6B944"/>
                </a:solidFill>
                <a:latin typeface="Consolas"/>
              </a:defRPr>
            </a:pPr>
            <a:r>
              <a:t>KIT 02</a:t>
            </a:r>
          </a:p>
          <a:p>
            <a:pPr>
              <a:spcAft>
                <a:spcPts val="1000"/>
              </a:spcAft>
              <a:defRPr sz="1400" b="1">
                <a:solidFill>
                  <a:srgbClr val="F8FAFC"/>
                </a:solidFill>
                <a:latin typeface="Segoe UI"/>
              </a:defRPr>
            </a:pPr>
            <a:r>
              <a:t>High-Altitude Kit</a:t>
            </a:r>
          </a:p>
          <a:p>
            <a:pPr>
              <a:spcAft>
                <a:spcPts val="400"/>
              </a:spcAft>
              <a:defRPr sz="850" b="1">
                <a:solidFill>
                  <a:srgbClr val="B48C28"/>
                </a:solidFill>
                <a:latin typeface="Consolas"/>
              </a:defRPr>
            </a:pPr>
            <a:r>
              <a:t>CORE CAPABILITIES:</a:t>
            </a:r>
          </a:p>
          <a:p>
            <a:pPr>
              <a:spcAft>
                <a:spcPts val="1200"/>
              </a:spcAft>
              <a:defRPr sz="950">
                <a:solidFill>
                  <a:srgbClr val="F8FAFC"/>
                </a:solidFill>
                <a:latin typeface="Segoe UI"/>
              </a:defRPr>
            </a:pPr>
            <a:r>
              <a:t>Personal warmth modules • Snow / ice thawing packs • Weapon / gear drying • Bivouac shelter heat</a:t>
            </a:r>
          </a:p>
          <a:p>
            <a:pPr>
              <a:spcAft>
                <a:spcPts val="400"/>
              </a:spcAft>
              <a:defRPr sz="850" b="1">
                <a:solidFill>
                  <a:srgbClr val="B48C28"/>
                </a:solidFill>
                <a:latin typeface="Consolas"/>
              </a:defRPr>
            </a:pPr>
            <a:r>
              <a:t>MISSION PROFILE:</a:t>
            </a:r>
          </a:p>
          <a:p>
            <a:pPr>
              <a:defRPr sz="900">
                <a:solidFill>
                  <a:srgbClr val="9CA9BD"/>
                </a:solidFill>
                <a:latin typeface="Segoe UI"/>
              </a:defRPr>
            </a:pPr>
            <a:r>
              <a:t>Engineered for 15,000+ ft glacial environments, permanent snowlines, and sub-zero sentry posts.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99632" y="1645920"/>
            <a:ext cx="2514600" cy="4206240"/>
          </a:xfrm>
          <a:prstGeom prst="roundRect">
            <a:avLst/>
          </a:prstGeom>
          <a:solidFill>
            <a:srgbClr val="111929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91072" y="1645920"/>
            <a:ext cx="2331720" cy="36576"/>
          </a:xfrm>
          <a:prstGeom prst="rect">
            <a:avLst/>
          </a:prstGeom>
          <a:solidFill>
            <a:srgbClr val="E6B9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64224" y="1828800"/>
            <a:ext cx="2185416" cy="374903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E6B944"/>
                </a:solidFill>
                <a:latin typeface="Consolas"/>
              </a:defRPr>
            </a:pPr>
            <a:r>
              <a:t>KIT 03</a:t>
            </a:r>
          </a:p>
          <a:p>
            <a:pPr>
              <a:spcAft>
                <a:spcPts val="1000"/>
              </a:spcAft>
              <a:defRPr sz="1400" b="1">
                <a:solidFill>
                  <a:srgbClr val="F8FAFC"/>
                </a:solidFill>
                <a:latin typeface="Segoe UI"/>
              </a:defRPr>
            </a:pPr>
            <a:r>
              <a:t>Field Ration System</a:t>
            </a:r>
          </a:p>
          <a:p>
            <a:pPr>
              <a:spcAft>
                <a:spcPts val="400"/>
              </a:spcAft>
              <a:defRPr sz="850" b="1">
                <a:solidFill>
                  <a:srgbClr val="B48C28"/>
                </a:solidFill>
                <a:latin typeface="Consolas"/>
              </a:defRPr>
            </a:pPr>
            <a:r>
              <a:t>CORE CAPABILITIES:</a:t>
            </a:r>
          </a:p>
          <a:p>
            <a:pPr>
              <a:spcAft>
                <a:spcPts val="1200"/>
              </a:spcAft>
              <a:defRPr sz="950">
                <a:solidFill>
                  <a:srgbClr val="F8FAFC"/>
                </a:solidFill>
                <a:latin typeface="Segoe UI"/>
              </a:defRPr>
            </a:pPr>
            <a:r>
              <a:t>Integrated heating sleeve • Hot meals in 10 mins • Hot hydration packs • Controlled steam venting</a:t>
            </a:r>
          </a:p>
          <a:p>
            <a:pPr>
              <a:spcAft>
                <a:spcPts val="400"/>
              </a:spcAft>
              <a:defRPr sz="850" b="1">
                <a:solidFill>
                  <a:srgbClr val="B48C28"/>
                </a:solidFill>
                <a:latin typeface="Consolas"/>
              </a:defRPr>
            </a:pPr>
            <a:r>
              <a:t>MISSION PROFILE:</a:t>
            </a:r>
          </a:p>
          <a:p>
            <a:pPr>
              <a:defRPr sz="900">
                <a:solidFill>
                  <a:srgbClr val="9CA9BD"/>
                </a:solidFill>
                <a:latin typeface="Segoe UI"/>
              </a:defRPr>
            </a:pPr>
            <a:r>
              <a:t>Self-contained combat meal heating system replacing flame stoves and unpalatable frozen food.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33688" y="1645920"/>
            <a:ext cx="2514600" cy="4206240"/>
          </a:xfrm>
          <a:prstGeom prst="roundRect">
            <a:avLst/>
          </a:prstGeom>
          <a:solidFill>
            <a:srgbClr val="111929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025128" y="1645920"/>
            <a:ext cx="2331720" cy="36576"/>
          </a:xfrm>
          <a:prstGeom prst="rect">
            <a:avLst/>
          </a:prstGeom>
          <a:solidFill>
            <a:srgbClr val="E6B9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98280" y="1828800"/>
            <a:ext cx="2185416" cy="374903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E6B944"/>
                </a:solidFill>
                <a:latin typeface="Consolas"/>
              </a:defRPr>
            </a:pPr>
            <a:r>
              <a:t>KIT 04</a:t>
            </a:r>
          </a:p>
          <a:p>
            <a:pPr>
              <a:spcAft>
                <a:spcPts val="1000"/>
              </a:spcAft>
              <a:defRPr sz="1400" b="1">
                <a:solidFill>
                  <a:srgbClr val="F8FAFC"/>
                </a:solidFill>
                <a:latin typeface="Segoe UI"/>
              </a:defRPr>
            </a:pPr>
            <a:r>
              <a:t>Winter Operations Kit</a:t>
            </a:r>
          </a:p>
          <a:p>
            <a:pPr>
              <a:spcAft>
                <a:spcPts val="400"/>
              </a:spcAft>
              <a:defRPr sz="850" b="1">
                <a:solidFill>
                  <a:srgbClr val="B48C28"/>
                </a:solidFill>
                <a:latin typeface="Consolas"/>
              </a:defRPr>
            </a:pPr>
            <a:r>
              <a:t>CORE CAPABILITIES:</a:t>
            </a:r>
          </a:p>
          <a:p>
            <a:pPr>
              <a:spcAft>
                <a:spcPts val="1200"/>
              </a:spcAft>
              <a:defRPr sz="950">
                <a:solidFill>
                  <a:srgbClr val="F8FAFC"/>
                </a:solidFill>
                <a:latin typeface="Segoe UI"/>
              </a:defRPr>
            </a:pPr>
            <a:r>
              <a:t>Extended body warming • Heavy gear drying • Utility hot water • Mobile field clinic heating</a:t>
            </a:r>
          </a:p>
          <a:p>
            <a:pPr>
              <a:spcAft>
                <a:spcPts val="400"/>
              </a:spcAft>
              <a:defRPr sz="850" b="1">
                <a:solidFill>
                  <a:srgbClr val="B48C28"/>
                </a:solidFill>
                <a:latin typeface="Consolas"/>
              </a:defRPr>
            </a:pPr>
            <a:r>
              <a:t>MISSION PROFILE:</a:t>
            </a:r>
          </a:p>
          <a:p>
            <a:pPr>
              <a:defRPr sz="900">
                <a:solidFill>
                  <a:srgbClr val="9CA9BD"/>
                </a:solidFill>
                <a:latin typeface="Segoe UI"/>
              </a:defRPr>
            </a:pPr>
            <a:r>
              <a:t>Comprehensive squad-level thermal kit for extreme winter warfare and prolonged field maneuvers.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6B9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914400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 b="1">
                <a:solidFill>
                  <a:srgbClr val="E6B944"/>
                </a:solidFill>
                <a:latin typeface="Consolas"/>
              </a:defRPr>
            </a:pPr>
            <a:r>
              <a:t>//  USE CASE 03 — DEEP DIVE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"/>
            <a:ext cx="100584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  <a:latin typeface="Segoe UI"/>
              </a:defRPr>
            </a:pPr>
            <a:r>
              <a:t>High-Altitude &amp; Glacial Operations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61872"/>
            <a:ext cx="1645920" cy="36576"/>
          </a:xfrm>
          <a:prstGeom prst="rect">
            <a:avLst/>
          </a:prstGeom>
          <a:solidFill>
            <a:srgbClr val="E6B9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0" y="365760"/>
            <a:ext cx="3047695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850">
                <a:solidFill>
                  <a:srgbClr val="64748B"/>
                </a:solidFill>
                <a:latin typeface="Consolas"/>
              </a:defRPr>
            </a:pPr>
            <a:r>
              <a:t>DEFENCE STRATEGIC BRIEFING  |  13 / 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510528"/>
            <a:ext cx="10728655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750">
                <a:solidFill>
                  <a:srgbClr val="64748B"/>
                </a:solidFill>
                <a:latin typeface="Consolas"/>
              </a:defRPr>
            </a:pPr>
            <a:r>
              <a:t>HEATBOLT THERMAL PLATFORM  •  RESTRICTED OPERATIONAL ASSESSMENT  •  CONFIDENTIAL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645920"/>
            <a:ext cx="5486400" cy="4480560"/>
          </a:xfrm>
          <a:prstGeom prst="roundRect">
            <a:avLst/>
          </a:prstGeom>
          <a:solidFill>
            <a:srgbClr val="111929"/>
          </a:solidFill>
          <a:ln w="12700">
            <a:solidFill>
              <a:srgbClr val="2633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1828800"/>
            <a:ext cx="493776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950" b="1">
                <a:solidFill>
                  <a:srgbClr val="E6B944"/>
                </a:solidFill>
                <a:latin typeface="Consolas"/>
              </a:defRPr>
            </a:pPr>
            <a:r>
              <a:t>GLACIAL THEATRE CAPABILITIES</a:t>
            </a:r>
          </a:p>
          <a:p>
            <a:pPr>
              <a:spcBef>
                <a:spcPts val="600"/>
              </a:spcBef>
              <a:defRPr sz="1150" b="1">
                <a:solidFill>
                  <a:srgbClr val="F8FAFC"/>
                </a:solidFill>
                <a:latin typeface="Segoe UI"/>
              </a:defRPr>
            </a:pPr>
            <a:r>
              <a:t>•  Soldier Sustained Warming</a:t>
            </a:r>
          </a:p>
          <a:p>
            <a:pPr>
              <a:defRPr sz="950">
                <a:solidFill>
                  <a:srgbClr val="9CA9BD"/>
                </a:solidFill>
                <a:latin typeface="Segoe UI"/>
              </a:defRPr>
            </a:pPr>
            <a:r>
              <a:t>Continuous personal thermal protection in -40°C blizzards; prevents frostbite and peripheral vasoconstriction.</a:t>
            </a:r>
          </a:p>
          <a:p>
            <a:pPr>
              <a:spcBef>
                <a:spcPts val="600"/>
              </a:spcBef>
              <a:defRPr sz="1150" b="1">
                <a:solidFill>
                  <a:srgbClr val="F8FAFC"/>
                </a:solidFill>
                <a:latin typeface="Segoe UI"/>
              </a:defRPr>
            </a:pPr>
            <a:r>
              <a:t>•  Hot Food &amp; Instant Hydration</a:t>
            </a:r>
          </a:p>
          <a:p>
            <a:pPr>
              <a:defRPr sz="950">
                <a:solidFill>
                  <a:srgbClr val="9CA9BD"/>
                </a:solidFill>
                <a:latin typeface="Segoe UI"/>
              </a:defRPr>
            </a:pPr>
            <a:r>
              <a:t>Rapid heating of canned and pouch rations without stoves; eliminates reliance on frozen solid rations.</a:t>
            </a:r>
          </a:p>
          <a:p>
            <a:pPr>
              <a:spcBef>
                <a:spcPts val="600"/>
              </a:spcBef>
              <a:defRPr sz="1150" b="1">
                <a:solidFill>
                  <a:srgbClr val="F8FAFC"/>
                </a:solidFill>
                <a:latin typeface="Segoe UI"/>
              </a:defRPr>
            </a:pPr>
            <a:r>
              <a:t>•  Shelter &amp; Bivouac Heating</a:t>
            </a:r>
          </a:p>
          <a:p>
            <a:pPr>
              <a:defRPr sz="950">
                <a:solidFill>
                  <a:srgbClr val="9CA9BD"/>
                </a:solidFill>
                <a:latin typeface="Segoe UI"/>
              </a:defRPr>
            </a:pPr>
            <a:r>
              <a:t>Safe, non-toxic flameless warmth for alpine tents without dangerous carbon monoxide buildup.</a:t>
            </a:r>
          </a:p>
          <a:p>
            <a:pPr>
              <a:spcBef>
                <a:spcPts val="600"/>
              </a:spcBef>
              <a:defRPr sz="1150" b="1">
                <a:solidFill>
                  <a:srgbClr val="F8FAFC"/>
                </a:solidFill>
                <a:latin typeface="Segoe UI"/>
              </a:defRPr>
            </a:pPr>
            <a:r>
              <a:t>•  Snow &amp; Ice Conversion</a:t>
            </a:r>
          </a:p>
          <a:p>
            <a:pPr>
              <a:defRPr sz="950">
                <a:solidFill>
                  <a:srgbClr val="9CA9BD"/>
                </a:solidFill>
                <a:latin typeface="Segoe UI"/>
              </a:defRPr>
            </a:pPr>
            <a:r>
              <a:t>Converts glacial snow into warm potable drinking water in minutes; prevents severe dehydration at altitude.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92240" y="1645920"/>
            <a:ext cx="4967935" cy="4480560"/>
          </a:xfrm>
          <a:prstGeom prst="roundRect">
            <a:avLst/>
          </a:prstGeom>
          <a:solidFill>
            <a:srgbClr val="111929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66560" y="1828800"/>
            <a:ext cx="438912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950" b="1">
                <a:solidFill>
                  <a:srgbClr val="E6B944"/>
                </a:solidFill>
                <a:latin typeface="Consolas"/>
              </a:defRPr>
            </a:pPr>
            <a:r>
              <a:t>TARGET THEATRES</a:t>
            </a:r>
          </a:p>
          <a:p>
            <a:pPr>
              <a:spcAft>
                <a:spcPts val="1800"/>
              </a:spcAft>
              <a:defRPr sz="1200" b="1">
                <a:solidFill>
                  <a:srgbClr val="F8FAFC"/>
                </a:solidFill>
                <a:latin typeface="Segoe UI"/>
              </a:defRPr>
            </a:pPr>
            <a:r>
              <a:t>Siachen Glacier  •  Eastern Ladakh  •  Tawang Sector  •  Drass &amp; Kargil Passes  •  High-Altitude Forward Posts</a:t>
            </a:r>
          </a:p>
          <a:p>
            <a:pPr>
              <a:spcAft>
                <a:spcPts val="600"/>
              </a:spcAft>
              <a:defRPr sz="900" b="1">
                <a:solidFill>
                  <a:srgbClr val="B48C28"/>
                </a:solidFill>
                <a:latin typeface="Consolas"/>
              </a:defRPr>
            </a:pPr>
            <a:r>
              <a:t>WHY HIGH-ALTITUDE LEADS THE STRATEGY:</a:t>
            </a:r>
          </a:p>
          <a:p>
            <a:pPr>
              <a:defRPr sz="1300" b="1">
                <a:solidFill>
                  <a:srgbClr val="E6B944"/>
                </a:solidFill>
                <a:latin typeface="Segoe UI"/>
              </a:defRPr>
            </a:pPr>
            <a:r>
              <a:t>“High-altitude operations represent the harshest thermal infrastructure gap in modern Defence.</a:t>
            </a:r>
            <a:br/>
            <a:br/>
            <a:r>
              <a:t>If Heatbolt performs at 18,000 feet under -40°C extreme winds, every adjacent ground environment becomes an operational expansion — not an unproven risk.”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6B9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914400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 b="1">
                <a:solidFill>
                  <a:srgbClr val="E6B944"/>
                </a:solidFill>
                <a:latin typeface="Consolas"/>
              </a:defRPr>
            </a:pPr>
            <a:r>
              <a:t>//  USE CASE 05 — DEEP DIVE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"/>
            <a:ext cx="100584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  <a:latin typeface="Segoe UI"/>
              </a:defRPr>
            </a:pPr>
            <a:r>
              <a:t>Combat Medical Support — Qualification Discipline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61872"/>
            <a:ext cx="1645920" cy="36576"/>
          </a:xfrm>
          <a:prstGeom prst="rect">
            <a:avLst/>
          </a:prstGeom>
          <a:solidFill>
            <a:srgbClr val="E6B9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0" y="365760"/>
            <a:ext cx="3047695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850">
                <a:solidFill>
                  <a:srgbClr val="64748B"/>
                </a:solidFill>
                <a:latin typeface="Consolas"/>
              </a:defRPr>
            </a:pPr>
            <a:r>
              <a:t>DEFENCE STRATEGIC BRIEFING  |  14 / 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510528"/>
            <a:ext cx="10728655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750">
                <a:solidFill>
                  <a:srgbClr val="64748B"/>
                </a:solidFill>
                <a:latin typeface="Consolas"/>
              </a:defRPr>
            </a:pPr>
            <a:r>
              <a:t>HEATBOLT THERMAL PLATFORM  •  RESTRICTED OPERATIONAL ASSESSMENT  •  CONFIDENTIAL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645920"/>
            <a:ext cx="3429000" cy="2926080"/>
          </a:xfrm>
          <a:prstGeom prst="roundRect">
            <a:avLst/>
          </a:prstGeom>
          <a:solidFill>
            <a:srgbClr val="111929"/>
          </a:solidFill>
          <a:ln w="12700">
            <a:solidFill>
              <a:srgbClr val="2633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04672" y="1645920"/>
            <a:ext cx="3282696" cy="3200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7824" y="1755648"/>
            <a:ext cx="3136392" cy="2724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800" b="1">
                <a:solidFill>
                  <a:srgbClr val="EF4444"/>
                </a:solidFill>
                <a:latin typeface="Consolas"/>
              </a:defRPr>
            </a:pPr>
            <a:r>
              <a:t>TRIAGE CRITICAL</a:t>
            </a:r>
          </a:p>
          <a:p>
            <a:pPr>
              <a:spcAft>
                <a:spcPts val="300"/>
              </a:spcAft>
              <a:defRPr sz="1300" b="1">
                <a:solidFill>
                  <a:srgbClr val="F8FAFC"/>
                </a:solidFill>
                <a:latin typeface="Segoe UI"/>
              </a:defRPr>
            </a:pPr>
            <a:r>
              <a:t>Patient Evacuation Care</a:t>
            </a:r>
          </a:p>
          <a:p>
            <a:pPr>
              <a:spcBef>
                <a:spcPts val="200"/>
              </a:spcBef>
              <a:defRPr sz="1000">
                <a:solidFill>
                  <a:srgbClr val="9CA9BD"/>
                </a:solidFill>
                <a:latin typeface="Segoe UI"/>
              </a:defRPr>
            </a:pPr>
            <a:r>
              <a:t>Continuous thermal support during casualty evacuation (CASEVAC); prevents hypothermic coagulopathy in wounded personnel.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79976" y="1645920"/>
            <a:ext cx="3429000" cy="2926080"/>
          </a:xfrm>
          <a:prstGeom prst="roundRect">
            <a:avLst/>
          </a:prstGeom>
          <a:solidFill>
            <a:srgbClr val="111929"/>
          </a:solidFill>
          <a:ln w="12700">
            <a:solidFill>
              <a:srgbClr val="2633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53128" y="1645920"/>
            <a:ext cx="3282696" cy="3200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26280" y="1755648"/>
            <a:ext cx="3136392" cy="2724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800" b="1">
                <a:solidFill>
                  <a:srgbClr val="EF4444"/>
                </a:solidFill>
                <a:latin typeface="Consolas"/>
              </a:defRPr>
            </a:pPr>
            <a:r>
              <a:t>UTILITY SUPPORT</a:t>
            </a:r>
          </a:p>
          <a:p>
            <a:pPr>
              <a:spcAft>
                <a:spcPts val="300"/>
              </a:spcAft>
              <a:defRPr sz="1300" b="1">
                <a:solidFill>
                  <a:srgbClr val="F8FAFC"/>
                </a:solidFill>
                <a:latin typeface="Segoe UI"/>
              </a:defRPr>
            </a:pPr>
            <a:r>
              <a:t>Hot Water &amp; Steam Utility</a:t>
            </a:r>
          </a:p>
          <a:p>
            <a:pPr>
              <a:spcBef>
                <a:spcPts val="200"/>
              </a:spcBef>
              <a:defRPr sz="1000">
                <a:solidFill>
                  <a:srgbClr val="9CA9BD"/>
                </a:solidFill>
                <a:latin typeface="Segoe UI"/>
              </a:defRPr>
            </a:pPr>
            <a:r>
              <a:t>Immediate hot water for trauma cleaning, patient re-warming baths, and medical kit reconstitution.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28432" y="1645920"/>
            <a:ext cx="3429000" cy="2926080"/>
          </a:xfrm>
          <a:prstGeom prst="roundRect">
            <a:avLst/>
          </a:prstGeom>
          <a:solidFill>
            <a:srgbClr val="111929"/>
          </a:solidFill>
          <a:ln w="12700">
            <a:solidFill>
              <a:srgbClr val="2633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01584" y="1645920"/>
            <a:ext cx="3282696" cy="3200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74736" y="1755648"/>
            <a:ext cx="3136392" cy="2724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800" b="1">
                <a:solidFill>
                  <a:srgbClr val="EF4444"/>
                </a:solidFill>
                <a:latin typeface="Consolas"/>
              </a:defRPr>
            </a:pPr>
            <a:r>
              <a:t>FIELD STERILISATION</a:t>
            </a:r>
          </a:p>
          <a:p>
            <a:pPr>
              <a:spcAft>
                <a:spcPts val="300"/>
              </a:spcAft>
              <a:defRPr sz="1300" b="1">
                <a:solidFill>
                  <a:srgbClr val="F8FAFC"/>
                </a:solidFill>
                <a:latin typeface="Segoe UI"/>
              </a:defRPr>
            </a:pPr>
            <a:r>
              <a:t>Sterilisation Concepts</a:t>
            </a:r>
          </a:p>
          <a:p>
            <a:pPr>
              <a:spcBef>
                <a:spcPts val="200"/>
              </a:spcBef>
              <a:defRPr sz="1000">
                <a:solidFill>
                  <a:srgbClr val="9CA9BD"/>
                </a:solidFill>
                <a:latin typeface="Segoe UI"/>
              </a:defRPr>
            </a:pPr>
            <a:r>
              <a:t>Flameless high-temperature steam generation for field instrument sterilisation and emergency decontamination workflows.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846320"/>
            <a:ext cx="10728655" cy="1280160"/>
          </a:xfrm>
          <a:prstGeom prst="roundRect">
            <a:avLst/>
          </a:prstGeom>
          <a:solidFill>
            <a:srgbClr val="16130E"/>
          </a:solidFill>
          <a:ln w="12700">
            <a:solidFill>
              <a:srgbClr val="644B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31520" y="4901183"/>
            <a:ext cx="45720" cy="1170431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6112" y="4937759"/>
            <a:ext cx="1045433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950">
                <a:solidFill>
                  <a:srgbClr val="EF4444"/>
                </a:solidFill>
                <a:latin typeface="Segoe UI"/>
              </a:rPr>
              <a:t>CLINICAL REGULATORY DISCIPLINE —  </a:t>
            </a:r>
            <a:r>
              <a:rPr sz="900">
                <a:solidFill>
                  <a:srgbClr val="9CA9BD"/>
                </a:solidFill>
                <a:latin typeface="Segoe UI"/>
              </a:rPr>
              <a:t>Heatbolt does not propose bypassing medical qualification protocols. Dedicated clinical evaluation programs cover precise thermal stability, biocompatibility, non-toxic emissions, zero volatile organic compounds, human factors, and regulatory approvals. Medical applications represent specialized development tracks.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6B9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914400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 b="1">
                <a:solidFill>
                  <a:srgbClr val="E6B944"/>
                </a:solidFill>
                <a:latin typeface="Consolas"/>
              </a:defRPr>
            </a:pPr>
            <a:r>
              <a:t>//  USE CASES 09 / 10 — DEVELOPMENT HORIZONS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"/>
            <a:ext cx="100584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  <a:latin typeface="Segoe UI"/>
              </a:defRPr>
            </a:pPr>
            <a:r>
              <a:t>Aviation, UAV &amp; Emergency Response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61872"/>
            <a:ext cx="1645920" cy="36576"/>
          </a:xfrm>
          <a:prstGeom prst="rect">
            <a:avLst/>
          </a:prstGeom>
          <a:solidFill>
            <a:srgbClr val="E6B9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0" y="365760"/>
            <a:ext cx="3047695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850">
                <a:solidFill>
                  <a:srgbClr val="64748B"/>
                </a:solidFill>
                <a:latin typeface="Consolas"/>
              </a:defRPr>
            </a:pPr>
            <a:r>
              <a:t>DEFENCE STRATEGIC BRIEFING  |  15 / 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510528"/>
            <a:ext cx="10728655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750">
                <a:solidFill>
                  <a:srgbClr val="64748B"/>
                </a:solidFill>
                <a:latin typeface="Consolas"/>
              </a:defRPr>
            </a:pPr>
            <a:r>
              <a:t>HEATBOLT THERMAL PLATFORM  •  RESTRICTED OPERATIONAL ASSESSMENT  •  CONFIDENTIAL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645920"/>
            <a:ext cx="5248656" cy="4389120"/>
          </a:xfrm>
          <a:prstGeom prst="roundRect">
            <a:avLst/>
          </a:prstGeom>
          <a:solidFill>
            <a:srgbClr val="111929"/>
          </a:solidFill>
          <a:ln w="12700">
            <a:solidFill>
              <a:srgbClr val="2633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04672" y="1645920"/>
            <a:ext cx="5102352" cy="32004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7824" y="1755648"/>
            <a:ext cx="4956048" cy="41879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800" b="1">
                <a:solidFill>
                  <a:srgbClr val="60A5FA"/>
                </a:solidFill>
                <a:latin typeface="Consolas"/>
              </a:defRPr>
            </a:pPr>
            <a:r>
              <a:t>AEROSPACE HORIZONS</a:t>
            </a:r>
          </a:p>
          <a:p>
            <a:pPr>
              <a:spcAft>
                <a:spcPts val="300"/>
              </a:spcAft>
              <a:defRPr sz="1400" b="1">
                <a:solidFill>
                  <a:srgbClr val="F8FAFC"/>
                </a:solidFill>
                <a:latin typeface="Segoe UI"/>
              </a:defRPr>
            </a:pPr>
            <a:r>
              <a:t>Aviation &amp; UAV — Future Concepts</a:t>
            </a:r>
          </a:p>
          <a:p>
            <a:pPr>
              <a:spcBef>
                <a:spcPts val="200"/>
              </a:spcBef>
              <a:defRPr sz="1050">
                <a:solidFill>
                  <a:srgbClr val="9CA9BD"/>
                </a:solidFill>
                <a:latin typeface="Segoe UI"/>
              </a:defRPr>
            </a:pPr>
            <a:r>
              <a:t>Exploratory applications focusing on cold-weather aviation readiness:</a:t>
            </a:r>
            <a:br/>
            <a:br/>
            <a:r>
              <a:t>• Aircraft De-Icing Support: Rapid thermal surface thawing for rotary blades and wings.</a:t>
            </a:r>
            <a:br/>
            <a:r>
              <a:t>• UAV Battery Pre-Heating: Lithium-ion battery conditioning to restore operational flight time in sub-zero air.</a:t>
            </a:r>
            <a:br/>
            <a:r>
              <a:t>• Subsystem Warming: Thermal management for high-altitude sensor gimbals and forward-looking infrared optics.</a:t>
            </a:r>
            <a:br/>
            <a:r>
              <a:t>• Field Maintenance: Rapid thawing of seized linkages and hydraulic junctions.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9632" y="1645920"/>
            <a:ext cx="5257800" cy="4389120"/>
          </a:xfrm>
          <a:prstGeom prst="roundRect">
            <a:avLst/>
          </a:prstGeom>
          <a:solidFill>
            <a:srgbClr val="111929"/>
          </a:solidFill>
          <a:ln w="12700">
            <a:solidFill>
              <a:srgbClr val="2633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72784" y="1645920"/>
            <a:ext cx="5111496" cy="32004"/>
          </a:xfrm>
          <a:prstGeom prst="rect">
            <a:avLst/>
          </a:prstGeom>
          <a:solidFill>
            <a:srgbClr val="E6B9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45936" y="1755648"/>
            <a:ext cx="4965192" cy="41879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800" b="1">
                <a:solidFill>
                  <a:srgbClr val="E6B944"/>
                </a:solidFill>
                <a:latin typeface="Consolas"/>
              </a:defRPr>
            </a:pPr>
            <a:r>
              <a:t>DUAL-USE HUMANITARIAN</a:t>
            </a:r>
          </a:p>
          <a:p>
            <a:pPr>
              <a:spcAft>
                <a:spcPts val="300"/>
              </a:spcAft>
              <a:defRPr sz="1400" b="1">
                <a:solidFill>
                  <a:srgbClr val="F8FAFC"/>
                </a:solidFill>
                <a:latin typeface="Segoe UI"/>
              </a:defRPr>
            </a:pPr>
            <a:r>
              <a:t>Search &amp; Rescue — Dual-Use Value</a:t>
            </a:r>
          </a:p>
          <a:p>
            <a:pPr>
              <a:spcBef>
                <a:spcPts val="200"/>
              </a:spcBef>
              <a:defRPr sz="1050">
                <a:solidFill>
                  <a:srgbClr val="9CA9BD"/>
                </a:solidFill>
                <a:latin typeface="Segoe UI"/>
              </a:defRPr>
            </a:pPr>
            <a:r>
              <a:t>One unified platform serving Defence, Disaster Response, and Humanitarian Relief:</a:t>
            </a:r>
            <a:br/>
            <a:br/>
            <a:r>
              <a:t>• Rapid Casualty Warming: Rapid thermal blankets for hypothermic survivors.</a:t>
            </a:r>
            <a:br/>
            <a:r>
              <a:t>• Emergency Shelters: Instant heat for avalanche rescue camps and disaster survivor zones.</a:t>
            </a:r>
            <a:br/>
            <a:r>
              <a:t>• Dual-Use National Framework: Deployment across Indian Army, NDRF, SDRF, and global humanitarian agencies.</a:t>
            </a:r>
            <a:br/>
            <a:r>
              <a:t>• Sovereign Resilience: Stockpiled emergency thermal reserves requiring zero maintenance or batteries.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6B9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914400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 b="1">
                <a:solidFill>
                  <a:srgbClr val="E6B944"/>
                </a:solidFill>
                <a:latin typeface="Consolas"/>
              </a:defRPr>
            </a:pPr>
            <a:r>
              <a:t>//  INNOVATION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"/>
            <a:ext cx="100584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  <a:latin typeface="Segoe UI"/>
              </a:defRPr>
            </a:pPr>
            <a:r>
              <a:t>One Technology. 80+ Application Concepts.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61872"/>
            <a:ext cx="1645920" cy="36576"/>
          </a:xfrm>
          <a:prstGeom prst="rect">
            <a:avLst/>
          </a:prstGeom>
          <a:solidFill>
            <a:srgbClr val="E6B9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0" y="365760"/>
            <a:ext cx="3047695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850">
                <a:solidFill>
                  <a:srgbClr val="64748B"/>
                </a:solidFill>
                <a:latin typeface="Consolas"/>
              </a:defRPr>
            </a:pPr>
            <a:r>
              <a:t>DEFENCE STRATEGIC BRIEFING  |  16 / 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510528"/>
            <a:ext cx="10728655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750">
                <a:solidFill>
                  <a:srgbClr val="64748B"/>
                </a:solidFill>
                <a:latin typeface="Consolas"/>
              </a:defRPr>
            </a:pPr>
            <a:r>
              <a:t>HEATBOLT THERMAL PLATFORM  •  RESTRICTED OPERATIONAL ASSESSMENT  •  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37160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100">
                <a:solidFill>
                  <a:srgbClr val="E6B944"/>
                </a:solidFill>
                <a:latin typeface="Segoe UI"/>
              </a:defRPr>
            </a:pPr>
            <a:r>
              <a:t>A structured innovation pipeline across 9 operational domains — representing structured R&amp;D horizons, not premature claims.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783080"/>
            <a:ext cx="3429000" cy="1325880"/>
          </a:xfrm>
          <a:prstGeom prst="roundRect">
            <a:avLst/>
          </a:prstGeom>
          <a:solidFill>
            <a:srgbClr val="111929"/>
          </a:solidFill>
          <a:ln w="12700">
            <a:solidFill>
              <a:srgbClr val="2633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4672" y="1783080"/>
            <a:ext cx="3282696" cy="32004"/>
          </a:xfrm>
          <a:prstGeom prst="rect">
            <a:avLst/>
          </a:prstGeom>
          <a:solidFill>
            <a:srgbClr val="E6B9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1892807"/>
            <a:ext cx="3136392" cy="11247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800" b="1">
                <a:solidFill>
                  <a:srgbClr val="E6B944"/>
                </a:solidFill>
                <a:latin typeface="Consolas"/>
              </a:defRPr>
            </a:pPr>
            <a:r>
              <a:t>DOMAIN 01</a:t>
            </a:r>
          </a:p>
          <a:p>
            <a:pPr>
              <a:spcAft>
                <a:spcPts val="300"/>
              </a:spcAft>
              <a:defRPr sz="1100" b="1">
                <a:solidFill>
                  <a:srgbClr val="F8FAFC"/>
                </a:solidFill>
                <a:latin typeface="Segoe UI"/>
              </a:defRPr>
            </a:pPr>
            <a:r>
              <a:t>Personnel</a:t>
            </a:r>
          </a:p>
          <a:p>
            <a:pPr>
              <a:spcBef>
                <a:spcPts val="200"/>
              </a:spcBef>
              <a:defRPr sz="850">
                <a:solidFill>
                  <a:srgbClr val="9CA9BD"/>
                </a:solidFill>
                <a:latin typeface="Segoe UI"/>
              </a:defRPr>
            </a:pPr>
            <a:r>
              <a:t>Body warmers • Warmer jackets • Survival packs • Portable baths • Field laundry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79976" y="1783080"/>
            <a:ext cx="3429000" cy="1325880"/>
          </a:xfrm>
          <a:prstGeom prst="roundRect">
            <a:avLst/>
          </a:prstGeom>
          <a:solidFill>
            <a:srgbClr val="111929"/>
          </a:solidFill>
          <a:ln w="12700">
            <a:solidFill>
              <a:srgbClr val="2633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53128" y="1783080"/>
            <a:ext cx="3282696" cy="32004"/>
          </a:xfrm>
          <a:prstGeom prst="rect">
            <a:avLst/>
          </a:prstGeom>
          <a:solidFill>
            <a:srgbClr val="E6B9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26280" y="1892807"/>
            <a:ext cx="3136392" cy="11247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800" b="1">
                <a:solidFill>
                  <a:srgbClr val="E6B944"/>
                </a:solidFill>
                <a:latin typeface="Consolas"/>
              </a:defRPr>
            </a:pPr>
            <a:r>
              <a:t>DOMAIN 02</a:t>
            </a:r>
          </a:p>
          <a:p>
            <a:pPr>
              <a:spcAft>
                <a:spcPts val="300"/>
              </a:spcAft>
              <a:defRPr sz="1100" b="1">
                <a:solidFill>
                  <a:srgbClr val="F8FAFC"/>
                </a:solidFill>
                <a:latin typeface="Segoe UI"/>
              </a:defRPr>
            </a:pPr>
            <a:r>
              <a:t>Food &amp; Nutrition</a:t>
            </a:r>
          </a:p>
          <a:p>
            <a:pPr>
              <a:spcBef>
                <a:spcPts val="200"/>
              </a:spcBef>
              <a:defRPr sz="850">
                <a:solidFill>
                  <a:srgbClr val="9CA9BD"/>
                </a:solidFill>
                <a:latin typeface="Segoe UI"/>
              </a:defRPr>
            </a:pPr>
            <a:r>
              <a:t>Field kitchens • Food warming • Preservation • Field bakery • Self-heating rations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28432" y="1783080"/>
            <a:ext cx="3429000" cy="1325880"/>
          </a:xfrm>
          <a:prstGeom prst="roundRect">
            <a:avLst/>
          </a:prstGeom>
          <a:solidFill>
            <a:srgbClr val="111929"/>
          </a:solidFill>
          <a:ln w="12700">
            <a:solidFill>
              <a:srgbClr val="2633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01584" y="1783080"/>
            <a:ext cx="3282696" cy="32004"/>
          </a:xfrm>
          <a:prstGeom prst="rect">
            <a:avLst/>
          </a:prstGeom>
          <a:solidFill>
            <a:srgbClr val="E6B9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74736" y="1892807"/>
            <a:ext cx="3136392" cy="11247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800" b="1">
                <a:solidFill>
                  <a:srgbClr val="E6B944"/>
                </a:solidFill>
                <a:latin typeface="Consolas"/>
              </a:defRPr>
            </a:pPr>
            <a:r>
              <a:t>DOMAIN 03</a:t>
            </a:r>
          </a:p>
          <a:p>
            <a:pPr>
              <a:spcAft>
                <a:spcPts val="300"/>
              </a:spcAft>
              <a:defRPr sz="1100" b="1">
                <a:solidFill>
                  <a:srgbClr val="F8FAFC"/>
                </a:solidFill>
                <a:latin typeface="Segoe UI"/>
              </a:defRPr>
            </a:pPr>
            <a:r>
              <a:t>Water &amp; Steam</a:t>
            </a:r>
          </a:p>
          <a:p>
            <a:pPr>
              <a:spcBef>
                <a:spcPts val="200"/>
              </a:spcBef>
              <a:defRPr sz="850">
                <a:solidFill>
                  <a:srgbClr val="9CA9BD"/>
                </a:solidFill>
                <a:latin typeface="Segoe UI"/>
              </a:defRPr>
            </a:pPr>
            <a:r>
              <a:t>Water heating • Steam generation • Distillation • Water purification concepts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3310128"/>
            <a:ext cx="3429000" cy="1325880"/>
          </a:xfrm>
          <a:prstGeom prst="roundRect">
            <a:avLst/>
          </a:prstGeom>
          <a:solidFill>
            <a:srgbClr val="111929"/>
          </a:solidFill>
          <a:ln w="12700">
            <a:solidFill>
              <a:srgbClr val="2633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4672" y="3310128"/>
            <a:ext cx="3282696" cy="32004"/>
          </a:xfrm>
          <a:prstGeom prst="rect">
            <a:avLst/>
          </a:prstGeom>
          <a:solidFill>
            <a:srgbClr val="E6B9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7824" y="3419856"/>
            <a:ext cx="3136392" cy="11247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800" b="1">
                <a:solidFill>
                  <a:srgbClr val="E6B944"/>
                </a:solidFill>
                <a:latin typeface="Consolas"/>
              </a:defRPr>
            </a:pPr>
            <a:r>
              <a:t>DOMAIN 04</a:t>
            </a:r>
          </a:p>
          <a:p>
            <a:pPr>
              <a:spcAft>
                <a:spcPts val="300"/>
              </a:spcAft>
              <a:defRPr sz="1100" b="1">
                <a:solidFill>
                  <a:srgbClr val="F8FAFC"/>
                </a:solidFill>
                <a:latin typeface="Segoe UI"/>
              </a:defRPr>
            </a:pPr>
            <a:r>
              <a:t>Medical &amp; Triage</a:t>
            </a:r>
          </a:p>
          <a:p>
            <a:pPr>
              <a:spcBef>
                <a:spcPts val="200"/>
              </a:spcBef>
              <a:defRPr sz="850">
                <a:solidFill>
                  <a:srgbClr val="9CA9BD"/>
                </a:solidFill>
                <a:latin typeface="Segoe UI"/>
              </a:defRPr>
            </a:pPr>
            <a:r>
              <a:t>Field hospitals • Casualty warming • Instrument sterilisation • Trauma kits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79976" y="3310128"/>
            <a:ext cx="3429000" cy="1325880"/>
          </a:xfrm>
          <a:prstGeom prst="roundRect">
            <a:avLst/>
          </a:prstGeom>
          <a:solidFill>
            <a:srgbClr val="111929"/>
          </a:solidFill>
          <a:ln w="12700">
            <a:solidFill>
              <a:srgbClr val="2633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53128" y="3310128"/>
            <a:ext cx="3282696" cy="32004"/>
          </a:xfrm>
          <a:prstGeom prst="rect">
            <a:avLst/>
          </a:prstGeom>
          <a:solidFill>
            <a:srgbClr val="E6B9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26280" y="3419856"/>
            <a:ext cx="3136392" cy="11247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800" b="1">
                <a:solidFill>
                  <a:srgbClr val="E6B944"/>
                </a:solidFill>
                <a:latin typeface="Consolas"/>
              </a:defRPr>
            </a:pPr>
            <a:r>
              <a:t>DOMAIN 05</a:t>
            </a:r>
          </a:p>
          <a:p>
            <a:pPr>
              <a:spcAft>
                <a:spcPts val="300"/>
              </a:spcAft>
              <a:defRPr sz="1100" b="1">
                <a:solidFill>
                  <a:srgbClr val="F8FAFC"/>
                </a:solidFill>
                <a:latin typeface="Segoe UI"/>
              </a:defRPr>
            </a:pPr>
            <a:r>
              <a:t>Equipment &amp; Ops</a:t>
            </a:r>
          </a:p>
          <a:p>
            <a:pPr>
              <a:spcBef>
                <a:spcPts val="200"/>
              </a:spcBef>
              <a:defRPr sz="850">
                <a:solidFill>
                  <a:srgbClr val="9CA9BD"/>
                </a:solidFill>
                <a:latin typeface="Segoe UI"/>
              </a:defRPr>
            </a:pPr>
            <a:r>
              <a:t>Gear drying • Vehicle maintenance • Weapon bore cleaning • De-icing systems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28432" y="3310128"/>
            <a:ext cx="3429000" cy="1325880"/>
          </a:xfrm>
          <a:prstGeom prst="roundRect">
            <a:avLst/>
          </a:prstGeom>
          <a:solidFill>
            <a:srgbClr val="111929"/>
          </a:solidFill>
          <a:ln w="12700">
            <a:solidFill>
              <a:srgbClr val="2633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101584" y="3310128"/>
            <a:ext cx="3282696" cy="32004"/>
          </a:xfrm>
          <a:prstGeom prst="rect">
            <a:avLst/>
          </a:prstGeom>
          <a:solidFill>
            <a:srgbClr val="E6B9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74736" y="3419856"/>
            <a:ext cx="3136392" cy="11247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800" b="1">
                <a:solidFill>
                  <a:srgbClr val="E6B944"/>
                </a:solidFill>
                <a:latin typeface="Consolas"/>
              </a:defRPr>
            </a:pPr>
            <a:r>
              <a:t>DOMAIN 06</a:t>
            </a:r>
          </a:p>
          <a:p>
            <a:pPr>
              <a:spcAft>
                <a:spcPts val="300"/>
              </a:spcAft>
              <a:defRPr sz="1100" b="1">
                <a:solidFill>
                  <a:srgbClr val="F8FAFC"/>
                </a:solidFill>
                <a:latin typeface="Segoe UI"/>
              </a:defRPr>
            </a:pPr>
            <a:r>
              <a:t>Infrastructure</a:t>
            </a:r>
          </a:p>
          <a:p>
            <a:pPr>
              <a:spcBef>
                <a:spcPts val="200"/>
              </a:spcBef>
              <a:defRPr sz="850">
                <a:solidFill>
                  <a:srgbClr val="9CA9BD"/>
                </a:solidFill>
                <a:latin typeface="Segoe UI"/>
              </a:defRPr>
            </a:pPr>
            <a:r>
              <a:t>Concrete curing in cold • Remote building • Emergency shelters • Underground posts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" y="4837176"/>
            <a:ext cx="3429000" cy="1325880"/>
          </a:xfrm>
          <a:prstGeom prst="roundRect">
            <a:avLst/>
          </a:prstGeom>
          <a:solidFill>
            <a:srgbClr val="111929"/>
          </a:solidFill>
          <a:ln w="12700">
            <a:solidFill>
              <a:srgbClr val="2633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04672" y="4837176"/>
            <a:ext cx="3282696" cy="32004"/>
          </a:xfrm>
          <a:prstGeom prst="rect">
            <a:avLst/>
          </a:prstGeom>
          <a:solidFill>
            <a:srgbClr val="E6B9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77824" y="4946904"/>
            <a:ext cx="3136392" cy="11247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800" b="1">
                <a:solidFill>
                  <a:srgbClr val="E6B944"/>
                </a:solidFill>
                <a:latin typeface="Consolas"/>
              </a:defRPr>
            </a:pPr>
            <a:r>
              <a:t>DOMAIN 07</a:t>
            </a:r>
          </a:p>
          <a:p>
            <a:pPr>
              <a:spcAft>
                <a:spcPts val="300"/>
              </a:spcAft>
              <a:defRPr sz="1100" b="1">
                <a:solidFill>
                  <a:srgbClr val="F8FAFC"/>
                </a:solidFill>
                <a:latin typeface="Segoe UI"/>
              </a:defRPr>
            </a:pPr>
            <a:r>
              <a:t>Security &amp; Border</a:t>
            </a:r>
          </a:p>
          <a:p>
            <a:pPr>
              <a:spcBef>
                <a:spcPts val="200"/>
              </a:spcBef>
              <a:defRPr sz="850">
                <a:solidFill>
                  <a:srgbClr val="9CA9BD"/>
                </a:solidFill>
                <a:latin typeface="Segoe UI"/>
              </a:defRPr>
            </a:pPr>
            <a:r>
              <a:t>Border post warming • Surveillance camera de-fogging • Tactical fogging concepts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379976" y="4837176"/>
            <a:ext cx="3429000" cy="1325880"/>
          </a:xfrm>
          <a:prstGeom prst="roundRect">
            <a:avLst/>
          </a:prstGeom>
          <a:solidFill>
            <a:srgbClr val="111929"/>
          </a:solidFill>
          <a:ln w="12700">
            <a:solidFill>
              <a:srgbClr val="2633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453128" y="4837176"/>
            <a:ext cx="3282696" cy="32004"/>
          </a:xfrm>
          <a:prstGeom prst="rect">
            <a:avLst/>
          </a:prstGeom>
          <a:solidFill>
            <a:srgbClr val="E6B9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26280" y="4946904"/>
            <a:ext cx="3136392" cy="11247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800" b="1">
                <a:solidFill>
                  <a:srgbClr val="E6B944"/>
                </a:solidFill>
                <a:latin typeface="Consolas"/>
              </a:defRPr>
            </a:pPr>
            <a:r>
              <a:t>DOMAIN 08</a:t>
            </a:r>
          </a:p>
          <a:p>
            <a:pPr>
              <a:spcAft>
                <a:spcPts val="300"/>
              </a:spcAft>
              <a:defRPr sz="1100" b="1">
                <a:solidFill>
                  <a:srgbClr val="F8FAFC"/>
                </a:solidFill>
                <a:latin typeface="Segoe UI"/>
              </a:defRPr>
            </a:pPr>
            <a:r>
              <a:t>Search &amp; Rescue</a:t>
            </a:r>
          </a:p>
          <a:p>
            <a:pPr>
              <a:spcBef>
                <a:spcPts val="200"/>
              </a:spcBef>
              <a:defRPr sz="850">
                <a:solidFill>
                  <a:srgbClr val="9CA9BD"/>
                </a:solidFill>
                <a:latin typeface="Segoe UI"/>
              </a:defRPr>
            </a:pPr>
            <a:r>
              <a:t>Disaster response • Avalanche survivor kits • Humanitarian emergency supply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028432" y="4837176"/>
            <a:ext cx="3429000" cy="1325880"/>
          </a:xfrm>
          <a:prstGeom prst="roundRect">
            <a:avLst/>
          </a:prstGeom>
          <a:solidFill>
            <a:srgbClr val="111929"/>
          </a:solidFill>
          <a:ln w="12700">
            <a:solidFill>
              <a:srgbClr val="2633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101584" y="4837176"/>
            <a:ext cx="3282696" cy="32004"/>
          </a:xfrm>
          <a:prstGeom prst="rect">
            <a:avLst/>
          </a:prstGeom>
          <a:solidFill>
            <a:srgbClr val="E6B9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174736" y="4946904"/>
            <a:ext cx="3136392" cy="11247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800" b="1">
                <a:solidFill>
                  <a:srgbClr val="E6B944"/>
                </a:solidFill>
                <a:latin typeface="Consolas"/>
              </a:defRPr>
            </a:pPr>
            <a:r>
              <a:t>DOMAIN 09</a:t>
            </a:r>
          </a:p>
          <a:p>
            <a:pPr>
              <a:spcAft>
                <a:spcPts val="300"/>
              </a:spcAft>
              <a:defRPr sz="1100" b="1">
                <a:solidFill>
                  <a:srgbClr val="F8FAFC"/>
                </a:solidFill>
                <a:latin typeface="Segoe UI"/>
              </a:defRPr>
            </a:pPr>
            <a:r>
              <a:t>Environmental</a:t>
            </a:r>
          </a:p>
          <a:p>
            <a:pPr>
              <a:spcBef>
                <a:spcPts val="200"/>
              </a:spcBef>
              <a:defRPr sz="850">
                <a:solidFill>
                  <a:srgbClr val="9CA9BD"/>
                </a:solidFill>
                <a:latin typeface="Segoe UI"/>
              </a:defRPr>
            </a:pPr>
            <a:r>
              <a:t>Environmental decontamination • Waste treatment thermal support • Remote field ops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6B9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914400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 b="1">
                <a:solidFill>
                  <a:srgbClr val="E6B944"/>
                </a:solidFill>
                <a:latin typeface="Consolas"/>
              </a:defRPr>
            </a:pPr>
            <a:r>
              <a:t>//  SECTION 04 // LEADERSHIP &amp; EXECUTION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"/>
            <a:ext cx="100584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  <a:latin typeface="Segoe UI"/>
              </a:defRPr>
            </a:pPr>
            <a:r>
              <a:t>Technology Alone Does Not Create a Defence Capability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61872"/>
            <a:ext cx="1645920" cy="36576"/>
          </a:xfrm>
          <a:prstGeom prst="rect">
            <a:avLst/>
          </a:prstGeom>
          <a:solidFill>
            <a:srgbClr val="E6B9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0" y="365760"/>
            <a:ext cx="3047695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850">
                <a:solidFill>
                  <a:srgbClr val="64748B"/>
                </a:solidFill>
                <a:latin typeface="Consolas"/>
              </a:defRPr>
            </a:pPr>
            <a:r>
              <a:t>DEFENCE STRATEGIC BRIEFING  |  17 / 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510528"/>
            <a:ext cx="10728655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750">
                <a:solidFill>
                  <a:srgbClr val="64748B"/>
                </a:solidFill>
                <a:latin typeface="Consolas"/>
              </a:defRPr>
            </a:pPr>
            <a:r>
              <a:t>HEATBOLT THERMAL PLATFORM  •  RESTRICTED OPERATIONAL ASSESSMENT  •  CONFIDENTIAL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645920"/>
            <a:ext cx="10728655" cy="4389120"/>
          </a:xfrm>
          <a:prstGeom prst="roundRect">
            <a:avLst/>
          </a:prstGeom>
          <a:solidFill>
            <a:srgbClr val="111929"/>
          </a:solidFill>
          <a:ln w="12700">
            <a:solidFill>
              <a:srgbClr val="2633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2103120"/>
            <a:ext cx="9784080" cy="3474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E6B944"/>
                </a:solidFill>
                <a:latin typeface="Consolas"/>
              </a:defRPr>
            </a:pPr>
            <a:r>
              <a:t>EXECUTION &amp; SCALE</a:t>
            </a:r>
          </a:p>
          <a:p>
            <a:pPr>
              <a:spcAft>
                <a:spcPts val="1600"/>
              </a:spcAft>
              <a:defRPr sz="2200" b="1">
                <a:solidFill>
                  <a:srgbClr val="F8FAFC"/>
                </a:solidFill>
                <a:latin typeface="Segoe UI"/>
              </a:defRPr>
            </a:pPr>
            <a:r>
              <a:t>Heatbolt is assembling sovereign capability across every dimension — from atomic reaction kinetics to millions of consistent field units.</a:t>
            </a:r>
          </a:p>
          <a:p>
            <a:pPr>
              <a:defRPr sz="1200">
                <a:solidFill>
                  <a:srgbClr val="9CA9BD"/>
                </a:solidFill>
                <a:latin typeface="Segoe UI"/>
              </a:defRPr>
            </a:pPr>
            <a:r>
              <a:t>A breakthrough technology is only as viable as its manufacturing repeatability, supply chain resilience, and institutional leadership.</a:t>
            </a:r>
            <a:br/>
            <a:br/>
            <a:r>
              <a:t>Heatbolt brings together seasoned industrial titans, aerospace propulsion veterans, FMCG packaging leaders, and defence strategists to bridge the gap between invention and multi-million unit military deployment.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6B9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914400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 b="1">
                <a:solidFill>
                  <a:srgbClr val="E6B944"/>
                </a:solidFill>
                <a:latin typeface="Consolas"/>
              </a:defRPr>
            </a:pPr>
            <a:r>
              <a:t>//  EXECUTIVE LEADERSHIP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"/>
            <a:ext cx="100584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  <a:latin typeface="Segoe UI"/>
              </a:defRPr>
            </a:pPr>
            <a:r>
              <a:t>Built to Execute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61872"/>
            <a:ext cx="1645920" cy="36576"/>
          </a:xfrm>
          <a:prstGeom prst="rect">
            <a:avLst/>
          </a:prstGeom>
          <a:solidFill>
            <a:srgbClr val="E6B9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0" y="365760"/>
            <a:ext cx="3047695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850">
                <a:solidFill>
                  <a:srgbClr val="64748B"/>
                </a:solidFill>
                <a:latin typeface="Consolas"/>
              </a:defRPr>
            </a:pPr>
            <a:r>
              <a:t>DEFENCE STRATEGIC BRIEFING  |  18 / 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510528"/>
            <a:ext cx="10728655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750">
                <a:solidFill>
                  <a:srgbClr val="64748B"/>
                </a:solidFill>
                <a:latin typeface="Consolas"/>
              </a:defRPr>
            </a:pPr>
            <a:r>
              <a:t>HEATBOLT THERMAL PLATFORM  •  RESTRICTED OPERATIONAL ASSESSMENT  •  CONFIDENTIAL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645920"/>
            <a:ext cx="2514600" cy="4389120"/>
          </a:xfrm>
          <a:prstGeom prst="roundRect">
            <a:avLst/>
          </a:prstGeom>
          <a:solidFill>
            <a:srgbClr val="111929"/>
          </a:solidFill>
          <a:ln w="12700">
            <a:solidFill>
              <a:srgbClr val="2633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04672" y="1645920"/>
            <a:ext cx="2368296" cy="32004"/>
          </a:xfrm>
          <a:prstGeom prst="rect">
            <a:avLst/>
          </a:prstGeom>
          <a:solidFill>
            <a:srgbClr val="E6B9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7824" y="1755648"/>
            <a:ext cx="2221992" cy="41879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800" b="1">
                <a:solidFill>
                  <a:srgbClr val="E6B944"/>
                </a:solidFill>
                <a:latin typeface="Consolas"/>
              </a:defRPr>
            </a:pPr>
            <a:r>
              <a:t>FOUNDER &amp; MANAGING DIRECTOR</a:t>
            </a:r>
          </a:p>
          <a:p>
            <a:pPr>
              <a:spcAft>
                <a:spcPts val="300"/>
              </a:spcAft>
              <a:defRPr sz="1300" b="1">
                <a:solidFill>
                  <a:srgbClr val="F8FAFC"/>
                </a:solidFill>
                <a:latin typeface="Segoe UI"/>
              </a:defRPr>
            </a:pPr>
            <a:r>
              <a:t>Dr. Kumarpal Porwal</a:t>
            </a:r>
          </a:p>
          <a:p>
            <a:pPr>
              <a:spcBef>
                <a:spcPts val="200"/>
              </a:spcBef>
              <a:defRPr sz="950">
                <a:solidFill>
                  <a:srgbClr val="9CA9BD"/>
                </a:solidFill>
                <a:latin typeface="Segoe UI"/>
              </a:defRPr>
            </a:pPr>
            <a:r>
              <a:t>Deep-tech commercialisation • Controlled thermal activation • Enterprise AI &amp; operational transformation (Chief of Staff, Vega Aviation) • Defence &amp; FMCG strategic engagement.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65576" y="1645920"/>
            <a:ext cx="2514600" cy="4389120"/>
          </a:xfrm>
          <a:prstGeom prst="roundRect">
            <a:avLst/>
          </a:prstGeom>
          <a:solidFill>
            <a:srgbClr val="111929"/>
          </a:solidFill>
          <a:ln w="12700">
            <a:solidFill>
              <a:srgbClr val="2633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538728" y="1645920"/>
            <a:ext cx="2368296" cy="32004"/>
          </a:xfrm>
          <a:prstGeom prst="rect">
            <a:avLst/>
          </a:prstGeom>
          <a:solidFill>
            <a:srgbClr val="E6B9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11880" y="1755648"/>
            <a:ext cx="2221992" cy="41879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800" b="1">
                <a:solidFill>
                  <a:srgbClr val="E6B944"/>
                </a:solidFill>
                <a:latin typeface="Consolas"/>
              </a:defRPr>
            </a:pPr>
            <a:r>
              <a:t>MANUFACTURING &amp; QUALITY HEAD</a:t>
            </a:r>
          </a:p>
          <a:p>
            <a:pPr>
              <a:spcAft>
                <a:spcPts val="300"/>
              </a:spcAft>
              <a:defRPr sz="1300" b="1">
                <a:solidFill>
                  <a:srgbClr val="F8FAFC"/>
                </a:solidFill>
                <a:latin typeface="Segoe UI"/>
              </a:defRPr>
            </a:pPr>
            <a:r>
              <a:t>Rahul Awasthi</a:t>
            </a:r>
          </a:p>
          <a:p>
            <a:pPr>
              <a:spcBef>
                <a:spcPts val="200"/>
              </a:spcBef>
              <a:defRPr sz="950">
                <a:solidFill>
                  <a:srgbClr val="9CA9BD"/>
                </a:solidFill>
                <a:latin typeface="Segoe UI"/>
              </a:defRPr>
            </a:pPr>
            <a:r>
              <a:t>National Mfg &amp; Quality Head, SBC Tanzania (Pepsi) • Ex-SLMG Coca-Cola, Amazon (led 6,000+ operations workforce), Glenmark, SABMiller, Coca-Cola.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99632" y="1645920"/>
            <a:ext cx="2514600" cy="4389120"/>
          </a:xfrm>
          <a:prstGeom prst="roundRect">
            <a:avLst/>
          </a:prstGeom>
          <a:solidFill>
            <a:srgbClr val="111929"/>
          </a:solidFill>
          <a:ln w="12700">
            <a:solidFill>
              <a:srgbClr val="2633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72784" y="1645920"/>
            <a:ext cx="2368296" cy="32004"/>
          </a:xfrm>
          <a:prstGeom prst="rect">
            <a:avLst/>
          </a:prstGeom>
          <a:solidFill>
            <a:srgbClr val="E6B9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45936" y="1755648"/>
            <a:ext cx="2221992" cy="41879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800" b="1">
                <a:solidFill>
                  <a:srgbClr val="E6B944"/>
                </a:solidFill>
                <a:latin typeface="Consolas"/>
              </a:defRPr>
            </a:pPr>
            <a:r>
              <a:t>MARKETING &amp; GROWTH</a:t>
            </a:r>
          </a:p>
          <a:p>
            <a:pPr>
              <a:spcAft>
                <a:spcPts val="300"/>
              </a:spcAft>
              <a:defRPr sz="1300" b="1">
                <a:solidFill>
                  <a:srgbClr val="F8FAFC"/>
                </a:solidFill>
                <a:latin typeface="Segoe UI"/>
              </a:defRPr>
            </a:pPr>
            <a:r>
              <a:t>Puneet Solanki</a:t>
            </a:r>
          </a:p>
          <a:p>
            <a:pPr>
              <a:spcBef>
                <a:spcPts val="200"/>
              </a:spcBef>
              <a:defRPr sz="950">
                <a:solidFill>
                  <a:srgbClr val="9CA9BD"/>
                </a:solidFill>
                <a:latin typeface="Segoe UI"/>
              </a:defRPr>
            </a:pPr>
            <a:r>
              <a:t>Market positioning &amp; institutional engagement • Application &amp; partnership development • Go-to-market scaling across Defence, institutional buyers, and global consumer brands.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33688" y="1645920"/>
            <a:ext cx="2514600" cy="4389120"/>
          </a:xfrm>
          <a:prstGeom prst="roundRect">
            <a:avLst/>
          </a:prstGeom>
          <a:solidFill>
            <a:srgbClr val="111929"/>
          </a:solidFill>
          <a:ln w="12700">
            <a:solidFill>
              <a:srgbClr val="2633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006840" y="1645920"/>
            <a:ext cx="2368296" cy="32004"/>
          </a:xfrm>
          <a:prstGeom prst="rect">
            <a:avLst/>
          </a:prstGeom>
          <a:solidFill>
            <a:srgbClr val="E6B9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79992" y="1755648"/>
            <a:ext cx="2221992" cy="41879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800" b="1">
                <a:solidFill>
                  <a:srgbClr val="E6B944"/>
                </a:solidFill>
                <a:latin typeface="Consolas"/>
              </a:defRPr>
            </a:pPr>
            <a:r>
              <a:t>GLOBAL BUSINESS LEADERSHIP</a:t>
            </a:r>
          </a:p>
          <a:p>
            <a:pPr>
              <a:spcAft>
                <a:spcPts val="300"/>
              </a:spcAft>
              <a:defRPr sz="1300" b="1">
                <a:solidFill>
                  <a:srgbClr val="F8FAFC"/>
                </a:solidFill>
                <a:latin typeface="Segoe UI"/>
              </a:defRPr>
            </a:pPr>
            <a:r>
              <a:t>Amit Jain</a:t>
            </a:r>
          </a:p>
          <a:p>
            <a:pPr>
              <a:spcBef>
                <a:spcPts val="200"/>
              </a:spcBef>
              <a:defRPr sz="950">
                <a:solidFill>
                  <a:srgbClr val="9CA9BD"/>
                </a:solidFill>
                <a:latin typeface="Segoe UI"/>
              </a:defRPr>
            </a:pPr>
            <a:r>
              <a:t>Former Managing Director — L'Oréal India (First Indian MD) • Executive leadership across AkzoNobel, Coca-Cola, Viacom/MTV, ICI • Consumer innovation &amp; global scaling.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6B9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914400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 b="1">
                <a:solidFill>
                  <a:srgbClr val="E6B944"/>
                </a:solidFill>
                <a:latin typeface="Consolas"/>
              </a:defRPr>
            </a:pPr>
            <a:r>
              <a:t>//  SCIENCE &amp; ENGINEERING ECOSYSTEM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"/>
            <a:ext cx="100584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  <a:latin typeface="Segoe UI"/>
              </a:defRPr>
            </a:pPr>
            <a:r>
              <a:t>A Multidisciplinary Research Bench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61872"/>
            <a:ext cx="1645920" cy="36576"/>
          </a:xfrm>
          <a:prstGeom prst="rect">
            <a:avLst/>
          </a:prstGeom>
          <a:solidFill>
            <a:srgbClr val="E6B9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0" y="365760"/>
            <a:ext cx="3047695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850">
                <a:solidFill>
                  <a:srgbClr val="64748B"/>
                </a:solidFill>
                <a:latin typeface="Consolas"/>
              </a:defRPr>
            </a:pPr>
            <a:r>
              <a:t>DEFENCE STRATEGIC BRIEFING  |  19 / 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510528"/>
            <a:ext cx="10728655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750">
                <a:solidFill>
                  <a:srgbClr val="64748B"/>
                </a:solidFill>
                <a:latin typeface="Consolas"/>
              </a:defRPr>
            </a:pPr>
            <a:r>
              <a:t>HEATBOLT THERMAL PLATFORM  •  RESTRICTED OPERATIONAL ASSESSMENT  •  CONFIDENTIAL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645920"/>
            <a:ext cx="10728655" cy="777240"/>
          </a:xfrm>
          <a:prstGeom prst="roundRect">
            <a:avLst/>
          </a:prstGeom>
          <a:solidFill>
            <a:srgbClr val="111929"/>
          </a:solidFill>
          <a:ln w="12700">
            <a:solidFill>
              <a:srgbClr val="2633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719072"/>
            <a:ext cx="36576" cy="630936"/>
          </a:xfrm>
          <a:prstGeom prst="rect">
            <a:avLst/>
          </a:prstGeom>
          <a:solidFill>
            <a:srgbClr val="E6B9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755648"/>
            <a:ext cx="10454335" cy="5577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F8FAFC"/>
                </a:solidFill>
                <a:latin typeface="Segoe UI"/>
              </a:rPr>
              <a:t>Dr. Saibalendu Sarkar — TIFR  </a:t>
            </a:r>
            <a:r>
              <a:rPr sz="850" b="1">
                <a:solidFill>
                  <a:srgbClr val="E6B944"/>
                </a:solidFill>
                <a:latin typeface="Consolas"/>
              </a:rPr>
              <a:t>[NANOMATERIALS &amp; CATALYSIS]  </a:t>
            </a:r>
          </a:p>
          <a:p>
            <a:pPr>
              <a:defRPr sz="900">
                <a:solidFill>
                  <a:srgbClr val="9CA9BD"/>
                </a:solidFill>
                <a:latin typeface="Segoe UI"/>
              </a:defRPr>
            </a:pPr>
            <a:r>
              <a:t>Nanomaterials, reaction kinetics, CO2 conversion, advanced mineral characterisation and thermodynamic profiling.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569464"/>
            <a:ext cx="10728655" cy="777240"/>
          </a:xfrm>
          <a:prstGeom prst="roundRect">
            <a:avLst/>
          </a:prstGeom>
          <a:solidFill>
            <a:srgbClr val="111929"/>
          </a:solidFill>
          <a:ln w="12700">
            <a:solidFill>
              <a:srgbClr val="2633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2642616"/>
            <a:ext cx="36576" cy="630936"/>
          </a:xfrm>
          <a:prstGeom prst="rect">
            <a:avLst/>
          </a:prstGeom>
          <a:solidFill>
            <a:srgbClr val="E6B9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2679192"/>
            <a:ext cx="10454335" cy="5577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F8FAFC"/>
                </a:solidFill>
                <a:latin typeface="Segoe UI"/>
              </a:rPr>
              <a:t>Anil Kumar Tripathi  </a:t>
            </a:r>
            <a:r>
              <a:rPr sz="850" b="1">
                <a:solidFill>
                  <a:srgbClr val="E6B944"/>
                </a:solidFill>
                <a:latin typeface="Consolas"/>
              </a:rPr>
              <a:t>[PACKAGING &amp; BARRIER ENGINEERING]  </a:t>
            </a:r>
          </a:p>
          <a:p>
            <a:pPr>
              <a:defRPr sz="900">
                <a:solidFill>
                  <a:srgbClr val="9CA9BD"/>
                </a:solidFill>
                <a:latin typeface="Segoe UI"/>
              </a:defRPr>
            </a:pPr>
            <a:r>
              <a:t>Packaging technology, high-barrier hermetic foils, QA/QC standards, shelf-life integrity, and new product development.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493008"/>
            <a:ext cx="10728655" cy="777240"/>
          </a:xfrm>
          <a:prstGeom prst="roundRect">
            <a:avLst/>
          </a:prstGeom>
          <a:solidFill>
            <a:srgbClr val="111929"/>
          </a:solidFill>
          <a:ln w="12700">
            <a:solidFill>
              <a:srgbClr val="2633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520" y="3566160"/>
            <a:ext cx="36576" cy="630936"/>
          </a:xfrm>
          <a:prstGeom prst="rect">
            <a:avLst/>
          </a:prstGeom>
          <a:solidFill>
            <a:srgbClr val="E6B9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602736"/>
            <a:ext cx="10454335" cy="5577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F8FAFC"/>
                </a:solidFill>
                <a:latin typeface="Segoe UI"/>
              </a:rPr>
              <a:t>Mahantesh G. Vantamuri  </a:t>
            </a:r>
            <a:r>
              <a:rPr sz="850" b="1">
                <a:solidFill>
                  <a:srgbClr val="E6B944"/>
                </a:solidFill>
                <a:latin typeface="Consolas"/>
              </a:rPr>
              <a:t>[MECHANICAL &amp; TOOLING DESIGN]  </a:t>
            </a:r>
          </a:p>
          <a:p>
            <a:pPr>
              <a:defRPr sz="900">
                <a:solidFill>
                  <a:srgbClr val="9CA9BD"/>
                </a:solidFill>
                <a:latin typeface="Segoe UI"/>
              </a:defRPr>
            </a:pPr>
            <a:r>
              <a:t>Mechanical tooling, product industrial design, CAD/CAM simulation, injection moulding, and high-speed automated assembly.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416552"/>
            <a:ext cx="10728655" cy="777240"/>
          </a:xfrm>
          <a:prstGeom prst="roundRect">
            <a:avLst/>
          </a:prstGeom>
          <a:solidFill>
            <a:srgbClr val="111929"/>
          </a:solidFill>
          <a:ln w="12700">
            <a:solidFill>
              <a:srgbClr val="2633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31520" y="4489704"/>
            <a:ext cx="36576" cy="630936"/>
          </a:xfrm>
          <a:prstGeom prst="rect">
            <a:avLst/>
          </a:prstGeom>
          <a:solidFill>
            <a:srgbClr val="E6B9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4526280"/>
            <a:ext cx="10454335" cy="5577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F8FAFC"/>
                </a:solidFill>
                <a:latin typeface="Segoe UI"/>
              </a:rPr>
              <a:t>T. Koshi • Prerna Bhanot • Michele Barbazza  </a:t>
            </a:r>
            <a:r>
              <a:rPr sz="850" b="1">
                <a:solidFill>
                  <a:srgbClr val="E6B944"/>
                </a:solidFill>
                <a:latin typeface="Consolas"/>
              </a:rPr>
              <a:t>[STRATEGY, TALENT &amp; EXPANSION]  </a:t>
            </a:r>
          </a:p>
          <a:p>
            <a:pPr>
              <a:defRPr sz="900">
                <a:solidFill>
                  <a:srgbClr val="9CA9BD"/>
                </a:solidFill>
                <a:latin typeface="Segoe UI"/>
              </a:defRPr>
            </a:pPr>
            <a:r>
              <a:t>Corporate governance, institutional talent scaling, international business development, and sovereign trade frameworks.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5340096"/>
            <a:ext cx="10728655" cy="777240"/>
          </a:xfrm>
          <a:prstGeom prst="roundRect">
            <a:avLst/>
          </a:prstGeom>
          <a:solidFill>
            <a:srgbClr val="111929"/>
          </a:solidFill>
          <a:ln w="12700">
            <a:solidFill>
              <a:srgbClr val="2633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1520" y="5413248"/>
            <a:ext cx="36576" cy="630936"/>
          </a:xfrm>
          <a:prstGeom prst="rect">
            <a:avLst/>
          </a:prstGeom>
          <a:solidFill>
            <a:srgbClr val="E6B9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449824"/>
            <a:ext cx="10454335" cy="5577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F8FAFC"/>
                </a:solidFill>
                <a:latin typeface="Segoe UI"/>
              </a:rPr>
              <a:t>Extended Institutional Network  </a:t>
            </a:r>
            <a:r>
              <a:rPr sz="850" b="1">
                <a:solidFill>
                  <a:srgbClr val="E6B944"/>
                </a:solidFill>
                <a:latin typeface="Consolas"/>
              </a:rPr>
              <a:t>[DEFENCE &amp; FOOD TECH ECOSYSTEM]  </a:t>
            </a:r>
          </a:p>
          <a:p>
            <a:pPr>
              <a:defRPr sz="900">
                <a:solidFill>
                  <a:srgbClr val="9CA9BD"/>
                </a:solidFill>
                <a:latin typeface="Segoe UI"/>
              </a:defRPr>
            </a:pPr>
            <a:r>
              <a:t>Ex-CFTRI scientists, All-India food industry leadership, Vega Helmets industrial network, Microlabs, Nilons, and advanced research labs.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6B9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914400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 b="1">
                <a:solidFill>
                  <a:srgbClr val="E6B944"/>
                </a:solidFill>
                <a:latin typeface="Consolas"/>
              </a:defRPr>
            </a:pPr>
            <a:r>
              <a:t>//  DISTINGUISHED ADVISORS &amp; ECOSYSTEM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"/>
            <a:ext cx="100584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  <a:latin typeface="Segoe UI"/>
              </a:defRPr>
            </a:pPr>
            <a:r>
              <a:t>Names That Strengthen the Mission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61872"/>
            <a:ext cx="1645920" cy="36576"/>
          </a:xfrm>
          <a:prstGeom prst="rect">
            <a:avLst/>
          </a:prstGeom>
          <a:solidFill>
            <a:srgbClr val="E6B9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0" y="365760"/>
            <a:ext cx="3047695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850">
                <a:solidFill>
                  <a:srgbClr val="64748B"/>
                </a:solidFill>
                <a:latin typeface="Consolas"/>
              </a:defRPr>
            </a:pPr>
            <a:r>
              <a:t>DEFENCE STRATEGIC BRIEFING  |  20 / 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510528"/>
            <a:ext cx="10728655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750">
                <a:solidFill>
                  <a:srgbClr val="64748B"/>
                </a:solidFill>
                <a:latin typeface="Consolas"/>
              </a:defRPr>
            </a:pPr>
            <a:r>
              <a:t>HEATBOLT THERMAL PLATFORM  •  RESTRICTED OPERATIONAL ASSESSMENT  •  CONFIDENTIAL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645920"/>
            <a:ext cx="2514600" cy="2057400"/>
          </a:xfrm>
          <a:prstGeom prst="roundRect">
            <a:avLst/>
          </a:prstGeom>
          <a:solidFill>
            <a:srgbClr val="111929"/>
          </a:solidFill>
          <a:ln w="12700">
            <a:solidFill>
              <a:srgbClr val="2633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04672" y="1645920"/>
            <a:ext cx="2368296" cy="32004"/>
          </a:xfrm>
          <a:prstGeom prst="rect">
            <a:avLst/>
          </a:prstGeom>
          <a:solidFill>
            <a:srgbClr val="E6B9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7824" y="1755648"/>
            <a:ext cx="2221992" cy="185623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800" b="1">
                <a:solidFill>
                  <a:srgbClr val="E6B944"/>
                </a:solidFill>
                <a:latin typeface="Consolas"/>
              </a:defRPr>
            </a:pPr>
            <a:r>
              <a:t>ROCKET SCIENCE &amp; PROPULSION</a:t>
            </a:r>
          </a:p>
          <a:p>
            <a:pPr>
              <a:spcAft>
                <a:spcPts val="300"/>
              </a:spcAft>
              <a:defRPr sz="1100" b="1">
                <a:solidFill>
                  <a:srgbClr val="F8FAFC"/>
                </a:solidFill>
                <a:latin typeface="Segoe UI"/>
              </a:defRPr>
            </a:pPr>
            <a:r>
              <a:t>Nambi Narayan</a:t>
            </a:r>
          </a:p>
          <a:p>
            <a:pPr>
              <a:spcBef>
                <a:spcPts val="200"/>
              </a:spcBef>
              <a:defRPr sz="850">
                <a:solidFill>
                  <a:srgbClr val="9CA9BD"/>
                </a:solidFill>
                <a:latin typeface="Segoe UI"/>
              </a:defRPr>
            </a:pPr>
            <a:r>
              <a:t>Legendary ISRO Rocket Scientist — Space propulsion, liquid fuel rocketry pioneer, and national strategic research leadership.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65576" y="1645920"/>
            <a:ext cx="2514600" cy="2057400"/>
          </a:xfrm>
          <a:prstGeom prst="roundRect">
            <a:avLst/>
          </a:prstGeom>
          <a:solidFill>
            <a:srgbClr val="111929"/>
          </a:solidFill>
          <a:ln w="12700">
            <a:solidFill>
              <a:srgbClr val="2633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538728" y="1645920"/>
            <a:ext cx="2368296" cy="32004"/>
          </a:xfrm>
          <a:prstGeom prst="rect">
            <a:avLst/>
          </a:prstGeom>
          <a:solidFill>
            <a:srgbClr val="E6B9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11880" y="1755648"/>
            <a:ext cx="2221992" cy="185623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800" b="1">
                <a:solidFill>
                  <a:srgbClr val="E6B944"/>
                </a:solidFill>
                <a:latin typeface="Consolas"/>
              </a:defRPr>
            </a:pPr>
            <a:r>
              <a:t>PACKAGING DEVELOPMENT &amp; FMCG SCALE</a:t>
            </a:r>
          </a:p>
          <a:p>
            <a:pPr>
              <a:spcAft>
                <a:spcPts val="300"/>
              </a:spcAft>
              <a:defRPr sz="1100" b="1">
                <a:solidFill>
                  <a:srgbClr val="F8FAFC"/>
                </a:solidFill>
                <a:latin typeface="Segoe UI"/>
              </a:defRPr>
            </a:pPr>
            <a:r>
              <a:t>Pradeep Kumar Pandey</a:t>
            </a:r>
          </a:p>
          <a:p>
            <a:pPr>
              <a:spcBef>
                <a:spcPts val="200"/>
              </a:spcBef>
              <a:defRPr sz="850">
                <a:solidFill>
                  <a:srgbClr val="9CA9BD"/>
                </a:solidFill>
                <a:latin typeface="Segoe UI"/>
              </a:defRPr>
            </a:pPr>
            <a:r>
              <a:t>Senior Advisor — President, Packaging Development, Emami Ltd • 29+ years, Gold Medalist • Ex-Procter &amp; Gamble, Amway, Dabur.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99632" y="1645920"/>
            <a:ext cx="2514600" cy="2057400"/>
          </a:xfrm>
          <a:prstGeom prst="roundRect">
            <a:avLst/>
          </a:prstGeom>
          <a:solidFill>
            <a:srgbClr val="111929"/>
          </a:solidFill>
          <a:ln w="12700">
            <a:solidFill>
              <a:srgbClr val="2633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72784" y="1645920"/>
            <a:ext cx="2368296" cy="32004"/>
          </a:xfrm>
          <a:prstGeom prst="rect">
            <a:avLst/>
          </a:prstGeom>
          <a:solidFill>
            <a:srgbClr val="E6B9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45936" y="1755648"/>
            <a:ext cx="2221992" cy="185623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800" b="1">
                <a:solidFill>
                  <a:srgbClr val="E6B944"/>
                </a:solidFill>
                <a:latin typeface="Consolas"/>
              </a:defRPr>
            </a:pPr>
            <a:r>
              <a:t>GLOBAL THERMOFORMING &amp; PACKAGING</a:t>
            </a:r>
          </a:p>
          <a:p>
            <a:pPr>
              <a:spcAft>
                <a:spcPts val="300"/>
              </a:spcAft>
              <a:defRPr sz="1100" b="1">
                <a:solidFill>
                  <a:srgbClr val="F8FAFC"/>
                </a:solidFill>
                <a:latin typeface="Segoe UI"/>
              </a:defRPr>
            </a:pPr>
            <a:r>
              <a:t>Andrew Dobringer</a:t>
            </a:r>
          </a:p>
          <a:p>
            <a:pPr>
              <a:spcBef>
                <a:spcPts val="200"/>
              </a:spcBef>
              <a:defRPr sz="850">
                <a:solidFill>
                  <a:srgbClr val="9CA9BD"/>
                </a:solidFill>
                <a:latin typeface="Segoe UI"/>
              </a:defRPr>
            </a:pPr>
            <a:r>
              <a:t>Senior Advisor — International Thermoforming, Precision Tooling &amp; Advanced Packaging Systems Engineering Specialist.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33688" y="1645920"/>
            <a:ext cx="2514600" cy="2057400"/>
          </a:xfrm>
          <a:prstGeom prst="roundRect">
            <a:avLst/>
          </a:prstGeom>
          <a:solidFill>
            <a:srgbClr val="111929"/>
          </a:solidFill>
          <a:ln w="12700">
            <a:solidFill>
              <a:srgbClr val="2633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006840" y="1645920"/>
            <a:ext cx="2368296" cy="32004"/>
          </a:xfrm>
          <a:prstGeom prst="rect">
            <a:avLst/>
          </a:prstGeom>
          <a:solidFill>
            <a:srgbClr val="E6B9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79992" y="1755648"/>
            <a:ext cx="2221992" cy="185623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800" b="1">
                <a:solidFill>
                  <a:srgbClr val="E6B944"/>
                </a:solidFill>
                <a:latin typeface="Consolas"/>
              </a:defRPr>
            </a:pPr>
            <a:r>
              <a:t>RESEARCH LEADERSHIP &amp; MATERIALS</a:t>
            </a:r>
          </a:p>
          <a:p>
            <a:pPr>
              <a:spcAft>
                <a:spcPts val="300"/>
              </a:spcAft>
              <a:defRPr sz="1100" b="1">
                <a:solidFill>
                  <a:srgbClr val="F8FAFC"/>
                </a:solidFill>
                <a:latin typeface="Segoe UI"/>
              </a:defRPr>
            </a:pPr>
            <a:r>
              <a:t>Prof. Somnath Ganguly</a:t>
            </a:r>
          </a:p>
          <a:p>
            <a:pPr>
              <a:spcBef>
                <a:spcPts val="200"/>
              </a:spcBef>
              <a:defRPr sz="850">
                <a:solidFill>
                  <a:srgbClr val="9CA9BD"/>
                </a:solidFill>
                <a:latin typeface="Segoe UI"/>
              </a:defRPr>
            </a:pPr>
            <a:r>
              <a:t>Senior Advisor — 40+ years of distinguished leadership in chemical formulation, materials research, and laboratory scaling.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093976" y="3886200"/>
            <a:ext cx="2514600" cy="2057400"/>
          </a:xfrm>
          <a:prstGeom prst="roundRect">
            <a:avLst/>
          </a:prstGeom>
          <a:solidFill>
            <a:srgbClr val="111929"/>
          </a:solidFill>
          <a:ln w="12700">
            <a:solidFill>
              <a:srgbClr val="2633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167128" y="3886200"/>
            <a:ext cx="2368296" cy="32004"/>
          </a:xfrm>
          <a:prstGeom prst="rect">
            <a:avLst/>
          </a:prstGeom>
          <a:solidFill>
            <a:srgbClr val="E6B9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240280" y="3995928"/>
            <a:ext cx="2221992" cy="185623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800" b="1">
                <a:solidFill>
                  <a:srgbClr val="E6B944"/>
                </a:solidFill>
                <a:latin typeface="Consolas"/>
              </a:defRPr>
            </a:pPr>
            <a:r>
              <a:t>MACHINERY &amp; AUTOMATION</a:t>
            </a:r>
          </a:p>
          <a:p>
            <a:pPr>
              <a:spcAft>
                <a:spcPts val="300"/>
              </a:spcAft>
              <a:defRPr sz="1100" b="1">
                <a:solidFill>
                  <a:srgbClr val="F8FAFC"/>
                </a:solidFill>
                <a:latin typeface="Segoe UI"/>
              </a:defRPr>
            </a:pPr>
            <a:r>
              <a:t>Ravi Tejwani</a:t>
            </a:r>
          </a:p>
          <a:p>
            <a:pPr>
              <a:spcBef>
                <a:spcPts val="200"/>
              </a:spcBef>
              <a:defRPr sz="850">
                <a:solidFill>
                  <a:srgbClr val="9CA9BD"/>
                </a:solidFill>
                <a:latin typeface="Segoe UI"/>
              </a:defRPr>
            </a:pPr>
            <a:r>
              <a:t>Industrial machinery expert — Manufacturing automation, precision production equipment, and high-speed packaging lines.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828032" y="3886200"/>
            <a:ext cx="2514600" cy="2057400"/>
          </a:xfrm>
          <a:prstGeom prst="roundRect">
            <a:avLst/>
          </a:prstGeom>
          <a:solidFill>
            <a:srgbClr val="111929"/>
          </a:solidFill>
          <a:ln w="12700">
            <a:solidFill>
              <a:srgbClr val="2633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901184" y="3886200"/>
            <a:ext cx="2368296" cy="32004"/>
          </a:xfrm>
          <a:prstGeom prst="rect">
            <a:avLst/>
          </a:prstGeom>
          <a:solidFill>
            <a:srgbClr val="E6B9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974336" y="3995928"/>
            <a:ext cx="2221992" cy="185623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800" b="1">
                <a:solidFill>
                  <a:srgbClr val="E6B944"/>
                </a:solidFill>
                <a:latin typeface="Consolas"/>
              </a:defRPr>
            </a:pPr>
            <a:r>
              <a:t>NARRATIVE &amp; STRATEGIC ENGAGEMENT</a:t>
            </a:r>
          </a:p>
          <a:p>
            <a:pPr>
              <a:spcAft>
                <a:spcPts val="300"/>
              </a:spcAft>
              <a:defRPr sz="1100" b="1">
                <a:solidFill>
                  <a:srgbClr val="F8FAFC"/>
                </a:solidFill>
                <a:latin typeface="Segoe UI"/>
              </a:defRPr>
            </a:pPr>
            <a:r>
              <a:t>R. Madhavan</a:t>
            </a:r>
          </a:p>
          <a:p>
            <a:pPr>
              <a:spcBef>
                <a:spcPts val="200"/>
              </a:spcBef>
              <a:defRPr sz="850">
                <a:solidFill>
                  <a:srgbClr val="9CA9BD"/>
                </a:solidFill>
                <a:latin typeface="Segoe UI"/>
              </a:defRPr>
            </a:pPr>
            <a:r>
              <a:t>Acclaimed film actor &amp; director — National communication, strategic storytelling, and high-impact institutional narrative.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562088" y="3886200"/>
            <a:ext cx="2514600" cy="2057400"/>
          </a:xfrm>
          <a:prstGeom prst="roundRect">
            <a:avLst/>
          </a:prstGeom>
          <a:solidFill>
            <a:srgbClr val="111929"/>
          </a:solidFill>
          <a:ln w="12700">
            <a:solidFill>
              <a:srgbClr val="2633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635240" y="3886200"/>
            <a:ext cx="2368296" cy="32004"/>
          </a:xfrm>
          <a:prstGeom prst="rect">
            <a:avLst/>
          </a:prstGeom>
          <a:solidFill>
            <a:srgbClr val="E6B9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08392" y="3995928"/>
            <a:ext cx="2221992" cy="185623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800" b="1">
                <a:solidFill>
                  <a:srgbClr val="E6B944"/>
                </a:solidFill>
                <a:latin typeface="Consolas"/>
              </a:defRPr>
            </a:pPr>
            <a:r>
              <a:t>STRATEGIC ENTERPRISE NETWORK</a:t>
            </a:r>
          </a:p>
          <a:p>
            <a:pPr>
              <a:spcAft>
                <a:spcPts val="300"/>
              </a:spcAft>
              <a:defRPr sz="1100" b="1">
                <a:solidFill>
                  <a:srgbClr val="F8FAFC"/>
                </a:solidFill>
                <a:latin typeface="Segoe UI"/>
              </a:defRPr>
            </a:pPr>
            <a:r>
              <a:t>Marichi Mathur</a:t>
            </a:r>
          </a:p>
          <a:p>
            <a:pPr>
              <a:spcBef>
                <a:spcPts val="200"/>
              </a:spcBef>
              <a:defRPr sz="850">
                <a:solidFill>
                  <a:srgbClr val="9CA9BD"/>
                </a:solidFill>
                <a:latin typeface="Segoe UI"/>
              </a:defRPr>
            </a:pPr>
            <a:r>
              <a:t>Senior Advisor — Strategic growth, enterprise leadership, and national defence institutional network expansion.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1520" y="6035040"/>
            <a:ext cx="10728655" cy="411480"/>
          </a:xfrm>
          <a:prstGeom prst="roundRect">
            <a:avLst/>
          </a:prstGeom>
          <a:solidFill>
            <a:srgbClr val="16130E"/>
          </a:solidFill>
          <a:ln w="12700">
            <a:solidFill>
              <a:srgbClr val="644B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31520" y="6089903"/>
            <a:ext cx="45720" cy="301752"/>
          </a:xfrm>
          <a:prstGeom prst="rect">
            <a:avLst/>
          </a:prstGeom>
          <a:solidFill>
            <a:srgbClr val="E6B9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96112" y="6126479"/>
            <a:ext cx="10454335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950">
                <a:solidFill>
                  <a:srgbClr val="E6B944"/>
                </a:solidFill>
                <a:latin typeface="Segoe UI"/>
              </a:rPr>
              <a:t>GOVERNANCE NOTE —  </a:t>
            </a:r>
            <a:r>
              <a:rPr sz="900">
                <a:solidFill>
                  <a:srgbClr val="9CA9BD"/>
                </a:solidFill>
                <a:latin typeface="Segoe UI"/>
              </a:rPr>
              <a:t>Advisory engagements are presented according to formal domain areas and institutional supporting documentation.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6B9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914400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 b="1">
                <a:solidFill>
                  <a:srgbClr val="E6B944"/>
                </a:solidFill>
                <a:latin typeface="Consolas"/>
              </a:defRPr>
            </a:pPr>
            <a:r>
              <a:t>//  ENDORSEMENTS &amp; MARKET PULL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"/>
            <a:ext cx="100584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  <a:latin typeface="Segoe UI"/>
              </a:defRPr>
            </a:pPr>
            <a:r>
              <a:t>The Ecosystem Is Already Responding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61872"/>
            <a:ext cx="1645920" cy="36576"/>
          </a:xfrm>
          <a:prstGeom prst="rect">
            <a:avLst/>
          </a:prstGeom>
          <a:solidFill>
            <a:srgbClr val="E6B9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0" y="365760"/>
            <a:ext cx="3047695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850">
                <a:solidFill>
                  <a:srgbClr val="64748B"/>
                </a:solidFill>
                <a:latin typeface="Consolas"/>
              </a:defRPr>
            </a:pPr>
            <a:r>
              <a:t>DEFENCE STRATEGIC BRIEFING  |  21 / 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510528"/>
            <a:ext cx="10728655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750">
                <a:solidFill>
                  <a:srgbClr val="64748B"/>
                </a:solidFill>
                <a:latin typeface="Consolas"/>
              </a:defRPr>
            </a:pPr>
            <a:r>
              <a:t>HEATBOLT THERMAL PLATFORM  •  RESTRICTED OPERATIONAL ASSESSMENT  •  CONFIDENTIAL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645920"/>
            <a:ext cx="3429000" cy="3017520"/>
          </a:xfrm>
          <a:prstGeom prst="roundRect">
            <a:avLst/>
          </a:prstGeom>
          <a:solidFill>
            <a:srgbClr val="111929"/>
          </a:solidFill>
          <a:ln w="12700">
            <a:solidFill>
              <a:srgbClr val="2633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04672" y="1645920"/>
            <a:ext cx="3282696" cy="32004"/>
          </a:xfrm>
          <a:prstGeom prst="rect">
            <a:avLst/>
          </a:prstGeom>
          <a:solidFill>
            <a:srgbClr val="E6B9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7824" y="1755648"/>
            <a:ext cx="3136392" cy="281635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800" b="1">
                <a:solidFill>
                  <a:srgbClr val="E6B944"/>
                </a:solidFill>
                <a:latin typeface="Consolas"/>
              </a:defRPr>
            </a:pPr>
            <a:r>
              <a:t>DEFENCE VALIDATION</a:t>
            </a:r>
          </a:p>
          <a:p>
            <a:pPr>
              <a:spcAft>
                <a:spcPts val="300"/>
              </a:spcAft>
              <a:defRPr sz="1300" b="1">
                <a:solidFill>
                  <a:srgbClr val="F8FAFC"/>
                </a:solidFill>
                <a:latin typeface="Segoe UI"/>
              </a:defRPr>
            </a:pPr>
            <a:r>
              <a:t>Institutional Defence Pull</a:t>
            </a:r>
          </a:p>
          <a:p>
            <a:pPr>
              <a:spcBef>
                <a:spcPts val="200"/>
              </a:spcBef>
              <a:defRPr sz="1000">
                <a:solidFill>
                  <a:srgbClr val="9CA9BD"/>
                </a:solidFill>
                <a:latin typeface="Segoe UI"/>
              </a:defRPr>
            </a:pPr>
            <a:r>
              <a:t>Active engagement across Indian Armed Forces command hubs, DRDO ecosystem partners, and emergency response teams for high-altitude cold trials.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79976" y="1645920"/>
            <a:ext cx="3429000" cy="3017520"/>
          </a:xfrm>
          <a:prstGeom prst="roundRect">
            <a:avLst/>
          </a:prstGeom>
          <a:solidFill>
            <a:srgbClr val="111929"/>
          </a:solidFill>
          <a:ln w="12700">
            <a:solidFill>
              <a:srgbClr val="2633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53128" y="1645920"/>
            <a:ext cx="3282696" cy="32004"/>
          </a:xfrm>
          <a:prstGeom prst="rect">
            <a:avLst/>
          </a:prstGeom>
          <a:solidFill>
            <a:srgbClr val="E6B9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26280" y="1755648"/>
            <a:ext cx="3136392" cy="281635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800" b="1">
                <a:solidFill>
                  <a:srgbClr val="E6B944"/>
                </a:solidFill>
                <a:latin typeface="Consolas"/>
              </a:defRPr>
            </a:pPr>
            <a:r>
              <a:t>FMCG ENGAGEMENT</a:t>
            </a:r>
          </a:p>
          <a:p>
            <a:pPr>
              <a:spcAft>
                <a:spcPts val="300"/>
              </a:spcAft>
              <a:defRPr sz="1300" b="1">
                <a:solidFill>
                  <a:srgbClr val="F8FAFC"/>
                </a:solidFill>
                <a:latin typeface="Segoe UI"/>
              </a:defRPr>
            </a:pPr>
            <a:r>
              <a:t>Global FMCG Traction</a:t>
            </a:r>
          </a:p>
          <a:p>
            <a:pPr>
              <a:spcBef>
                <a:spcPts val="200"/>
              </a:spcBef>
              <a:defRPr sz="1000">
                <a:solidFill>
                  <a:srgbClr val="9CA9BD"/>
                </a:solidFill>
                <a:latin typeface="Segoe UI"/>
              </a:defRPr>
            </a:pPr>
            <a:r>
              <a:t>Direct commercial, self-heating ration, and meal packaging evaluations initiated with Nestlé, Barilla, Mondelēz, PepsiCo, Unilever, and McDonald's.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28432" y="1645920"/>
            <a:ext cx="3429000" cy="3017520"/>
          </a:xfrm>
          <a:prstGeom prst="roundRect">
            <a:avLst/>
          </a:prstGeom>
          <a:solidFill>
            <a:srgbClr val="111929"/>
          </a:solidFill>
          <a:ln w="12700">
            <a:solidFill>
              <a:srgbClr val="2633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01584" y="1645920"/>
            <a:ext cx="3282696" cy="32004"/>
          </a:xfrm>
          <a:prstGeom prst="rect">
            <a:avLst/>
          </a:prstGeom>
          <a:solidFill>
            <a:srgbClr val="E6B9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74736" y="1755648"/>
            <a:ext cx="3136392" cy="281635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800" b="1">
                <a:solidFill>
                  <a:srgbClr val="E6B944"/>
                </a:solidFill>
                <a:latin typeface="Consolas"/>
              </a:defRPr>
            </a:pPr>
            <a:r>
              <a:t>SCALE TRACTION</a:t>
            </a:r>
          </a:p>
          <a:p>
            <a:pPr>
              <a:spcAft>
                <a:spcPts val="300"/>
              </a:spcAft>
              <a:defRPr sz="1300" b="1">
                <a:solidFill>
                  <a:srgbClr val="F8FAFC"/>
                </a:solidFill>
                <a:latin typeface="Segoe UI"/>
              </a:defRPr>
            </a:pPr>
            <a:r>
              <a:t>Commercial Momentum</a:t>
            </a:r>
          </a:p>
          <a:p>
            <a:pPr>
              <a:spcBef>
                <a:spcPts val="200"/>
              </a:spcBef>
              <a:defRPr sz="1000">
                <a:solidFill>
                  <a:srgbClr val="9CA9BD"/>
                </a:solidFill>
                <a:latin typeface="Segoe UI"/>
              </a:defRPr>
            </a:pPr>
            <a:r>
              <a:t>Showcased via Startup India and Invest India platforms; over 60,000+ stakeholder touchpoints and 20B+ annual unit volume potential projected.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937760"/>
            <a:ext cx="10728655" cy="1143000"/>
          </a:xfrm>
          <a:prstGeom prst="roundRect">
            <a:avLst/>
          </a:prstGeom>
          <a:solidFill>
            <a:srgbClr val="16130E"/>
          </a:solidFill>
          <a:ln w="12700">
            <a:solidFill>
              <a:srgbClr val="644B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31520" y="4992624"/>
            <a:ext cx="45720" cy="1033271"/>
          </a:xfrm>
          <a:prstGeom prst="rect">
            <a:avLst/>
          </a:prstGeom>
          <a:solidFill>
            <a:srgbClr val="E6B9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6112" y="5029200"/>
            <a:ext cx="10454335" cy="960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950">
                <a:solidFill>
                  <a:srgbClr val="E6B944"/>
                </a:solidFill>
                <a:latin typeface="Segoe UI"/>
              </a:rPr>
              <a:t>PROVEN DEMAND INDICATORS —  </a:t>
            </a:r>
            <a:r>
              <a:rPr sz="900">
                <a:solidFill>
                  <a:srgbClr val="9CA9BD"/>
                </a:solidFill>
                <a:latin typeface="Segoe UI"/>
              </a:rPr>
              <a:t>Heatbolt is transitioning rapidly from breakthrough laboratory formulation to mission-critical defence field evaluation and high-volume industrial packaging. Tier-1 multinational food conglomerates and defence forces have validated the immense market gap for portable, flameless, water-activated thermal energy.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6B9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914400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 b="1">
                <a:solidFill>
                  <a:srgbClr val="E6B944"/>
                </a:solidFill>
                <a:latin typeface="Consolas"/>
              </a:defRPr>
            </a:pPr>
            <a:r>
              <a:t>//  STRATEGIC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"/>
            <a:ext cx="100584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8FAFC"/>
                </a:solidFill>
                <a:latin typeface="Segoe UI"/>
              </a:defRPr>
            </a:pPr>
            <a:r>
              <a:t>Path to Operational Deployment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61872"/>
            <a:ext cx="1645920" cy="36576"/>
          </a:xfrm>
          <a:prstGeom prst="rect">
            <a:avLst/>
          </a:prstGeom>
          <a:solidFill>
            <a:srgbClr val="E6B9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0" y="365760"/>
            <a:ext cx="3047695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850">
                <a:solidFill>
                  <a:srgbClr val="64748B"/>
                </a:solidFill>
                <a:latin typeface="Consolas"/>
              </a:defRPr>
            </a:pPr>
            <a:r>
              <a:t>DEFENCE STRATEGIC BRIEFING  |  22 / 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510528"/>
            <a:ext cx="10728655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750">
                <a:solidFill>
                  <a:srgbClr val="64748B"/>
                </a:solidFill>
                <a:latin typeface="Consolas"/>
              </a:defRPr>
            </a:pPr>
            <a:r>
              <a:t>HEATBOLT THERMAL PLATFORM  •  RESTRICTED OPERATIONAL ASSESSMENT  •  CONFIDENTIAL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645920"/>
            <a:ext cx="2514600" cy="4389120"/>
          </a:xfrm>
          <a:prstGeom prst="roundRect">
            <a:avLst/>
          </a:prstGeom>
          <a:solidFill>
            <a:srgbClr val="111929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" y="1645920"/>
            <a:ext cx="2331720" cy="36576"/>
          </a:xfrm>
          <a:prstGeom prst="rect">
            <a:avLst/>
          </a:prstGeom>
          <a:solidFill>
            <a:srgbClr val="E6B9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1828800"/>
            <a:ext cx="2185416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E6B944"/>
                </a:solidFill>
                <a:latin typeface="Consolas"/>
              </a:defRPr>
            </a:pPr>
            <a:r>
              <a:t>PHASE 01</a:t>
            </a:r>
          </a:p>
          <a:p>
            <a:pPr>
              <a:spcAft>
                <a:spcPts val="1200"/>
              </a:spcAft>
              <a:defRPr sz="1500" b="1">
                <a:solidFill>
                  <a:srgbClr val="F8FAFC"/>
                </a:solidFill>
                <a:latin typeface="Segoe UI"/>
              </a:defRPr>
            </a:pPr>
            <a:r>
              <a:t>Field Trials</a:t>
            </a:r>
          </a:p>
          <a:p>
            <a:pPr>
              <a:spcAft>
                <a:spcPts val="400"/>
              </a:spcAft>
              <a:defRPr sz="850" b="1">
                <a:solidFill>
                  <a:srgbClr val="B48C28"/>
                </a:solidFill>
                <a:latin typeface="Consolas"/>
              </a:defRPr>
            </a:pPr>
            <a:r>
              <a:t>OPERATIONAL TARGET:</a:t>
            </a:r>
          </a:p>
          <a:p>
            <a:pPr>
              <a:spcAft>
                <a:spcPts val="1200"/>
              </a:spcAft>
              <a:defRPr sz="1100" b="1">
                <a:solidFill>
                  <a:srgbClr val="F8FAFC"/>
                </a:solidFill>
                <a:latin typeface="Segoe UI"/>
              </a:defRPr>
            </a:pPr>
            <a:r>
              <a:t>Sub-Zero Stress Testing</a:t>
            </a:r>
          </a:p>
          <a:p>
            <a:pPr>
              <a:spcAft>
                <a:spcPts val="400"/>
              </a:spcAft>
              <a:defRPr sz="850" b="1">
                <a:solidFill>
                  <a:srgbClr val="B48C28"/>
                </a:solidFill>
                <a:latin typeface="Consolas"/>
              </a:defRPr>
            </a:pPr>
            <a:r>
              <a:t>MILESTONES:</a:t>
            </a:r>
          </a:p>
          <a:p>
            <a:pPr>
              <a:defRPr sz="950">
                <a:solidFill>
                  <a:srgbClr val="9CA9BD"/>
                </a:solidFill>
                <a:latin typeface="Segoe UI"/>
              </a:defRPr>
            </a:pPr>
            <a:r>
              <a:t>Rigorous sub-zero &amp; high-altitude environmental stress testing with designated frontline infantry units.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65576" y="1645920"/>
            <a:ext cx="2514600" cy="4389120"/>
          </a:xfrm>
          <a:prstGeom prst="roundRect">
            <a:avLst/>
          </a:prstGeom>
          <a:solidFill>
            <a:srgbClr val="111929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557016" y="1645920"/>
            <a:ext cx="2331720" cy="36576"/>
          </a:xfrm>
          <a:prstGeom prst="rect">
            <a:avLst/>
          </a:prstGeom>
          <a:solidFill>
            <a:srgbClr val="E6B9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30168" y="1828800"/>
            <a:ext cx="2185416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E6B944"/>
                </a:solidFill>
                <a:latin typeface="Consolas"/>
              </a:defRPr>
            </a:pPr>
            <a:r>
              <a:t>PHASE 02</a:t>
            </a:r>
          </a:p>
          <a:p>
            <a:pPr>
              <a:spcAft>
                <a:spcPts val="1200"/>
              </a:spcAft>
              <a:defRPr sz="1500" b="1">
                <a:solidFill>
                  <a:srgbClr val="F8FAFC"/>
                </a:solidFill>
                <a:latin typeface="Segoe UI"/>
              </a:defRPr>
            </a:pPr>
            <a:r>
              <a:t>Mil-Spec Certification</a:t>
            </a:r>
          </a:p>
          <a:p>
            <a:pPr>
              <a:spcAft>
                <a:spcPts val="400"/>
              </a:spcAft>
              <a:defRPr sz="850" b="1">
                <a:solidFill>
                  <a:srgbClr val="B48C28"/>
                </a:solidFill>
                <a:latin typeface="Consolas"/>
              </a:defRPr>
            </a:pPr>
            <a:r>
              <a:t>OPERATIONAL TARGET:</a:t>
            </a:r>
          </a:p>
          <a:p>
            <a:pPr>
              <a:spcAft>
                <a:spcPts val="1200"/>
              </a:spcAft>
              <a:defRPr sz="1100" b="1">
                <a:solidFill>
                  <a:srgbClr val="F8FAFC"/>
                </a:solidFill>
                <a:latin typeface="Segoe UI"/>
              </a:defRPr>
            </a:pPr>
            <a:r>
              <a:t>Standards Qualification</a:t>
            </a:r>
          </a:p>
          <a:p>
            <a:pPr>
              <a:spcAft>
                <a:spcPts val="400"/>
              </a:spcAft>
              <a:defRPr sz="850" b="1">
                <a:solidFill>
                  <a:srgbClr val="B48C28"/>
                </a:solidFill>
                <a:latin typeface="Consolas"/>
              </a:defRPr>
            </a:pPr>
            <a:r>
              <a:t>MILESTONES:</a:t>
            </a:r>
          </a:p>
          <a:p>
            <a:pPr>
              <a:defRPr sz="950">
                <a:solidFill>
                  <a:srgbClr val="9CA9BD"/>
                </a:solidFill>
                <a:latin typeface="Segoe UI"/>
              </a:defRPr>
            </a:pPr>
            <a:r>
              <a:t>Thermal output standardization, shelf-life validation (3+ yrs), and hazardous transport compliance.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99632" y="1645920"/>
            <a:ext cx="2514600" cy="4389120"/>
          </a:xfrm>
          <a:prstGeom prst="roundRect">
            <a:avLst/>
          </a:prstGeom>
          <a:solidFill>
            <a:srgbClr val="111929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91072" y="1645920"/>
            <a:ext cx="2331720" cy="36576"/>
          </a:xfrm>
          <a:prstGeom prst="rect">
            <a:avLst/>
          </a:prstGeom>
          <a:solidFill>
            <a:srgbClr val="E6B9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64224" y="1828800"/>
            <a:ext cx="2185416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E6B944"/>
                </a:solidFill>
                <a:latin typeface="Consolas"/>
              </a:defRPr>
            </a:pPr>
            <a:r>
              <a:t>PHASE 03</a:t>
            </a:r>
          </a:p>
          <a:p>
            <a:pPr>
              <a:spcAft>
                <a:spcPts val="1200"/>
              </a:spcAft>
              <a:defRPr sz="1500" b="1">
                <a:solidFill>
                  <a:srgbClr val="F8FAFC"/>
                </a:solidFill>
                <a:latin typeface="Segoe UI"/>
              </a:defRPr>
            </a:pPr>
            <a:r>
              <a:t>Volume Production</a:t>
            </a:r>
          </a:p>
          <a:p>
            <a:pPr>
              <a:spcAft>
                <a:spcPts val="400"/>
              </a:spcAft>
              <a:defRPr sz="850" b="1">
                <a:solidFill>
                  <a:srgbClr val="B48C28"/>
                </a:solidFill>
                <a:latin typeface="Consolas"/>
              </a:defRPr>
            </a:pPr>
            <a:r>
              <a:t>OPERATIONAL TARGET:</a:t>
            </a:r>
          </a:p>
          <a:p>
            <a:pPr>
              <a:spcAft>
                <a:spcPts val="1200"/>
              </a:spcAft>
              <a:defRPr sz="1100" b="1">
                <a:solidFill>
                  <a:srgbClr val="F8FAFC"/>
                </a:solidFill>
                <a:latin typeface="Segoe UI"/>
              </a:defRPr>
            </a:pPr>
            <a:r>
              <a:t>Automated Packaging</a:t>
            </a:r>
          </a:p>
          <a:p>
            <a:pPr>
              <a:spcAft>
                <a:spcPts val="400"/>
              </a:spcAft>
              <a:defRPr sz="850" b="1">
                <a:solidFill>
                  <a:srgbClr val="B48C28"/>
                </a:solidFill>
                <a:latin typeface="Consolas"/>
              </a:defRPr>
            </a:pPr>
            <a:r>
              <a:t>MILESTONES:</a:t>
            </a:r>
          </a:p>
          <a:p>
            <a:pPr>
              <a:defRPr sz="950">
                <a:solidFill>
                  <a:srgbClr val="9CA9BD"/>
                </a:solidFill>
                <a:latin typeface="Segoe UI"/>
              </a:defRPr>
            </a:pPr>
            <a:r>
              <a:t>Automated pouch filling and QC scaling with Tier-1 manufacturing partners for 10M+ units monthly.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33688" y="1645920"/>
            <a:ext cx="2514600" cy="4389120"/>
          </a:xfrm>
          <a:prstGeom prst="roundRect">
            <a:avLst/>
          </a:prstGeom>
          <a:solidFill>
            <a:srgbClr val="111929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025128" y="1645920"/>
            <a:ext cx="2331720" cy="36576"/>
          </a:xfrm>
          <a:prstGeom prst="rect">
            <a:avLst/>
          </a:prstGeom>
          <a:solidFill>
            <a:srgbClr val="E6B9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98280" y="1828800"/>
            <a:ext cx="2185416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E6B944"/>
                </a:solidFill>
                <a:latin typeface="Consolas"/>
              </a:defRPr>
            </a:pPr>
            <a:r>
              <a:t>PHASE 04</a:t>
            </a:r>
          </a:p>
          <a:p>
            <a:pPr>
              <a:spcAft>
                <a:spcPts val="1200"/>
              </a:spcAft>
              <a:defRPr sz="1500" b="1">
                <a:solidFill>
                  <a:srgbClr val="F8FAFC"/>
                </a:solidFill>
                <a:latin typeface="Segoe UI"/>
              </a:defRPr>
            </a:pPr>
            <a:r>
              <a:t>Force Integration</a:t>
            </a:r>
          </a:p>
          <a:p>
            <a:pPr>
              <a:spcAft>
                <a:spcPts val="400"/>
              </a:spcAft>
              <a:defRPr sz="850" b="1">
                <a:solidFill>
                  <a:srgbClr val="B48C28"/>
                </a:solidFill>
                <a:latin typeface="Consolas"/>
              </a:defRPr>
            </a:pPr>
            <a:r>
              <a:t>OPERATIONAL TARGET:</a:t>
            </a:r>
          </a:p>
          <a:p>
            <a:pPr>
              <a:spcAft>
                <a:spcPts val="1200"/>
              </a:spcAft>
              <a:defRPr sz="1100" b="1">
                <a:solidFill>
                  <a:srgbClr val="F8FAFC"/>
                </a:solidFill>
                <a:latin typeface="Segoe UI"/>
              </a:defRPr>
            </a:pPr>
            <a:r>
              <a:t>Standard Issue Deployment</a:t>
            </a:r>
          </a:p>
          <a:p>
            <a:pPr>
              <a:spcAft>
                <a:spcPts val="400"/>
              </a:spcAft>
              <a:defRPr sz="850" b="1">
                <a:solidFill>
                  <a:srgbClr val="B48C28"/>
                </a:solidFill>
                <a:latin typeface="Consolas"/>
              </a:defRPr>
            </a:pPr>
            <a:r>
              <a:t>MILESTONES:</a:t>
            </a:r>
          </a:p>
          <a:p>
            <a:pPr>
              <a:defRPr sz="950">
                <a:solidFill>
                  <a:srgbClr val="9CA9BD"/>
                </a:solidFill>
                <a:latin typeface="Segoe UI"/>
              </a:defRPr>
            </a:pPr>
            <a:r>
              <a:t>Standard issue inclusion into ration kits, extreme climate survival packs, and mobile field clinics.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731520"/>
            <a:ext cx="10728655" cy="5394960"/>
          </a:xfrm>
          <a:prstGeom prst="rect">
            <a:avLst/>
          </a:prstGeom>
          <a:noFill/>
          <a:ln w="12700">
            <a:solidFill>
              <a:srgbClr val="2633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88720" y="1097280"/>
            <a:ext cx="4389120" cy="347472"/>
          </a:xfrm>
          <a:prstGeom prst="rect">
            <a:avLst/>
          </a:prstGeom>
          <a:solidFill>
            <a:srgbClr val="1A160E"/>
          </a:solidFill>
          <a:ln w="12700">
            <a:solidFill>
              <a:srgbClr val="E6B9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152144"/>
            <a:ext cx="438912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900" b="1">
                <a:solidFill>
                  <a:srgbClr val="E6B944"/>
                </a:solidFill>
                <a:latin typeface="Consolas"/>
              </a:defRPr>
            </a:pPr>
            <a:r>
              <a:t>JOIN THE MISSION  //  STRATEGIC DEFENCE ENGAGEMENT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1691640"/>
            <a:ext cx="9601200" cy="10972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5600" b="1">
                <a:solidFill>
                  <a:srgbClr val="E6B944"/>
                </a:solidFill>
                <a:latin typeface="Segoe UI"/>
              </a:defRPr>
            </a:pPr>
            <a:r>
              <a:t>HEATBOLT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2834640"/>
            <a:ext cx="9601200" cy="457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800" b="1">
                <a:solidFill>
                  <a:srgbClr val="F8FAFC"/>
                </a:solidFill>
                <a:latin typeface="Segoe UI"/>
              </a:defRPr>
            </a:pPr>
            <a:r>
              <a:t>Partnering to Equip the Frontline Soldier</a:t>
            </a:r>
          </a:p>
        </p:txBody>
      </p:sp>
      <p:sp>
        <p:nvSpPr>
          <p:cNvPr id="8" name="Rectangle 7"/>
          <p:cNvSpPr/>
          <p:nvPr/>
        </p:nvSpPr>
        <p:spPr>
          <a:xfrm>
            <a:off x="1188720" y="3383280"/>
            <a:ext cx="2743200" cy="36576"/>
          </a:xfrm>
          <a:prstGeom prst="rect">
            <a:avLst/>
          </a:prstGeom>
          <a:solidFill>
            <a:srgbClr val="E6B9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3566160"/>
            <a:ext cx="960120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E6B944"/>
                </a:solidFill>
                <a:latin typeface="Segoe UI"/>
              </a:defRPr>
            </a:pPr>
            <a:r>
              <a:t>“The future of convenience and survival is not just portable food and water — it is portable heat.”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4892040"/>
            <a:ext cx="5486400" cy="10058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F8FAFC"/>
                </a:solidFill>
                <a:latin typeface="Segoe UI"/>
              </a:defRPr>
            </a:pPr>
            <a:r>
              <a:t>DR. KUMARPAL PORWAL — FOUNDER &amp; MD</a:t>
            </a:r>
          </a:p>
          <a:p>
            <a:pPr>
              <a:defRPr sz="950">
                <a:solidFill>
                  <a:srgbClr val="9CA9BD"/>
                </a:solidFill>
                <a:latin typeface="Consolas"/>
              </a:defRPr>
            </a:pPr>
            <a:r>
              <a:t>+91 73533 19757  |  +91 88672 94189</a:t>
            </a:r>
            <a:br/>
            <a:r>
              <a:t>founder.heatbolt@gmail.com  |  Bangalore, India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4892040"/>
            <a:ext cx="4389120" cy="10058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spcAft>
                <a:spcPts val="400"/>
              </a:spcAft>
              <a:defRPr sz="950" b="1">
                <a:solidFill>
                  <a:srgbClr val="E6B944"/>
                </a:solidFill>
                <a:latin typeface="Consolas"/>
              </a:defRPr>
            </a:pPr>
            <a:r>
              <a:t>ENGAGEMENT MODES</a:t>
            </a:r>
          </a:p>
          <a:p>
            <a:pPr algn="r">
              <a:defRPr sz="900">
                <a:solidFill>
                  <a:srgbClr val="9CA9BD"/>
                </a:solidFill>
                <a:latin typeface="Consolas"/>
              </a:defRPr>
            </a:pPr>
            <a:r>
              <a:t>DEFENCE COLLABORATION &amp; MIL-SPEC EVALUATION</a:t>
            </a:r>
            <a:br/>
            <a:r>
              <a:t>TECHNOLOGY LICENSING &amp; IP ACCESS</a:t>
            </a:r>
            <a:br/>
            <a:r>
              <a:t>STRATEGIC INDUSTRIAL CO-DEVELOPMENT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